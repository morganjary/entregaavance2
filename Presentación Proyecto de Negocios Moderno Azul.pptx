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rial Bold" charset="1" panose="020B0704020202020204"/>
      <p:regular r:id="rId32"/>
    </p:embeddedFont>
    <p:embeddedFont>
      <p:font typeface="Arial" charset="1" panose="020B0604020202020204"/>
      <p:regular r:id="rId33"/>
    </p:embeddedFont>
    <p:embeddedFont>
      <p:font typeface="Times New Roman Bold" charset="1" panose="02020803070505020304"/>
      <p:regular r:id="rId34"/>
    </p:embeddedFont>
    <p:embeddedFont>
      <p:font typeface="Times New Roman" charset="1" panose="02020603050405020304"/>
      <p:regular r:id="rId35"/>
    </p:embeddedFont>
    <p:embeddedFont>
      <p:font typeface="Open Sans" charset="1" panose="020B0606030504020204"/>
      <p:regular r:id="rId36"/>
    </p:embeddedFont>
    <p:embeddedFont>
      <p:font typeface="Arial Bold Italics" charset="1" panose="020B0704020202090204"/>
      <p:regular r:id="rId37"/>
    </p:embeddedFont>
    <p:embeddedFont>
      <p:font typeface="Proxima Nova" charset="1" panose="02000506030000020004"/>
      <p:regular r:id="rId43"/>
    </p:embeddedFont>
    <p:embeddedFont>
      <p:font typeface="IBM Plex Sans Bold" charset="1" panose="020B0803050203000203"/>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notesMasters/notesMaster1.xml" Type="http://schemas.openxmlformats.org/officeDocument/2006/relationships/notesMaster"/><Relationship Id="rId39" Target="theme/theme2.xml" Type="http://schemas.openxmlformats.org/officeDocument/2006/relationships/theme"/><Relationship Id="rId4" Target="theme/theme1.xml" Type="http://schemas.openxmlformats.org/officeDocument/2006/relationships/theme"/><Relationship Id="rId40" Target="notesSlides/notesSlide1.xml" Type="http://schemas.openxmlformats.org/officeDocument/2006/relationships/notesSlide"/><Relationship Id="rId41" Target="notesSlides/notesSlide2.xml" Type="http://schemas.openxmlformats.org/officeDocument/2006/relationships/notesSlide"/><Relationship Id="rId42" Target="notesSlides/notesSlide3.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 primero que observamos es que la comuna con mayor pobreza, La Granja, tiene la media más alta de alimentos saludables cuando miramos solo la comuna. Esto ya nos llamó la atención porque contradice la idea intuitiva de que a más pobreza, menos acceso a comida saludable.</a:t>
            </a:r>
          </a:p>
          <a:p>
            <a:r>
              <a:rPr lang="en-US"/>
              <a:t/>
            </a:r>
          </a:p>
          <a:p>
            <a:r>
              <a:rPr lang="en-US"/>
              <a:t>Sin embargo, cuando incorporamos la variable de matrícula estudiantil, el orden cambia: San Joaquín, que tiene menor pobreza, supera a La Granja. Esto nos indica que el tamaño del colegio influye en la disponibilidad y que no podemos quedarnos solo con el análisis por comuna.</a:t>
            </a:r>
          </a:p>
          <a:p>
            <a:r>
              <a:rPr lang="en-US"/>
              <a:t/>
            </a:r>
          </a:p>
          <a:p>
            <a:r>
              <a:rPr lang="en-US"/>
              <a:t>En resumen, no vemos una tendencia clara ni monótona entre pobreza y disponibilidad saludable. Las diferencias parecen explicarse más por factores como la cantidad de estudiantes o la densidad de locales que por el nivel socioeconómico. Por eso, en la prueba de hipótesis decidimos usar un método que no asuma una relación lineal."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 primero que observamos es que la comuna con mayor pobreza, La Granja, tiene la media más alta de alimentos saludables cuando miramos solo la comuna. Esto ya nos llamó la atención porque contradice la idea intuitiva de que a más pobreza, menos acceso a comida saludable.</a:t>
            </a:r>
          </a:p>
          <a:p>
            <a:r>
              <a:rPr lang="en-US"/>
              <a:t/>
            </a:r>
          </a:p>
          <a:p>
            <a:r>
              <a:rPr lang="en-US"/>
              <a:t>Sin embargo, cuando incorporamos la variable de matrícula estudiantil, el orden cambia: San Joaquín, que tiene menor pobreza, supera a La Granja. Esto nos indica que el tamaño del colegio influye en la disponibilidad y que no podemos quedarnos solo con el análisis por comuna.</a:t>
            </a:r>
          </a:p>
          <a:p>
            <a:r>
              <a:rPr lang="en-US"/>
              <a:t/>
            </a:r>
          </a:p>
          <a:p>
            <a:r>
              <a:rPr lang="en-US"/>
              <a:t>En resumen, no vemos una tendencia clara ni monótona entre pobreza y disponibilidad saludable. Las diferencias parecen explicarse más por factores como la cantidad de estudiantes o la densidad de locales que por el nivel socioeconómico. Por eso, en la prueba de hipótesis decidimos usar un método que no asuma una relación lineal."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Método elegido: Coeficiente de correlación de Spearman (rho).</a:t>
            </a:r>
          </a:p>
          <a:p>
            <a:r>
              <a:rPr lang="en-US"/>
              <a:t/>
            </a:r>
          </a:p>
          <a:p>
            <a:r>
              <a:rPr lang="en-US"/>
              <a:t>¿Qué mide?</a:t>
            </a:r>
          </a:p>
          <a:p>
            <a:r>
              <a:rPr lang="en-US"/>
              <a:t>Evalúa si existe una relación monótona entre dos variables, es decir, si cuando una aumenta, la otra tiende a aumentar o disminuir de manera consistente, sin necesidad de que esa relación sea lineal.</a:t>
            </a:r>
          </a:p>
          <a:p>
            <a:r>
              <a:rPr lang="en-US"/>
              <a:t/>
            </a:r>
          </a:p>
          <a:p>
            <a:r>
              <a:rPr lang="en-US"/>
              <a:t>¿Por qué Spearman y no Pearson?</a:t>
            </a:r>
          </a:p>
          <a:p>
            <a:r>
              <a:rPr lang="en-US"/>
              <a:t>Tres razones fundamentales:</a:t>
            </a:r>
          </a:p>
          <a:p>
            <a:r>
              <a:rPr lang="en-US"/>
              <a:t/>
            </a:r>
          </a:p>
          <a:p>
            <a:r>
              <a:rPr lang="en-US"/>
              <a:t>No normalidad de los datos</a:t>
            </a:r>
          </a:p>
          <a:p>
            <a:r>
              <a:rPr lang="en-US"/>
              <a:t>La variable disp_sal (disponibilidad saludable) no sigue una distribución normal. Esto se verificó con la prueba de Shapiro-Wilk, que arrojó un p-valor menor a 0.001. Pearson asume normalidad; Spearman no.</a:t>
            </a:r>
          </a:p>
          <a:p>
            <a:r>
              <a:rPr lang="en-US"/>
              <a:t/>
            </a:r>
          </a:p>
          <a:p>
            <a:r>
              <a:rPr lang="en-US"/>
              <a:t>Presencia de outliers (valores atípicos)</a:t>
            </a:r>
          </a:p>
          <a:p>
            <a:r>
              <a:rPr lang="en-US"/>
              <a:t>En el análisis exploratorio se detectaron valores extremos en disp_sal, especialmente en la comuna de Macul. Pearson es sensible a estos valores y puede distorsionar el coeficiente. Spearman, al trabajar con rangos (orden de los valores), es robusto ante outliers.</a:t>
            </a:r>
          </a:p>
          <a:p>
            <a:r>
              <a:rPr lang="en-US"/>
              <a:t/>
            </a:r>
          </a:p>
          <a:p>
            <a:r>
              <a:rPr lang="en-US"/>
              <a:t>Relación no necesariamente lineal</a:t>
            </a:r>
          </a:p>
          <a:p>
            <a:r>
              <a:rPr lang="en-US"/>
              <a:t>Spearman detecta cualquier tendencia monótona (creciente o decreciente), aunque no sea una línea recta. Dado que la distribución de disp_sal es muy asimétrica (con muchos ceros), era preferible no forzar una relación lineal.</a:t>
            </a:r>
          </a:p>
          <a:p>
            <a:r>
              <a:rPr lang="en-US"/>
              <a:t/>
            </a:r>
          </a:p>
          <a:p>
            <a:r>
              <a:rPr lang="en-US"/>
              <a:t>Interpretación del coeficiente</a:t>
            </a:r>
          </a:p>
          <a:p>
            <a:r>
              <a:rPr lang="en-US"/>
              <a:t/>
            </a:r>
          </a:p>
          <a:p>
            <a:r>
              <a:rPr lang="en-US"/>
              <a:t>Un valor de rho cercano a +1 indica una fuerte relación positiva (mayor pobreza, mayor disponibilidad saludable).</a:t>
            </a:r>
          </a:p>
          <a:p>
            <a:r>
              <a:rPr lang="en-US"/>
              <a:t/>
            </a:r>
          </a:p>
          <a:p>
            <a:r>
              <a:rPr lang="en-US"/>
              <a:t>Cercano a -1 indica fuerte relación negativa (mayor pobreza, menor disponibilidad saludable).</a:t>
            </a:r>
          </a:p>
          <a:p>
            <a:r>
              <a:rPr lang="en-US"/>
              <a:t/>
            </a:r>
          </a:p>
          <a:p>
            <a:r>
              <a:rPr lang="en-US"/>
              <a:t>Cercano a 0 indica ausencia de relación monótona.</a:t>
            </a:r>
          </a:p>
          <a:p>
            <a:r>
              <a:rPr lang="en-US"/>
              <a:t/>
            </a:r>
          </a:p>
          <a:p>
            <a:r>
              <a:rPr lang="en-US"/>
              <a:t>Resultado obtenido</a:t>
            </a:r>
          </a:p>
          <a:p>
            <a:r>
              <a:rPr lang="en-US"/>
              <a:t>rho = -0.0304, casi cero. Esto significa que no hay evidencia de que la pobreza comunal y la disponibilidad saludable se muevan juntas de manera consistente.</a:t>
            </a:r>
          </a:p>
          <a:p>
            <a:r>
              <a:rPr lang="en-US"/>
              <a:t/>
            </a:r>
          </a:p>
          <a:p>
            <a:r>
              <a:rPr lang="en-US"/>
              <a:t>Decisión estadística</a:t>
            </a:r>
          </a:p>
          <a:p>
            <a:r>
              <a:rPr lang="en-US"/>
              <a:t>Con un p-valor de 0.6254 (mayor a 0.05), no se rechaza la hipótesis nula de que la correlación es cero. Por lo tanto, el test indica que no existe asociación estadísticamente significativa entre las variables.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10543490" y="2181573"/>
            <a:ext cx="7076727" cy="7076727"/>
            <a:chOff x="0" y="0"/>
            <a:chExt cx="9435636" cy="9435636"/>
          </a:xfrm>
        </p:grpSpPr>
        <p:grpSp>
          <p:nvGrpSpPr>
            <p:cNvPr name="Group 4" id="4"/>
            <p:cNvGrpSpPr/>
            <p:nvPr/>
          </p:nvGrpSpPr>
          <p:grpSpPr>
            <a:xfrm rot="0">
              <a:off x="0" y="0"/>
              <a:ext cx="9435636" cy="943563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583958" y="9283"/>
                    </a:moveTo>
                    <a:lnTo>
                      <a:pt x="803517" y="228842"/>
                    </a:lnTo>
                    <a:cubicBezTo>
                      <a:pt x="809461" y="234786"/>
                      <a:pt x="812800" y="242847"/>
                      <a:pt x="812800" y="251253"/>
                    </a:cubicBezTo>
                    <a:lnTo>
                      <a:pt x="812800" y="561547"/>
                    </a:lnTo>
                    <a:cubicBezTo>
                      <a:pt x="812800" y="569953"/>
                      <a:pt x="809461" y="578014"/>
                      <a:pt x="803517" y="583958"/>
                    </a:cubicBezTo>
                    <a:lnTo>
                      <a:pt x="583958" y="803517"/>
                    </a:lnTo>
                    <a:cubicBezTo>
                      <a:pt x="578014" y="809461"/>
                      <a:pt x="569953" y="812800"/>
                      <a:pt x="561547" y="812800"/>
                    </a:cubicBezTo>
                    <a:lnTo>
                      <a:pt x="251253" y="812800"/>
                    </a:lnTo>
                    <a:cubicBezTo>
                      <a:pt x="242847" y="812800"/>
                      <a:pt x="234786" y="809461"/>
                      <a:pt x="228842" y="803517"/>
                    </a:cubicBezTo>
                    <a:lnTo>
                      <a:pt x="9283" y="583958"/>
                    </a:lnTo>
                    <a:cubicBezTo>
                      <a:pt x="3339" y="578014"/>
                      <a:pt x="0" y="569953"/>
                      <a:pt x="0" y="561547"/>
                    </a:cubicBezTo>
                    <a:lnTo>
                      <a:pt x="0" y="251253"/>
                    </a:lnTo>
                    <a:cubicBezTo>
                      <a:pt x="0" y="242847"/>
                      <a:pt x="3339" y="234786"/>
                      <a:pt x="9283" y="228842"/>
                    </a:cubicBezTo>
                    <a:lnTo>
                      <a:pt x="228842" y="9283"/>
                    </a:lnTo>
                    <a:cubicBezTo>
                      <a:pt x="234786" y="3339"/>
                      <a:pt x="242847" y="0"/>
                      <a:pt x="251253" y="0"/>
                    </a:cubicBezTo>
                    <a:lnTo>
                      <a:pt x="561547" y="0"/>
                    </a:lnTo>
                    <a:cubicBezTo>
                      <a:pt x="569953" y="0"/>
                      <a:pt x="578014" y="3339"/>
                      <a:pt x="583958" y="9283"/>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p:spPr>
          </p:sp>
        </p:grpSp>
        <p:grpSp>
          <p:nvGrpSpPr>
            <p:cNvPr name="Group 6" id="6"/>
            <p:cNvGrpSpPr/>
            <p:nvPr/>
          </p:nvGrpSpPr>
          <p:grpSpPr>
            <a:xfrm rot="0">
              <a:off x="298895" y="298895"/>
              <a:ext cx="8837846" cy="88378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584586" y="9911"/>
                    </a:moveTo>
                    <a:lnTo>
                      <a:pt x="802889" y="228214"/>
                    </a:lnTo>
                    <a:cubicBezTo>
                      <a:pt x="809235" y="234560"/>
                      <a:pt x="812800" y="243167"/>
                      <a:pt x="812800" y="252141"/>
                    </a:cubicBezTo>
                    <a:lnTo>
                      <a:pt x="812800" y="560659"/>
                    </a:lnTo>
                    <a:cubicBezTo>
                      <a:pt x="812800" y="569633"/>
                      <a:pt x="809235" y="578240"/>
                      <a:pt x="802889" y="584586"/>
                    </a:cubicBezTo>
                    <a:lnTo>
                      <a:pt x="584586" y="802889"/>
                    </a:lnTo>
                    <a:cubicBezTo>
                      <a:pt x="578240" y="809235"/>
                      <a:pt x="569633" y="812800"/>
                      <a:pt x="560659" y="812800"/>
                    </a:cubicBezTo>
                    <a:lnTo>
                      <a:pt x="252141" y="812800"/>
                    </a:lnTo>
                    <a:cubicBezTo>
                      <a:pt x="243167" y="812800"/>
                      <a:pt x="234560" y="809235"/>
                      <a:pt x="228214" y="802889"/>
                    </a:cubicBezTo>
                    <a:lnTo>
                      <a:pt x="9911" y="584586"/>
                    </a:lnTo>
                    <a:cubicBezTo>
                      <a:pt x="3565" y="578240"/>
                      <a:pt x="0" y="569633"/>
                      <a:pt x="0" y="560659"/>
                    </a:cubicBezTo>
                    <a:lnTo>
                      <a:pt x="0" y="252141"/>
                    </a:lnTo>
                    <a:cubicBezTo>
                      <a:pt x="0" y="243167"/>
                      <a:pt x="3565" y="234560"/>
                      <a:pt x="9911" y="228214"/>
                    </a:cubicBezTo>
                    <a:lnTo>
                      <a:pt x="228214" y="9911"/>
                    </a:lnTo>
                    <a:cubicBezTo>
                      <a:pt x="234560" y="3565"/>
                      <a:pt x="243167" y="0"/>
                      <a:pt x="252141" y="0"/>
                    </a:cubicBezTo>
                    <a:lnTo>
                      <a:pt x="560659" y="0"/>
                    </a:lnTo>
                    <a:cubicBezTo>
                      <a:pt x="569633" y="0"/>
                      <a:pt x="578240" y="3565"/>
                      <a:pt x="584586" y="9911"/>
                    </a:cubicBezTo>
                    <a:close/>
                  </a:path>
                </a:pathLst>
              </a:custGeom>
              <a:blipFill>
                <a:blip r:embed="rId3"/>
                <a:stretch>
                  <a:fillRect l="-25046" t="0" r="-25046" b="0"/>
                </a:stretch>
              </a:blipFill>
            </p:spPr>
          </p:sp>
        </p:grpSp>
      </p:grpSp>
      <p:grpSp>
        <p:nvGrpSpPr>
          <p:cNvPr name="Group 8" id="8"/>
          <p:cNvGrpSpPr/>
          <p:nvPr/>
        </p:nvGrpSpPr>
        <p:grpSpPr>
          <a:xfrm rot="-10800000">
            <a:off x="688060" y="5320630"/>
            <a:ext cx="8718358" cy="3768346"/>
            <a:chOff x="0" y="0"/>
            <a:chExt cx="2296193" cy="992486"/>
          </a:xfrm>
        </p:grpSpPr>
        <p:sp>
          <p:nvSpPr>
            <p:cNvPr name="Freeform 9" id="9"/>
            <p:cNvSpPr/>
            <p:nvPr/>
          </p:nvSpPr>
          <p:spPr>
            <a:xfrm flipH="false" flipV="false" rot="0">
              <a:off x="0" y="0"/>
              <a:ext cx="2296193" cy="992486"/>
            </a:xfrm>
            <a:custGeom>
              <a:avLst/>
              <a:gdLst/>
              <a:ahLst/>
              <a:cxnLst/>
              <a:rect r="r" b="b" t="t" l="l"/>
              <a:pathLst>
                <a:path h="992486" w="2296193">
                  <a:moveTo>
                    <a:pt x="10656" y="0"/>
                  </a:moveTo>
                  <a:lnTo>
                    <a:pt x="2285537" y="0"/>
                  </a:lnTo>
                  <a:cubicBezTo>
                    <a:pt x="2288363" y="0"/>
                    <a:pt x="2291074" y="1123"/>
                    <a:pt x="2293072" y="3121"/>
                  </a:cubicBezTo>
                  <a:cubicBezTo>
                    <a:pt x="2295070" y="5119"/>
                    <a:pt x="2296193" y="7830"/>
                    <a:pt x="2296193" y="10656"/>
                  </a:cubicBezTo>
                  <a:lnTo>
                    <a:pt x="2296193" y="981830"/>
                  </a:lnTo>
                  <a:cubicBezTo>
                    <a:pt x="2296193" y="984656"/>
                    <a:pt x="2295070" y="987367"/>
                    <a:pt x="2293072" y="989365"/>
                  </a:cubicBezTo>
                  <a:cubicBezTo>
                    <a:pt x="2291074" y="991363"/>
                    <a:pt x="2288363" y="992486"/>
                    <a:pt x="2285537" y="992486"/>
                  </a:cubicBezTo>
                  <a:lnTo>
                    <a:pt x="10656" y="992486"/>
                  </a:lnTo>
                  <a:cubicBezTo>
                    <a:pt x="7830" y="992486"/>
                    <a:pt x="5119" y="991363"/>
                    <a:pt x="3121" y="989365"/>
                  </a:cubicBezTo>
                  <a:cubicBezTo>
                    <a:pt x="1123" y="987367"/>
                    <a:pt x="0" y="984656"/>
                    <a:pt x="0" y="981830"/>
                  </a:cubicBezTo>
                  <a:lnTo>
                    <a:pt x="0" y="10656"/>
                  </a:lnTo>
                  <a:cubicBezTo>
                    <a:pt x="0" y="7830"/>
                    <a:pt x="1123" y="5119"/>
                    <a:pt x="3121" y="3121"/>
                  </a:cubicBezTo>
                  <a:cubicBezTo>
                    <a:pt x="5119" y="1123"/>
                    <a:pt x="7830" y="0"/>
                    <a:pt x="10656"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0" id="10"/>
            <p:cNvSpPr txBox="true"/>
            <p:nvPr/>
          </p:nvSpPr>
          <p:spPr>
            <a:xfrm>
              <a:off x="0" y="-66675"/>
              <a:ext cx="2296193" cy="1059161"/>
            </a:xfrm>
            <a:prstGeom prst="rect">
              <a:avLst/>
            </a:prstGeom>
          </p:spPr>
          <p:txBody>
            <a:bodyPr anchor="ctr" rtlCol="false" tIns="50800" lIns="50800" bIns="50800" rIns="50800"/>
            <a:lstStyle/>
            <a:p>
              <a:pPr algn="ctr">
                <a:lnSpc>
                  <a:spcPts val="3418"/>
                </a:lnSpc>
              </a:pPr>
            </a:p>
          </p:txBody>
        </p:sp>
      </p:grpSp>
      <p:sp>
        <p:nvSpPr>
          <p:cNvPr name="Freeform 11" id="11"/>
          <p:cNvSpPr/>
          <p:nvPr/>
        </p:nvSpPr>
        <p:spPr>
          <a:xfrm flipH="false" flipV="false" rot="0">
            <a:off x="16590199" y="8620176"/>
            <a:ext cx="2724332" cy="1490953"/>
          </a:xfrm>
          <a:custGeom>
            <a:avLst/>
            <a:gdLst/>
            <a:ahLst/>
            <a:cxnLst/>
            <a:rect r="r" b="b" t="t" l="l"/>
            <a:pathLst>
              <a:path h="1490953" w="2724332">
                <a:moveTo>
                  <a:pt x="0" y="0"/>
                </a:moveTo>
                <a:lnTo>
                  <a:pt x="2724332" y="0"/>
                </a:lnTo>
                <a:lnTo>
                  <a:pt x="2724332" y="1490952"/>
                </a:lnTo>
                <a:lnTo>
                  <a:pt x="0" y="14909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2" id="12"/>
          <p:cNvSpPr/>
          <p:nvPr/>
        </p:nvSpPr>
        <p:spPr>
          <a:xfrm>
            <a:off x="-490356" y="9375177"/>
            <a:ext cx="10500515" cy="0"/>
          </a:xfrm>
          <a:prstGeom prst="line">
            <a:avLst/>
          </a:prstGeom>
          <a:ln cap="flat" w="19050">
            <a:solidFill>
              <a:srgbClr val="FFFFFF"/>
            </a:solidFill>
            <a:prstDash val="solid"/>
            <a:headEnd type="none" len="sm" w="sm"/>
            <a:tailEnd type="none" len="sm" w="sm"/>
          </a:ln>
        </p:spPr>
      </p:sp>
      <p:sp>
        <p:nvSpPr>
          <p:cNvPr name="Freeform 13" id="13"/>
          <p:cNvSpPr/>
          <p:nvPr/>
        </p:nvSpPr>
        <p:spPr>
          <a:xfrm flipH="false" flipV="false" rot="0">
            <a:off x="449197" y="466490"/>
            <a:ext cx="5018734" cy="1762830"/>
          </a:xfrm>
          <a:custGeom>
            <a:avLst/>
            <a:gdLst/>
            <a:ahLst/>
            <a:cxnLst/>
            <a:rect r="r" b="b" t="t" l="l"/>
            <a:pathLst>
              <a:path h="1762830" w="5018734">
                <a:moveTo>
                  <a:pt x="0" y="0"/>
                </a:moveTo>
                <a:lnTo>
                  <a:pt x="5018734" y="0"/>
                </a:lnTo>
                <a:lnTo>
                  <a:pt x="5018734" y="1762830"/>
                </a:lnTo>
                <a:lnTo>
                  <a:pt x="0" y="1762830"/>
                </a:lnTo>
                <a:lnTo>
                  <a:pt x="0" y="0"/>
                </a:lnTo>
                <a:close/>
              </a:path>
            </a:pathLst>
          </a:custGeom>
          <a:blipFill>
            <a:blip r:embed="rId6"/>
            <a:stretch>
              <a:fillRect l="0" t="0" r="0" b="0"/>
            </a:stretch>
          </a:blipFill>
        </p:spPr>
      </p:sp>
      <p:sp>
        <p:nvSpPr>
          <p:cNvPr name="TextBox 14" id="14"/>
          <p:cNvSpPr txBox="true"/>
          <p:nvPr/>
        </p:nvSpPr>
        <p:spPr>
          <a:xfrm rot="0">
            <a:off x="688060" y="2307555"/>
            <a:ext cx="9322099" cy="2052273"/>
          </a:xfrm>
          <a:prstGeom prst="rect">
            <a:avLst/>
          </a:prstGeom>
        </p:spPr>
        <p:txBody>
          <a:bodyPr anchor="t" rtlCol="false" tIns="0" lIns="0" bIns="0" rIns="0">
            <a:spAutoFit/>
          </a:bodyPr>
          <a:lstStyle/>
          <a:p>
            <a:pPr algn="l">
              <a:lnSpc>
                <a:spcPts val="8368"/>
              </a:lnSpc>
            </a:pPr>
            <a:r>
              <a:rPr lang="en-US" sz="5977" b="true">
                <a:solidFill>
                  <a:srgbClr val="FFFFFF"/>
                </a:solidFill>
                <a:latin typeface="Arial Bold"/>
                <a:ea typeface="Arial Bold"/>
                <a:cs typeface="Arial Bold"/>
                <a:sym typeface="Arial Bold"/>
              </a:rPr>
              <a:t>Avance 2</a:t>
            </a:r>
          </a:p>
          <a:p>
            <a:pPr algn="l">
              <a:lnSpc>
                <a:spcPts val="7982"/>
              </a:lnSpc>
            </a:pPr>
            <a:r>
              <a:rPr lang="en-US" sz="5701" b="true">
                <a:solidFill>
                  <a:srgbClr val="FFFFFF"/>
                </a:solidFill>
                <a:latin typeface="Arial Bold"/>
                <a:ea typeface="Arial Bold"/>
                <a:cs typeface="Arial Bold"/>
                <a:sym typeface="Arial Bold"/>
              </a:rPr>
              <a:t>N.C - Nutrición Consciente</a:t>
            </a:r>
          </a:p>
        </p:txBody>
      </p:sp>
      <p:sp>
        <p:nvSpPr>
          <p:cNvPr name="TextBox 15" id="15"/>
          <p:cNvSpPr txBox="true"/>
          <p:nvPr/>
        </p:nvSpPr>
        <p:spPr>
          <a:xfrm rot="0">
            <a:off x="15304170" y="619840"/>
            <a:ext cx="2572058" cy="1038226"/>
          </a:xfrm>
          <a:prstGeom prst="rect">
            <a:avLst/>
          </a:prstGeom>
        </p:spPr>
        <p:txBody>
          <a:bodyPr anchor="t" rtlCol="false" tIns="0" lIns="0" bIns="0" rIns="0">
            <a:spAutoFit/>
          </a:bodyPr>
          <a:lstStyle/>
          <a:p>
            <a:pPr algn="r" marL="0" indent="0" lvl="0">
              <a:lnSpc>
                <a:spcPts val="4199"/>
              </a:lnSpc>
              <a:spcBef>
                <a:spcPct val="0"/>
              </a:spcBef>
            </a:pPr>
            <a:r>
              <a:rPr lang="en-US" sz="2999" spc="29">
                <a:solidFill>
                  <a:srgbClr val="FFFFFF"/>
                </a:solidFill>
                <a:latin typeface="Arial"/>
                <a:ea typeface="Arial"/>
                <a:cs typeface="Arial"/>
                <a:sym typeface="Arial"/>
              </a:rPr>
              <a:t>4 de mayo 2026</a:t>
            </a:r>
          </a:p>
        </p:txBody>
      </p:sp>
      <p:sp>
        <p:nvSpPr>
          <p:cNvPr name="TextBox 16" id="16"/>
          <p:cNvSpPr txBox="true"/>
          <p:nvPr/>
        </p:nvSpPr>
        <p:spPr>
          <a:xfrm rot="0">
            <a:off x="1028700" y="5524400"/>
            <a:ext cx="4599384" cy="592671"/>
          </a:xfrm>
          <a:prstGeom prst="rect">
            <a:avLst/>
          </a:prstGeom>
        </p:spPr>
        <p:txBody>
          <a:bodyPr anchor="t" rtlCol="false" tIns="0" lIns="0" bIns="0" rIns="0">
            <a:spAutoFit/>
          </a:bodyPr>
          <a:lstStyle/>
          <a:p>
            <a:pPr algn="ctr">
              <a:lnSpc>
                <a:spcPts val="4608"/>
              </a:lnSpc>
            </a:pPr>
            <a:r>
              <a:rPr lang="en-US" sz="3291">
                <a:solidFill>
                  <a:srgbClr val="FFFFFF"/>
                </a:solidFill>
                <a:latin typeface="Arial"/>
                <a:ea typeface="Arial"/>
                <a:cs typeface="Arial"/>
                <a:sym typeface="Arial"/>
              </a:rPr>
              <a:t>Profesor: Karen Oróstica</a:t>
            </a:r>
          </a:p>
        </p:txBody>
      </p:sp>
      <p:sp>
        <p:nvSpPr>
          <p:cNvPr name="TextBox 17" id="17"/>
          <p:cNvSpPr txBox="true"/>
          <p:nvPr/>
        </p:nvSpPr>
        <p:spPr>
          <a:xfrm rot="0">
            <a:off x="1028700" y="6298046"/>
            <a:ext cx="6082918" cy="592671"/>
          </a:xfrm>
          <a:prstGeom prst="rect">
            <a:avLst/>
          </a:prstGeom>
        </p:spPr>
        <p:txBody>
          <a:bodyPr anchor="t" rtlCol="false" tIns="0" lIns="0" bIns="0" rIns="0">
            <a:spAutoFit/>
          </a:bodyPr>
          <a:lstStyle/>
          <a:p>
            <a:pPr algn="l">
              <a:lnSpc>
                <a:spcPts val="4608"/>
              </a:lnSpc>
            </a:pPr>
            <a:r>
              <a:rPr lang="en-US" sz="3291">
                <a:solidFill>
                  <a:srgbClr val="FFFFFF"/>
                </a:solidFill>
                <a:latin typeface="Arial"/>
                <a:ea typeface="Arial"/>
                <a:cs typeface="Arial"/>
                <a:sym typeface="Arial"/>
              </a:rPr>
              <a:t>Ayudante: David Hernández</a:t>
            </a:r>
          </a:p>
        </p:txBody>
      </p:sp>
      <p:sp>
        <p:nvSpPr>
          <p:cNvPr name="TextBox 18" id="18"/>
          <p:cNvSpPr txBox="true"/>
          <p:nvPr/>
        </p:nvSpPr>
        <p:spPr>
          <a:xfrm rot="0">
            <a:off x="1028700" y="7070405"/>
            <a:ext cx="8311043" cy="1754721"/>
          </a:xfrm>
          <a:prstGeom prst="rect">
            <a:avLst/>
          </a:prstGeom>
        </p:spPr>
        <p:txBody>
          <a:bodyPr anchor="t" rtlCol="false" tIns="0" lIns="0" bIns="0" rIns="0">
            <a:spAutoFit/>
          </a:bodyPr>
          <a:lstStyle/>
          <a:p>
            <a:pPr algn="l">
              <a:lnSpc>
                <a:spcPts val="4608"/>
              </a:lnSpc>
            </a:pPr>
            <a:r>
              <a:rPr lang="en-US" sz="3291">
                <a:solidFill>
                  <a:srgbClr val="FFFFFF"/>
                </a:solidFill>
                <a:latin typeface="Arial"/>
                <a:ea typeface="Arial"/>
                <a:cs typeface="Arial"/>
                <a:sym typeface="Arial"/>
              </a:rPr>
              <a:t>Integrantes: Benjamin Buzeta</a:t>
            </a:r>
          </a:p>
          <a:p>
            <a:pPr algn="l">
              <a:lnSpc>
                <a:spcPts val="4608"/>
              </a:lnSpc>
            </a:pPr>
            <a:r>
              <a:rPr lang="en-US" sz="3291">
                <a:solidFill>
                  <a:srgbClr val="FFFFFF"/>
                </a:solidFill>
                <a:latin typeface="Arial"/>
                <a:ea typeface="Arial"/>
                <a:cs typeface="Arial"/>
                <a:sym typeface="Arial"/>
              </a:rPr>
              <a:t>                    Sebastian Bunzli</a:t>
            </a:r>
          </a:p>
          <a:p>
            <a:pPr algn="l">
              <a:lnSpc>
                <a:spcPts val="4608"/>
              </a:lnSpc>
            </a:pPr>
            <a:r>
              <a:rPr lang="en-US" sz="3291">
                <a:solidFill>
                  <a:srgbClr val="FFFFFF"/>
                </a:solidFill>
                <a:latin typeface="Arial"/>
                <a:ea typeface="Arial"/>
                <a:cs typeface="Arial"/>
                <a:sym typeface="Arial"/>
              </a:rPr>
              <a:t>                    Daniel Romero</a:t>
            </a:r>
          </a:p>
        </p:txBody>
      </p:sp>
      <p:sp>
        <p:nvSpPr>
          <p:cNvPr name="TextBox 19" id="19"/>
          <p:cNvSpPr txBox="true"/>
          <p:nvPr/>
        </p:nvSpPr>
        <p:spPr>
          <a:xfrm rot="0">
            <a:off x="5467931" y="505223"/>
            <a:ext cx="10151118" cy="715009"/>
          </a:xfrm>
          <a:prstGeom prst="rect">
            <a:avLst/>
          </a:prstGeom>
        </p:spPr>
        <p:txBody>
          <a:bodyPr anchor="t" rtlCol="false" tIns="0" lIns="0" bIns="0" rIns="0">
            <a:spAutoFit/>
          </a:bodyPr>
          <a:lstStyle/>
          <a:p>
            <a:pPr algn="l">
              <a:lnSpc>
                <a:spcPts val="5740"/>
              </a:lnSpc>
            </a:pPr>
            <a:r>
              <a:rPr lang="en-US" sz="4100" b="true">
                <a:solidFill>
                  <a:srgbClr val="FFFFFF"/>
                </a:solidFill>
                <a:latin typeface="Arial Bold"/>
                <a:ea typeface="Arial Bold"/>
                <a:cs typeface="Arial Bold"/>
                <a:sym typeface="Arial Bold"/>
              </a:rPr>
              <a:t>Analisis de datos e inferencia estadica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212166" y="1059834"/>
            <a:ext cx="17705146" cy="8198466"/>
            <a:chOff x="0" y="0"/>
            <a:chExt cx="4663084" cy="2159267"/>
          </a:xfrm>
        </p:grpSpPr>
        <p:sp>
          <p:nvSpPr>
            <p:cNvPr name="Freeform 4" id="4"/>
            <p:cNvSpPr/>
            <p:nvPr/>
          </p:nvSpPr>
          <p:spPr>
            <a:xfrm flipH="false" flipV="false" rot="0">
              <a:off x="0" y="0"/>
              <a:ext cx="4663084" cy="2159267"/>
            </a:xfrm>
            <a:custGeom>
              <a:avLst/>
              <a:gdLst/>
              <a:ahLst/>
              <a:cxnLst/>
              <a:rect r="r" b="b" t="t" l="l"/>
              <a:pathLst>
                <a:path h="2159267" w="4663084">
                  <a:moveTo>
                    <a:pt x="13118" y="0"/>
                  </a:moveTo>
                  <a:lnTo>
                    <a:pt x="4649965" y="0"/>
                  </a:lnTo>
                  <a:cubicBezTo>
                    <a:pt x="4653445" y="0"/>
                    <a:pt x="4656781" y="1382"/>
                    <a:pt x="4659242" y="3842"/>
                  </a:cubicBezTo>
                  <a:cubicBezTo>
                    <a:pt x="4661702" y="6302"/>
                    <a:pt x="4663084" y="9639"/>
                    <a:pt x="4663084" y="13118"/>
                  </a:cubicBezTo>
                  <a:lnTo>
                    <a:pt x="4663084" y="2146149"/>
                  </a:lnTo>
                  <a:cubicBezTo>
                    <a:pt x="4663084" y="2149628"/>
                    <a:pt x="4661702" y="2152965"/>
                    <a:pt x="4659242" y="2155425"/>
                  </a:cubicBezTo>
                  <a:cubicBezTo>
                    <a:pt x="4656781" y="2157885"/>
                    <a:pt x="4653445" y="2159267"/>
                    <a:pt x="4649965" y="2159267"/>
                  </a:cubicBezTo>
                  <a:lnTo>
                    <a:pt x="13118" y="2159267"/>
                  </a:lnTo>
                  <a:cubicBezTo>
                    <a:pt x="9639" y="2159267"/>
                    <a:pt x="6302" y="2157885"/>
                    <a:pt x="3842" y="2155425"/>
                  </a:cubicBezTo>
                  <a:cubicBezTo>
                    <a:pt x="1382" y="2152965"/>
                    <a:pt x="0" y="2149628"/>
                    <a:pt x="0" y="2146149"/>
                  </a:cubicBezTo>
                  <a:lnTo>
                    <a:pt x="0" y="13118"/>
                  </a:lnTo>
                  <a:cubicBezTo>
                    <a:pt x="0" y="9639"/>
                    <a:pt x="1382" y="6302"/>
                    <a:pt x="3842" y="3842"/>
                  </a:cubicBezTo>
                  <a:cubicBezTo>
                    <a:pt x="6302" y="1382"/>
                    <a:pt x="9639" y="0"/>
                    <a:pt x="13118" y="0"/>
                  </a:cubicBezTo>
                  <a:close/>
                </a:path>
              </a:pathLst>
            </a:custGeom>
            <a:solidFill>
              <a:srgbClr val="FFFFFF"/>
            </a:solidFill>
            <a:ln cap="rnd">
              <a:noFill/>
              <a:prstDash val="solid"/>
              <a:round/>
            </a:ln>
          </p:spPr>
        </p:sp>
        <p:sp>
          <p:nvSpPr>
            <p:cNvPr name="TextBox 5" id="5"/>
            <p:cNvSpPr txBox="true"/>
            <p:nvPr/>
          </p:nvSpPr>
          <p:spPr>
            <a:xfrm>
              <a:off x="0" y="-38100"/>
              <a:ext cx="4663084" cy="2197367"/>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736182" y="3561885"/>
            <a:ext cx="996643" cy="880604"/>
            <a:chOff x="0" y="0"/>
            <a:chExt cx="919904" cy="812800"/>
          </a:xfrm>
        </p:grpSpPr>
        <p:sp>
          <p:nvSpPr>
            <p:cNvPr name="Freeform 7" id="7"/>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p:spPr>
        </p:sp>
      </p:grpSp>
      <p:grpSp>
        <p:nvGrpSpPr>
          <p:cNvPr name="Group 8" id="8"/>
          <p:cNvGrpSpPr/>
          <p:nvPr/>
        </p:nvGrpSpPr>
        <p:grpSpPr>
          <a:xfrm rot="0">
            <a:off x="5887828" y="3561885"/>
            <a:ext cx="996643" cy="880604"/>
            <a:chOff x="0" y="0"/>
            <a:chExt cx="919904" cy="812800"/>
          </a:xfrm>
        </p:grpSpPr>
        <p:sp>
          <p:nvSpPr>
            <p:cNvPr name="Freeform 9" id="9"/>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p:spPr>
        </p:sp>
      </p:grpSp>
      <p:grpSp>
        <p:nvGrpSpPr>
          <p:cNvPr name="Group 10" id="10"/>
          <p:cNvGrpSpPr/>
          <p:nvPr/>
        </p:nvGrpSpPr>
        <p:grpSpPr>
          <a:xfrm rot="0">
            <a:off x="736182" y="4904112"/>
            <a:ext cx="996643" cy="880604"/>
            <a:chOff x="0" y="0"/>
            <a:chExt cx="919904" cy="812800"/>
          </a:xfrm>
        </p:grpSpPr>
        <p:sp>
          <p:nvSpPr>
            <p:cNvPr name="Freeform 11" id="11"/>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grpSp>
        <p:nvGrpSpPr>
          <p:cNvPr name="Group 12" id="12"/>
          <p:cNvGrpSpPr/>
          <p:nvPr/>
        </p:nvGrpSpPr>
        <p:grpSpPr>
          <a:xfrm rot="0">
            <a:off x="5887828" y="4904112"/>
            <a:ext cx="996643" cy="880604"/>
            <a:chOff x="0" y="0"/>
            <a:chExt cx="919904" cy="812800"/>
          </a:xfrm>
        </p:grpSpPr>
        <p:sp>
          <p:nvSpPr>
            <p:cNvPr name="Freeform 13" id="13"/>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grpSp>
        <p:nvGrpSpPr>
          <p:cNvPr name="Group 14" id="14"/>
          <p:cNvGrpSpPr/>
          <p:nvPr/>
        </p:nvGrpSpPr>
        <p:grpSpPr>
          <a:xfrm rot="0">
            <a:off x="736182" y="6379688"/>
            <a:ext cx="996643" cy="880604"/>
            <a:chOff x="0" y="0"/>
            <a:chExt cx="919904" cy="812800"/>
          </a:xfrm>
        </p:grpSpPr>
        <p:sp>
          <p:nvSpPr>
            <p:cNvPr name="Freeform 15" id="15"/>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grpSp>
        <p:nvGrpSpPr>
          <p:cNvPr name="Group 16" id="16"/>
          <p:cNvGrpSpPr/>
          <p:nvPr/>
        </p:nvGrpSpPr>
        <p:grpSpPr>
          <a:xfrm rot="0">
            <a:off x="5887828" y="6379688"/>
            <a:ext cx="996643" cy="880604"/>
            <a:chOff x="0" y="0"/>
            <a:chExt cx="919904" cy="812800"/>
          </a:xfrm>
        </p:grpSpPr>
        <p:sp>
          <p:nvSpPr>
            <p:cNvPr name="Freeform 17" id="17"/>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grpSp>
        <p:nvGrpSpPr>
          <p:cNvPr name="Group 18" id="18"/>
          <p:cNvGrpSpPr/>
          <p:nvPr/>
        </p:nvGrpSpPr>
        <p:grpSpPr>
          <a:xfrm rot="0">
            <a:off x="736182" y="7791482"/>
            <a:ext cx="996643" cy="880604"/>
            <a:chOff x="0" y="0"/>
            <a:chExt cx="919904" cy="812800"/>
          </a:xfrm>
        </p:grpSpPr>
        <p:sp>
          <p:nvSpPr>
            <p:cNvPr name="Freeform 19" id="19"/>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grpSp>
        <p:nvGrpSpPr>
          <p:cNvPr name="Group 20" id="20"/>
          <p:cNvGrpSpPr/>
          <p:nvPr/>
        </p:nvGrpSpPr>
        <p:grpSpPr>
          <a:xfrm rot="0">
            <a:off x="5857649" y="7791482"/>
            <a:ext cx="996643" cy="880604"/>
            <a:chOff x="0" y="0"/>
            <a:chExt cx="919904" cy="812800"/>
          </a:xfrm>
        </p:grpSpPr>
        <p:sp>
          <p:nvSpPr>
            <p:cNvPr name="Freeform 21" id="21"/>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sp>
        <p:nvSpPr>
          <p:cNvPr name="Freeform 22" id="22"/>
          <p:cNvSpPr/>
          <p:nvPr/>
        </p:nvSpPr>
        <p:spPr>
          <a:xfrm flipH="false" flipV="false" rot="0">
            <a:off x="9950921" y="13205125"/>
            <a:ext cx="800350" cy="417292"/>
          </a:xfrm>
          <a:custGeom>
            <a:avLst/>
            <a:gdLst/>
            <a:ahLst/>
            <a:cxnLst/>
            <a:rect r="r" b="b" t="t" l="l"/>
            <a:pathLst>
              <a:path h="417292" w="800350">
                <a:moveTo>
                  <a:pt x="0" y="0"/>
                </a:moveTo>
                <a:lnTo>
                  <a:pt x="800350" y="0"/>
                </a:lnTo>
                <a:lnTo>
                  <a:pt x="800350" y="417292"/>
                </a:lnTo>
                <a:lnTo>
                  <a:pt x="0" y="4172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962302" y="3701981"/>
            <a:ext cx="635578" cy="524933"/>
          </a:xfrm>
          <a:prstGeom prst="rect">
            <a:avLst/>
          </a:prstGeom>
        </p:spPr>
        <p:txBody>
          <a:bodyPr anchor="t" rtlCol="false" tIns="0" lIns="0" bIns="0" rIns="0">
            <a:spAutoFit/>
          </a:bodyPr>
          <a:lstStyle/>
          <a:p>
            <a:pPr algn="l">
              <a:lnSpc>
                <a:spcPts val="4141"/>
              </a:lnSpc>
            </a:pPr>
            <a:r>
              <a:rPr lang="en-US" sz="2958" b="true">
                <a:solidFill>
                  <a:srgbClr val="0B1B45"/>
                </a:solidFill>
                <a:latin typeface="Times New Roman Bold"/>
                <a:ea typeface="Times New Roman Bold"/>
                <a:cs typeface="Times New Roman Bold"/>
                <a:sym typeface="Times New Roman Bold"/>
              </a:rPr>
              <a:t>01</a:t>
            </a:r>
          </a:p>
        </p:txBody>
      </p:sp>
      <p:sp>
        <p:nvSpPr>
          <p:cNvPr name="TextBox 24" id="24"/>
          <p:cNvSpPr txBox="true"/>
          <p:nvPr/>
        </p:nvSpPr>
        <p:spPr>
          <a:xfrm rot="0">
            <a:off x="6113948" y="3711506"/>
            <a:ext cx="635578" cy="457835"/>
          </a:xfrm>
          <a:prstGeom prst="rect">
            <a:avLst/>
          </a:prstGeom>
        </p:spPr>
        <p:txBody>
          <a:bodyPr anchor="t" rtlCol="false" tIns="0" lIns="0" bIns="0" rIns="0">
            <a:spAutoFit/>
          </a:bodyPr>
          <a:lstStyle/>
          <a:p>
            <a:pPr algn="l">
              <a:lnSpc>
                <a:spcPts val="3639"/>
              </a:lnSpc>
            </a:pPr>
            <a:r>
              <a:rPr lang="en-US" sz="2599" b="true">
                <a:solidFill>
                  <a:srgbClr val="0B1B45"/>
                </a:solidFill>
                <a:latin typeface="Times New Roman Bold"/>
                <a:ea typeface="Times New Roman Bold"/>
                <a:cs typeface="Times New Roman Bold"/>
                <a:sym typeface="Times New Roman Bold"/>
              </a:rPr>
              <a:t>05</a:t>
            </a:r>
          </a:p>
        </p:txBody>
      </p:sp>
      <p:sp>
        <p:nvSpPr>
          <p:cNvPr name="TextBox 25" id="25"/>
          <p:cNvSpPr txBox="true"/>
          <p:nvPr/>
        </p:nvSpPr>
        <p:spPr>
          <a:xfrm rot="0">
            <a:off x="962302" y="5044207"/>
            <a:ext cx="635578" cy="524933"/>
          </a:xfrm>
          <a:prstGeom prst="rect">
            <a:avLst/>
          </a:prstGeom>
        </p:spPr>
        <p:txBody>
          <a:bodyPr anchor="t" rtlCol="false" tIns="0" lIns="0" bIns="0" rIns="0">
            <a:spAutoFit/>
          </a:bodyPr>
          <a:lstStyle/>
          <a:p>
            <a:pPr algn="l">
              <a:lnSpc>
                <a:spcPts val="4141"/>
              </a:lnSpc>
            </a:pPr>
            <a:r>
              <a:rPr lang="en-US" sz="2958" b="true">
                <a:solidFill>
                  <a:srgbClr val="0B1B45"/>
                </a:solidFill>
                <a:latin typeface="Times New Roman Bold"/>
                <a:ea typeface="Times New Roman Bold"/>
                <a:cs typeface="Times New Roman Bold"/>
                <a:sym typeface="Times New Roman Bold"/>
              </a:rPr>
              <a:t>02</a:t>
            </a:r>
          </a:p>
        </p:txBody>
      </p:sp>
      <p:sp>
        <p:nvSpPr>
          <p:cNvPr name="TextBox 26" id="26"/>
          <p:cNvSpPr txBox="true"/>
          <p:nvPr/>
        </p:nvSpPr>
        <p:spPr>
          <a:xfrm rot="0">
            <a:off x="6113948" y="5053732"/>
            <a:ext cx="635578" cy="457835"/>
          </a:xfrm>
          <a:prstGeom prst="rect">
            <a:avLst/>
          </a:prstGeom>
        </p:spPr>
        <p:txBody>
          <a:bodyPr anchor="t" rtlCol="false" tIns="0" lIns="0" bIns="0" rIns="0">
            <a:spAutoFit/>
          </a:bodyPr>
          <a:lstStyle/>
          <a:p>
            <a:pPr algn="l">
              <a:lnSpc>
                <a:spcPts val="3639"/>
              </a:lnSpc>
            </a:pPr>
            <a:r>
              <a:rPr lang="en-US" sz="2599" b="true">
                <a:solidFill>
                  <a:srgbClr val="0B1B45"/>
                </a:solidFill>
                <a:latin typeface="Times New Roman Bold"/>
                <a:ea typeface="Times New Roman Bold"/>
                <a:cs typeface="Times New Roman Bold"/>
                <a:sym typeface="Times New Roman Bold"/>
              </a:rPr>
              <a:t>07</a:t>
            </a:r>
          </a:p>
        </p:txBody>
      </p:sp>
      <p:sp>
        <p:nvSpPr>
          <p:cNvPr name="TextBox 27" id="27"/>
          <p:cNvSpPr txBox="true"/>
          <p:nvPr/>
        </p:nvSpPr>
        <p:spPr>
          <a:xfrm rot="0">
            <a:off x="962302" y="6519784"/>
            <a:ext cx="635578" cy="524933"/>
          </a:xfrm>
          <a:prstGeom prst="rect">
            <a:avLst/>
          </a:prstGeom>
        </p:spPr>
        <p:txBody>
          <a:bodyPr anchor="t" rtlCol="false" tIns="0" lIns="0" bIns="0" rIns="0">
            <a:spAutoFit/>
          </a:bodyPr>
          <a:lstStyle/>
          <a:p>
            <a:pPr algn="l">
              <a:lnSpc>
                <a:spcPts val="4141"/>
              </a:lnSpc>
            </a:pPr>
            <a:r>
              <a:rPr lang="en-US" sz="2958" b="true">
                <a:solidFill>
                  <a:srgbClr val="0B1B45"/>
                </a:solidFill>
                <a:latin typeface="Times New Roman Bold"/>
                <a:ea typeface="Times New Roman Bold"/>
                <a:cs typeface="Times New Roman Bold"/>
                <a:sym typeface="Times New Roman Bold"/>
              </a:rPr>
              <a:t>03</a:t>
            </a:r>
          </a:p>
        </p:txBody>
      </p:sp>
      <p:sp>
        <p:nvSpPr>
          <p:cNvPr name="TextBox 28" id="28"/>
          <p:cNvSpPr txBox="true"/>
          <p:nvPr/>
        </p:nvSpPr>
        <p:spPr>
          <a:xfrm rot="0">
            <a:off x="6113948" y="6529309"/>
            <a:ext cx="635578" cy="457835"/>
          </a:xfrm>
          <a:prstGeom prst="rect">
            <a:avLst/>
          </a:prstGeom>
        </p:spPr>
        <p:txBody>
          <a:bodyPr anchor="t" rtlCol="false" tIns="0" lIns="0" bIns="0" rIns="0">
            <a:spAutoFit/>
          </a:bodyPr>
          <a:lstStyle/>
          <a:p>
            <a:pPr algn="l">
              <a:lnSpc>
                <a:spcPts val="3639"/>
              </a:lnSpc>
            </a:pPr>
            <a:r>
              <a:rPr lang="en-US" sz="2599" b="true">
                <a:solidFill>
                  <a:srgbClr val="0B1B45"/>
                </a:solidFill>
                <a:latin typeface="Times New Roman Bold"/>
                <a:ea typeface="Times New Roman Bold"/>
                <a:cs typeface="Times New Roman Bold"/>
                <a:sym typeface="Times New Roman Bold"/>
              </a:rPr>
              <a:t>08</a:t>
            </a:r>
          </a:p>
        </p:txBody>
      </p:sp>
      <p:sp>
        <p:nvSpPr>
          <p:cNvPr name="TextBox 29" id="29"/>
          <p:cNvSpPr txBox="true"/>
          <p:nvPr/>
        </p:nvSpPr>
        <p:spPr>
          <a:xfrm rot="0">
            <a:off x="962302" y="7931217"/>
            <a:ext cx="635578" cy="524933"/>
          </a:xfrm>
          <a:prstGeom prst="rect">
            <a:avLst/>
          </a:prstGeom>
        </p:spPr>
        <p:txBody>
          <a:bodyPr anchor="t" rtlCol="false" tIns="0" lIns="0" bIns="0" rIns="0">
            <a:spAutoFit/>
          </a:bodyPr>
          <a:lstStyle/>
          <a:p>
            <a:pPr algn="l">
              <a:lnSpc>
                <a:spcPts val="4141"/>
              </a:lnSpc>
            </a:pPr>
            <a:r>
              <a:rPr lang="en-US" sz="2958" b="true">
                <a:solidFill>
                  <a:srgbClr val="0B1B45"/>
                </a:solidFill>
                <a:latin typeface="Times New Roman Bold"/>
                <a:ea typeface="Times New Roman Bold"/>
                <a:cs typeface="Times New Roman Bold"/>
                <a:sym typeface="Times New Roman Bold"/>
              </a:rPr>
              <a:t>04</a:t>
            </a:r>
          </a:p>
        </p:txBody>
      </p:sp>
      <p:sp>
        <p:nvSpPr>
          <p:cNvPr name="TextBox 30" id="30"/>
          <p:cNvSpPr txBox="true"/>
          <p:nvPr/>
        </p:nvSpPr>
        <p:spPr>
          <a:xfrm rot="0">
            <a:off x="6083769" y="7867113"/>
            <a:ext cx="635578" cy="457835"/>
          </a:xfrm>
          <a:prstGeom prst="rect">
            <a:avLst/>
          </a:prstGeom>
        </p:spPr>
        <p:txBody>
          <a:bodyPr anchor="t" rtlCol="false" tIns="0" lIns="0" bIns="0" rIns="0">
            <a:spAutoFit/>
          </a:bodyPr>
          <a:lstStyle/>
          <a:p>
            <a:pPr algn="l">
              <a:lnSpc>
                <a:spcPts val="3639"/>
              </a:lnSpc>
            </a:pPr>
            <a:r>
              <a:rPr lang="en-US" sz="2599" b="true">
                <a:solidFill>
                  <a:srgbClr val="0B1B45"/>
                </a:solidFill>
                <a:latin typeface="Times New Roman Bold"/>
                <a:ea typeface="Times New Roman Bold"/>
                <a:cs typeface="Times New Roman Bold"/>
                <a:sym typeface="Times New Roman Bold"/>
              </a:rPr>
              <a:t>09</a:t>
            </a:r>
          </a:p>
        </p:txBody>
      </p:sp>
      <p:sp>
        <p:nvSpPr>
          <p:cNvPr name="TextBox 31" id="31"/>
          <p:cNvSpPr txBox="true"/>
          <p:nvPr/>
        </p:nvSpPr>
        <p:spPr>
          <a:xfrm rot="0">
            <a:off x="2040850" y="3561995"/>
            <a:ext cx="339930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Contextualización y origen de los datos</a:t>
            </a:r>
          </a:p>
        </p:txBody>
      </p:sp>
      <p:sp>
        <p:nvSpPr>
          <p:cNvPr name="TextBox 32" id="32"/>
          <p:cNvSpPr txBox="true"/>
          <p:nvPr/>
        </p:nvSpPr>
        <p:spPr>
          <a:xfrm rot="0">
            <a:off x="2040850" y="4879886"/>
            <a:ext cx="339930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Pregunta de investigación</a:t>
            </a:r>
          </a:p>
        </p:txBody>
      </p:sp>
      <p:sp>
        <p:nvSpPr>
          <p:cNvPr name="Freeform 33" id="33"/>
          <p:cNvSpPr/>
          <p:nvPr/>
        </p:nvSpPr>
        <p:spPr>
          <a:xfrm flipH="false" flipV="false" rot="0">
            <a:off x="212166" y="283224"/>
            <a:ext cx="2724332" cy="1490953"/>
          </a:xfrm>
          <a:custGeom>
            <a:avLst/>
            <a:gdLst/>
            <a:ahLst/>
            <a:cxnLst/>
            <a:rect r="r" b="b" t="t" l="l"/>
            <a:pathLst>
              <a:path h="1490953" w="2724332">
                <a:moveTo>
                  <a:pt x="0" y="0"/>
                </a:moveTo>
                <a:lnTo>
                  <a:pt x="2724332" y="0"/>
                </a:lnTo>
                <a:lnTo>
                  <a:pt x="2724332" y="1490952"/>
                </a:lnTo>
                <a:lnTo>
                  <a:pt x="0" y="14909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4" id="34"/>
          <p:cNvSpPr txBox="true"/>
          <p:nvPr/>
        </p:nvSpPr>
        <p:spPr>
          <a:xfrm rot="0">
            <a:off x="736182" y="1159591"/>
            <a:ext cx="7183636" cy="1247806"/>
          </a:xfrm>
          <a:prstGeom prst="rect">
            <a:avLst/>
          </a:prstGeom>
        </p:spPr>
        <p:txBody>
          <a:bodyPr anchor="t" rtlCol="false" tIns="0" lIns="0" bIns="0" rIns="0">
            <a:spAutoFit/>
          </a:bodyPr>
          <a:lstStyle/>
          <a:p>
            <a:pPr algn="l">
              <a:lnSpc>
                <a:spcPts val="9973"/>
              </a:lnSpc>
            </a:pPr>
            <a:r>
              <a:rPr lang="en-US" sz="7123" b="true">
                <a:solidFill>
                  <a:srgbClr val="0B1B45"/>
                </a:solidFill>
                <a:latin typeface="Times New Roman Bold"/>
                <a:ea typeface="Times New Roman Bold"/>
                <a:cs typeface="Times New Roman Bold"/>
                <a:sym typeface="Times New Roman Bold"/>
              </a:rPr>
              <a:t>Indice</a:t>
            </a:r>
          </a:p>
        </p:txBody>
      </p:sp>
      <p:sp>
        <p:nvSpPr>
          <p:cNvPr name="Freeform 35" id="35"/>
          <p:cNvSpPr/>
          <p:nvPr/>
        </p:nvSpPr>
        <p:spPr>
          <a:xfrm flipH="false" flipV="false" rot="0">
            <a:off x="15603702" y="8746075"/>
            <a:ext cx="2724332" cy="1490953"/>
          </a:xfrm>
          <a:custGeom>
            <a:avLst/>
            <a:gdLst/>
            <a:ahLst/>
            <a:cxnLst/>
            <a:rect r="r" b="b" t="t" l="l"/>
            <a:pathLst>
              <a:path h="1490953" w="2724332">
                <a:moveTo>
                  <a:pt x="0" y="0"/>
                </a:moveTo>
                <a:lnTo>
                  <a:pt x="2724333" y="0"/>
                </a:lnTo>
                <a:lnTo>
                  <a:pt x="2724333" y="1490953"/>
                </a:lnTo>
                <a:lnTo>
                  <a:pt x="0" y="14909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6" id="36"/>
          <p:cNvSpPr txBox="true"/>
          <p:nvPr/>
        </p:nvSpPr>
        <p:spPr>
          <a:xfrm rot="0">
            <a:off x="1949606" y="7698442"/>
            <a:ext cx="422149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Test de hipótesis </a:t>
            </a:r>
          </a:p>
          <a:p>
            <a:pPr algn="l">
              <a:lnSpc>
                <a:spcPts val="3639"/>
              </a:lnSpc>
            </a:pPr>
            <a:r>
              <a:rPr lang="en-US" sz="2599">
                <a:solidFill>
                  <a:srgbClr val="0B1B45"/>
                </a:solidFill>
                <a:latin typeface="Times New Roman"/>
                <a:ea typeface="Times New Roman"/>
                <a:cs typeface="Times New Roman"/>
                <a:sym typeface="Times New Roman"/>
              </a:rPr>
              <a:t>- Planteamiento</a:t>
            </a:r>
          </a:p>
        </p:txBody>
      </p:sp>
      <p:sp>
        <p:nvSpPr>
          <p:cNvPr name="TextBox 37" id="37"/>
          <p:cNvSpPr txBox="true"/>
          <p:nvPr/>
        </p:nvSpPr>
        <p:spPr>
          <a:xfrm rot="0">
            <a:off x="7030318" y="3527454"/>
            <a:ext cx="292060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Variables clave del dataframe</a:t>
            </a:r>
          </a:p>
        </p:txBody>
      </p:sp>
      <p:sp>
        <p:nvSpPr>
          <p:cNvPr name="TextBox 38" id="38"/>
          <p:cNvSpPr txBox="true"/>
          <p:nvPr/>
        </p:nvSpPr>
        <p:spPr>
          <a:xfrm rot="0">
            <a:off x="7033254" y="4651286"/>
            <a:ext cx="4221493" cy="13722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Media de alimentos saludables por comuna, índice de pobreza y registro de matricula</a:t>
            </a:r>
          </a:p>
        </p:txBody>
      </p:sp>
      <p:grpSp>
        <p:nvGrpSpPr>
          <p:cNvPr name="Group 39" id="39"/>
          <p:cNvGrpSpPr/>
          <p:nvPr/>
        </p:nvGrpSpPr>
        <p:grpSpPr>
          <a:xfrm rot="0">
            <a:off x="12325029" y="3561885"/>
            <a:ext cx="996643" cy="880604"/>
            <a:chOff x="0" y="0"/>
            <a:chExt cx="919904" cy="812800"/>
          </a:xfrm>
        </p:grpSpPr>
        <p:sp>
          <p:nvSpPr>
            <p:cNvPr name="Freeform 40" id="40"/>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p:spPr>
        </p:sp>
      </p:grpSp>
      <p:grpSp>
        <p:nvGrpSpPr>
          <p:cNvPr name="Group 41" id="41"/>
          <p:cNvGrpSpPr/>
          <p:nvPr/>
        </p:nvGrpSpPr>
        <p:grpSpPr>
          <a:xfrm rot="0">
            <a:off x="12325029" y="4904112"/>
            <a:ext cx="996643" cy="880604"/>
            <a:chOff x="0" y="0"/>
            <a:chExt cx="919904" cy="812800"/>
          </a:xfrm>
        </p:grpSpPr>
        <p:sp>
          <p:nvSpPr>
            <p:cNvPr name="Freeform 42" id="42"/>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grpSp>
        <p:nvGrpSpPr>
          <p:cNvPr name="Group 43" id="43"/>
          <p:cNvGrpSpPr/>
          <p:nvPr/>
        </p:nvGrpSpPr>
        <p:grpSpPr>
          <a:xfrm rot="0">
            <a:off x="12325029" y="6379688"/>
            <a:ext cx="996643" cy="880604"/>
            <a:chOff x="0" y="0"/>
            <a:chExt cx="919904" cy="812800"/>
          </a:xfrm>
        </p:grpSpPr>
        <p:sp>
          <p:nvSpPr>
            <p:cNvPr name="Freeform 44" id="44"/>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grpSp>
        <p:nvGrpSpPr>
          <p:cNvPr name="Group 45" id="45"/>
          <p:cNvGrpSpPr/>
          <p:nvPr/>
        </p:nvGrpSpPr>
        <p:grpSpPr>
          <a:xfrm rot="0">
            <a:off x="12325029" y="7791482"/>
            <a:ext cx="996643" cy="880604"/>
            <a:chOff x="0" y="0"/>
            <a:chExt cx="919904" cy="812800"/>
          </a:xfrm>
        </p:grpSpPr>
        <p:sp>
          <p:nvSpPr>
            <p:cNvPr name="Freeform 46" id="46"/>
            <p:cNvSpPr/>
            <p:nvPr/>
          </p:nvSpPr>
          <p:spPr>
            <a:xfrm flipH="false" flipV="false" rot="0">
              <a:off x="0" y="0"/>
              <a:ext cx="919904" cy="812800"/>
            </a:xfrm>
            <a:custGeom>
              <a:avLst/>
              <a:gdLst/>
              <a:ahLst/>
              <a:cxnLst/>
              <a:rect r="r" b="b" t="t" l="l"/>
              <a:pathLst>
                <a:path h="812800" w="919904">
                  <a:moveTo>
                    <a:pt x="714736" y="32957"/>
                  </a:moveTo>
                  <a:lnTo>
                    <a:pt x="886948" y="205168"/>
                  </a:lnTo>
                  <a:cubicBezTo>
                    <a:pt x="908050" y="226270"/>
                    <a:pt x="919904" y="254890"/>
                    <a:pt x="919904" y="284733"/>
                  </a:cubicBezTo>
                  <a:lnTo>
                    <a:pt x="919904" y="528067"/>
                  </a:lnTo>
                  <a:cubicBezTo>
                    <a:pt x="919904" y="557910"/>
                    <a:pt x="908050" y="586530"/>
                    <a:pt x="886948" y="607632"/>
                  </a:cubicBezTo>
                  <a:lnTo>
                    <a:pt x="714736" y="779843"/>
                  </a:lnTo>
                  <a:cubicBezTo>
                    <a:pt x="693634" y="800945"/>
                    <a:pt x="665014" y="812800"/>
                    <a:pt x="635171" y="812800"/>
                  </a:cubicBezTo>
                  <a:lnTo>
                    <a:pt x="284733" y="812800"/>
                  </a:lnTo>
                  <a:cubicBezTo>
                    <a:pt x="254890" y="812800"/>
                    <a:pt x="226270" y="800945"/>
                    <a:pt x="205168" y="779843"/>
                  </a:cubicBezTo>
                  <a:lnTo>
                    <a:pt x="32957" y="607632"/>
                  </a:lnTo>
                  <a:cubicBezTo>
                    <a:pt x="11855" y="586530"/>
                    <a:pt x="0" y="557910"/>
                    <a:pt x="0" y="528067"/>
                  </a:cubicBezTo>
                  <a:lnTo>
                    <a:pt x="0" y="284733"/>
                  </a:lnTo>
                  <a:cubicBezTo>
                    <a:pt x="0" y="254890"/>
                    <a:pt x="11855" y="226270"/>
                    <a:pt x="32957" y="205168"/>
                  </a:cubicBezTo>
                  <a:lnTo>
                    <a:pt x="205168" y="32957"/>
                  </a:lnTo>
                  <a:cubicBezTo>
                    <a:pt x="226270" y="11855"/>
                    <a:pt x="254890" y="0"/>
                    <a:pt x="284733" y="0"/>
                  </a:cubicBezTo>
                  <a:lnTo>
                    <a:pt x="635171" y="0"/>
                  </a:lnTo>
                  <a:cubicBezTo>
                    <a:pt x="665014" y="0"/>
                    <a:pt x="693634" y="11855"/>
                    <a:pt x="714736" y="32957"/>
                  </a:cubicBezTo>
                  <a:close/>
                </a:path>
              </a:pathLst>
            </a:custGeom>
            <a:gradFill rotWithShape="true">
              <a:gsLst>
                <a:gs pos="0">
                  <a:srgbClr val="256AB3">
                    <a:alpha val="100000"/>
                  </a:srgbClr>
                </a:gs>
                <a:gs pos="100000">
                  <a:srgbClr val="CBDFFF">
                    <a:alpha val="100000"/>
                  </a:srgbClr>
                </a:gs>
              </a:gsLst>
              <a:path path="circle">
                <a:fillToRect l="0" r="100000" t="0" b="100000"/>
              </a:path>
              <a:tileRect r="0" l="-100000" b="0" t="-100000"/>
            </a:gradFill>
            <a:ln cap="sq">
              <a:noFill/>
              <a:prstDash val="solid"/>
              <a:miter/>
            </a:ln>
          </p:spPr>
        </p:sp>
      </p:grpSp>
      <p:sp>
        <p:nvSpPr>
          <p:cNvPr name="TextBox 47" id="47"/>
          <p:cNvSpPr txBox="true"/>
          <p:nvPr/>
        </p:nvSpPr>
        <p:spPr>
          <a:xfrm rot="0">
            <a:off x="12551149" y="3711506"/>
            <a:ext cx="635578" cy="457835"/>
          </a:xfrm>
          <a:prstGeom prst="rect">
            <a:avLst/>
          </a:prstGeom>
        </p:spPr>
        <p:txBody>
          <a:bodyPr anchor="t" rtlCol="false" tIns="0" lIns="0" bIns="0" rIns="0">
            <a:spAutoFit/>
          </a:bodyPr>
          <a:lstStyle/>
          <a:p>
            <a:pPr algn="l">
              <a:lnSpc>
                <a:spcPts val="3639"/>
              </a:lnSpc>
            </a:pPr>
            <a:r>
              <a:rPr lang="en-US" sz="2599" b="true">
                <a:solidFill>
                  <a:srgbClr val="0B1B45"/>
                </a:solidFill>
                <a:latin typeface="Times New Roman Bold"/>
                <a:ea typeface="Times New Roman Bold"/>
                <a:cs typeface="Times New Roman Bold"/>
                <a:sym typeface="Times New Roman Bold"/>
              </a:rPr>
              <a:t>10</a:t>
            </a:r>
          </a:p>
        </p:txBody>
      </p:sp>
      <p:sp>
        <p:nvSpPr>
          <p:cNvPr name="TextBox 48" id="48"/>
          <p:cNvSpPr txBox="true"/>
          <p:nvPr/>
        </p:nvSpPr>
        <p:spPr>
          <a:xfrm rot="0">
            <a:off x="12551149" y="5053732"/>
            <a:ext cx="635578" cy="457835"/>
          </a:xfrm>
          <a:prstGeom prst="rect">
            <a:avLst/>
          </a:prstGeom>
        </p:spPr>
        <p:txBody>
          <a:bodyPr anchor="t" rtlCol="false" tIns="0" lIns="0" bIns="0" rIns="0">
            <a:spAutoFit/>
          </a:bodyPr>
          <a:lstStyle/>
          <a:p>
            <a:pPr algn="l">
              <a:lnSpc>
                <a:spcPts val="3639"/>
              </a:lnSpc>
            </a:pPr>
            <a:r>
              <a:rPr lang="en-US" sz="2599" b="true">
                <a:solidFill>
                  <a:srgbClr val="0B1B45"/>
                </a:solidFill>
                <a:latin typeface="Times New Roman Bold"/>
                <a:ea typeface="Times New Roman Bold"/>
                <a:cs typeface="Times New Roman Bold"/>
                <a:sym typeface="Times New Roman Bold"/>
              </a:rPr>
              <a:t>11</a:t>
            </a:r>
          </a:p>
        </p:txBody>
      </p:sp>
      <p:sp>
        <p:nvSpPr>
          <p:cNvPr name="TextBox 49" id="49"/>
          <p:cNvSpPr txBox="true"/>
          <p:nvPr/>
        </p:nvSpPr>
        <p:spPr>
          <a:xfrm rot="0">
            <a:off x="12551149" y="6529309"/>
            <a:ext cx="635578" cy="457835"/>
          </a:xfrm>
          <a:prstGeom prst="rect">
            <a:avLst/>
          </a:prstGeom>
        </p:spPr>
        <p:txBody>
          <a:bodyPr anchor="t" rtlCol="false" tIns="0" lIns="0" bIns="0" rIns="0">
            <a:spAutoFit/>
          </a:bodyPr>
          <a:lstStyle/>
          <a:p>
            <a:pPr algn="l">
              <a:lnSpc>
                <a:spcPts val="3639"/>
              </a:lnSpc>
            </a:pPr>
            <a:r>
              <a:rPr lang="en-US" sz="2599" b="true">
                <a:solidFill>
                  <a:srgbClr val="0B1B45"/>
                </a:solidFill>
                <a:latin typeface="Times New Roman Bold"/>
                <a:ea typeface="Times New Roman Bold"/>
                <a:cs typeface="Times New Roman Bold"/>
                <a:sym typeface="Times New Roman Bold"/>
              </a:rPr>
              <a:t>12</a:t>
            </a:r>
          </a:p>
        </p:txBody>
      </p:sp>
      <p:sp>
        <p:nvSpPr>
          <p:cNvPr name="TextBox 50" id="50"/>
          <p:cNvSpPr txBox="true"/>
          <p:nvPr/>
        </p:nvSpPr>
        <p:spPr>
          <a:xfrm rot="0">
            <a:off x="12551149" y="7867113"/>
            <a:ext cx="635578" cy="457835"/>
          </a:xfrm>
          <a:prstGeom prst="rect">
            <a:avLst/>
          </a:prstGeom>
        </p:spPr>
        <p:txBody>
          <a:bodyPr anchor="t" rtlCol="false" tIns="0" lIns="0" bIns="0" rIns="0">
            <a:spAutoFit/>
          </a:bodyPr>
          <a:lstStyle/>
          <a:p>
            <a:pPr algn="l">
              <a:lnSpc>
                <a:spcPts val="3639"/>
              </a:lnSpc>
            </a:pPr>
            <a:r>
              <a:rPr lang="en-US" sz="2599" b="true">
                <a:solidFill>
                  <a:srgbClr val="0B1B45"/>
                </a:solidFill>
                <a:latin typeface="Times New Roman Bold"/>
                <a:ea typeface="Times New Roman Bold"/>
                <a:cs typeface="Times New Roman Bold"/>
                <a:sym typeface="Times New Roman Bold"/>
              </a:rPr>
              <a:t>13</a:t>
            </a:r>
          </a:p>
        </p:txBody>
      </p:sp>
      <p:sp>
        <p:nvSpPr>
          <p:cNvPr name="TextBox 51" id="51"/>
          <p:cNvSpPr txBox="true"/>
          <p:nvPr/>
        </p:nvSpPr>
        <p:spPr>
          <a:xfrm rot="0">
            <a:off x="13531222" y="3495210"/>
            <a:ext cx="422149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Prueba de hipótesis</a:t>
            </a:r>
          </a:p>
          <a:p>
            <a:pPr algn="l">
              <a:lnSpc>
                <a:spcPts val="3639"/>
              </a:lnSpc>
            </a:pPr>
            <a:r>
              <a:rPr lang="en-US" sz="2599">
                <a:solidFill>
                  <a:srgbClr val="0B1B45"/>
                </a:solidFill>
                <a:latin typeface="Times New Roman"/>
                <a:ea typeface="Times New Roman"/>
                <a:cs typeface="Times New Roman"/>
                <a:sym typeface="Times New Roman"/>
              </a:rPr>
              <a:t>- Desarrollo y resultados</a:t>
            </a:r>
          </a:p>
        </p:txBody>
      </p:sp>
      <p:sp>
        <p:nvSpPr>
          <p:cNvPr name="TextBox 52" id="52"/>
          <p:cNvSpPr txBox="true"/>
          <p:nvPr/>
        </p:nvSpPr>
        <p:spPr>
          <a:xfrm rot="0">
            <a:off x="1732825" y="2613483"/>
            <a:ext cx="2451021" cy="580390"/>
          </a:xfrm>
          <a:prstGeom prst="rect">
            <a:avLst/>
          </a:prstGeom>
        </p:spPr>
        <p:txBody>
          <a:bodyPr anchor="t" rtlCol="false" tIns="0" lIns="0" bIns="0" rIns="0">
            <a:spAutoFit/>
          </a:bodyPr>
          <a:lstStyle/>
          <a:p>
            <a:pPr algn="ctr">
              <a:lnSpc>
                <a:spcPts val="4759"/>
              </a:lnSpc>
            </a:pPr>
            <a:r>
              <a:rPr lang="en-US" sz="3399">
                <a:solidFill>
                  <a:srgbClr val="0B1B45"/>
                </a:solidFill>
                <a:latin typeface="Open Sans"/>
                <a:ea typeface="Open Sans"/>
                <a:cs typeface="Open Sans"/>
                <a:sym typeface="Open Sans"/>
              </a:rPr>
              <a:t>Información</a:t>
            </a:r>
          </a:p>
        </p:txBody>
      </p:sp>
      <p:sp>
        <p:nvSpPr>
          <p:cNvPr name="TextBox 53" id="53"/>
          <p:cNvSpPr txBox="true"/>
          <p:nvPr/>
        </p:nvSpPr>
        <p:spPr>
          <a:xfrm rot="0">
            <a:off x="7919818" y="2613483"/>
            <a:ext cx="2042398" cy="580390"/>
          </a:xfrm>
          <a:prstGeom prst="rect">
            <a:avLst/>
          </a:prstGeom>
        </p:spPr>
        <p:txBody>
          <a:bodyPr anchor="t" rtlCol="false" tIns="0" lIns="0" bIns="0" rIns="0">
            <a:spAutoFit/>
          </a:bodyPr>
          <a:lstStyle/>
          <a:p>
            <a:pPr algn="ctr">
              <a:lnSpc>
                <a:spcPts val="4759"/>
              </a:lnSpc>
            </a:pPr>
            <a:r>
              <a:rPr lang="en-US" sz="3399">
                <a:solidFill>
                  <a:srgbClr val="0B1B45"/>
                </a:solidFill>
                <a:latin typeface="Open Sans"/>
                <a:ea typeface="Open Sans"/>
                <a:cs typeface="Open Sans"/>
                <a:sym typeface="Open Sans"/>
              </a:rPr>
              <a:t>Aplicación</a:t>
            </a:r>
          </a:p>
        </p:txBody>
      </p:sp>
      <p:sp>
        <p:nvSpPr>
          <p:cNvPr name="TextBox 54" id="54"/>
          <p:cNvSpPr txBox="true"/>
          <p:nvPr/>
        </p:nvSpPr>
        <p:spPr>
          <a:xfrm rot="0">
            <a:off x="14056273" y="2613483"/>
            <a:ext cx="2213253" cy="580390"/>
          </a:xfrm>
          <a:prstGeom prst="rect">
            <a:avLst/>
          </a:prstGeom>
        </p:spPr>
        <p:txBody>
          <a:bodyPr anchor="t" rtlCol="false" tIns="0" lIns="0" bIns="0" rIns="0">
            <a:spAutoFit/>
          </a:bodyPr>
          <a:lstStyle/>
          <a:p>
            <a:pPr algn="ctr">
              <a:lnSpc>
                <a:spcPts val="4759"/>
              </a:lnSpc>
            </a:pPr>
            <a:r>
              <a:rPr lang="en-US" sz="3399">
                <a:solidFill>
                  <a:srgbClr val="0B1B45"/>
                </a:solidFill>
                <a:latin typeface="Open Sans"/>
                <a:ea typeface="Open Sans"/>
                <a:cs typeface="Open Sans"/>
                <a:sym typeface="Open Sans"/>
              </a:rPr>
              <a:t>Resultados</a:t>
            </a:r>
          </a:p>
        </p:txBody>
      </p:sp>
      <p:sp>
        <p:nvSpPr>
          <p:cNvPr name="TextBox 55" id="55"/>
          <p:cNvSpPr txBox="true"/>
          <p:nvPr/>
        </p:nvSpPr>
        <p:spPr>
          <a:xfrm rot="0">
            <a:off x="1949606" y="6461671"/>
            <a:ext cx="4221493" cy="4578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Diagrama metodológico </a:t>
            </a:r>
          </a:p>
        </p:txBody>
      </p:sp>
      <p:sp>
        <p:nvSpPr>
          <p:cNvPr name="TextBox 56" id="56"/>
          <p:cNvSpPr txBox="true"/>
          <p:nvPr/>
        </p:nvSpPr>
        <p:spPr>
          <a:xfrm rot="0">
            <a:off x="7103546" y="6329135"/>
            <a:ext cx="292060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Correlaciones de las variables</a:t>
            </a:r>
          </a:p>
        </p:txBody>
      </p:sp>
      <p:sp>
        <p:nvSpPr>
          <p:cNvPr name="TextBox 57" id="57"/>
          <p:cNvSpPr txBox="true"/>
          <p:nvPr/>
        </p:nvSpPr>
        <p:spPr>
          <a:xfrm rot="0">
            <a:off x="7103546" y="7757051"/>
            <a:ext cx="292060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Conclusiones de los gráficos</a:t>
            </a:r>
          </a:p>
        </p:txBody>
      </p:sp>
      <p:sp>
        <p:nvSpPr>
          <p:cNvPr name="TextBox 58" id="58"/>
          <p:cNvSpPr txBox="true"/>
          <p:nvPr/>
        </p:nvSpPr>
        <p:spPr>
          <a:xfrm rot="0">
            <a:off x="13492956" y="4853558"/>
            <a:ext cx="347291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Desarrollo y continuación de Apis</a:t>
            </a:r>
          </a:p>
        </p:txBody>
      </p:sp>
      <p:sp>
        <p:nvSpPr>
          <p:cNvPr name="TextBox 59" id="59"/>
          <p:cNvSpPr txBox="true"/>
          <p:nvPr/>
        </p:nvSpPr>
        <p:spPr>
          <a:xfrm rot="0">
            <a:off x="13540747" y="6329135"/>
            <a:ext cx="3472913" cy="9150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Modelo de regresión lineal</a:t>
            </a:r>
          </a:p>
        </p:txBody>
      </p:sp>
      <p:sp>
        <p:nvSpPr>
          <p:cNvPr name="TextBox 60" id="60"/>
          <p:cNvSpPr txBox="true"/>
          <p:nvPr/>
        </p:nvSpPr>
        <p:spPr>
          <a:xfrm rot="0">
            <a:off x="13531222" y="7773949"/>
            <a:ext cx="3472913" cy="457835"/>
          </a:xfrm>
          <a:prstGeom prst="rect">
            <a:avLst/>
          </a:prstGeom>
        </p:spPr>
        <p:txBody>
          <a:bodyPr anchor="t" rtlCol="false" tIns="0" lIns="0" bIns="0" rIns="0">
            <a:spAutoFit/>
          </a:bodyPr>
          <a:lstStyle/>
          <a:p>
            <a:pPr algn="l">
              <a:lnSpc>
                <a:spcPts val="3639"/>
              </a:lnSpc>
            </a:pPr>
            <a:r>
              <a:rPr lang="en-US" sz="2599">
                <a:solidFill>
                  <a:srgbClr val="0B1B45"/>
                </a:solidFill>
                <a:latin typeface="Times New Roman"/>
                <a:ea typeface="Times New Roman"/>
                <a:cs typeface="Times New Roman"/>
                <a:sym typeface="Times New Roman"/>
              </a:rPr>
              <a:t>Conclusión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284663" y="793160"/>
            <a:ext cx="10886694" cy="1518462"/>
            <a:chOff x="0" y="0"/>
            <a:chExt cx="3821986" cy="533086"/>
          </a:xfrm>
        </p:grpSpPr>
        <p:sp>
          <p:nvSpPr>
            <p:cNvPr name="Freeform 4" id="4"/>
            <p:cNvSpPr/>
            <p:nvPr/>
          </p:nvSpPr>
          <p:spPr>
            <a:xfrm flipH="false" flipV="false" rot="0">
              <a:off x="0" y="0"/>
              <a:ext cx="3821986" cy="533086"/>
            </a:xfrm>
            <a:custGeom>
              <a:avLst/>
              <a:gdLst/>
              <a:ahLst/>
              <a:cxnLst/>
              <a:rect r="r" b="b" t="t" l="l"/>
              <a:pathLst>
                <a:path h="533086" w="3821986">
                  <a:moveTo>
                    <a:pt x="14223" y="0"/>
                  </a:moveTo>
                  <a:lnTo>
                    <a:pt x="3807764" y="0"/>
                  </a:lnTo>
                  <a:cubicBezTo>
                    <a:pt x="3815619" y="0"/>
                    <a:pt x="3821986" y="6368"/>
                    <a:pt x="3821986" y="14223"/>
                  </a:cubicBezTo>
                  <a:lnTo>
                    <a:pt x="3821986" y="518863"/>
                  </a:lnTo>
                  <a:cubicBezTo>
                    <a:pt x="3821986" y="526718"/>
                    <a:pt x="3815619" y="533086"/>
                    <a:pt x="3807764" y="533086"/>
                  </a:cubicBezTo>
                  <a:lnTo>
                    <a:pt x="14223" y="533086"/>
                  </a:lnTo>
                  <a:cubicBezTo>
                    <a:pt x="6368" y="533086"/>
                    <a:pt x="0" y="526718"/>
                    <a:pt x="0" y="518863"/>
                  </a:cubicBezTo>
                  <a:lnTo>
                    <a:pt x="0" y="14223"/>
                  </a:lnTo>
                  <a:cubicBezTo>
                    <a:pt x="0" y="6368"/>
                    <a:pt x="6368" y="0"/>
                    <a:pt x="14223" y="0"/>
                  </a:cubicBezTo>
                  <a:close/>
                </a:path>
              </a:pathLst>
            </a:custGeom>
            <a:gradFill rotWithShape="true">
              <a:gsLst>
                <a:gs pos="0">
                  <a:srgbClr val="256AB3">
                    <a:alpha val="28000"/>
                  </a:srgbClr>
                </a:gs>
                <a:gs pos="100000">
                  <a:srgbClr val="CBDFFF">
                    <a:alpha val="28000"/>
                  </a:srgbClr>
                </a:gs>
              </a:gsLst>
              <a:path path="circle">
                <a:fillToRect l="0" r="100000" t="0" b="100000"/>
              </a:path>
              <a:tileRect r="0" l="-100000" b="0" t="-100000"/>
            </a:gradFill>
            <a:ln cap="sq">
              <a:noFill/>
              <a:prstDash val="solid"/>
              <a:miter/>
            </a:ln>
          </p:spPr>
        </p:sp>
        <p:sp>
          <p:nvSpPr>
            <p:cNvPr name="TextBox 5" id="5"/>
            <p:cNvSpPr txBox="true"/>
            <p:nvPr/>
          </p:nvSpPr>
          <p:spPr>
            <a:xfrm>
              <a:off x="0" y="-66675"/>
              <a:ext cx="3821986" cy="599761"/>
            </a:xfrm>
            <a:prstGeom prst="rect">
              <a:avLst/>
            </a:prstGeom>
          </p:spPr>
          <p:txBody>
            <a:bodyPr anchor="ctr" rtlCol="false" tIns="47543" lIns="47543" bIns="47543" rIns="47543"/>
            <a:lstStyle/>
            <a:p>
              <a:pPr algn="ctr">
                <a:lnSpc>
                  <a:spcPts val="3418"/>
                </a:lnSpc>
              </a:pPr>
            </a:p>
          </p:txBody>
        </p:sp>
      </p:grpSp>
      <p:grpSp>
        <p:nvGrpSpPr>
          <p:cNvPr name="Group 6" id="6"/>
          <p:cNvGrpSpPr/>
          <p:nvPr/>
        </p:nvGrpSpPr>
        <p:grpSpPr>
          <a:xfrm rot="0">
            <a:off x="428204" y="527066"/>
            <a:ext cx="11027215" cy="1577218"/>
            <a:chOff x="0" y="0"/>
            <a:chExt cx="3871319" cy="553713"/>
          </a:xfrm>
        </p:grpSpPr>
        <p:sp>
          <p:nvSpPr>
            <p:cNvPr name="Freeform 7" id="7"/>
            <p:cNvSpPr/>
            <p:nvPr/>
          </p:nvSpPr>
          <p:spPr>
            <a:xfrm flipH="false" flipV="false" rot="0">
              <a:off x="0" y="0"/>
              <a:ext cx="3871319" cy="553713"/>
            </a:xfrm>
            <a:custGeom>
              <a:avLst/>
              <a:gdLst/>
              <a:ahLst/>
              <a:cxnLst/>
              <a:rect r="r" b="b" t="t" l="l"/>
              <a:pathLst>
                <a:path h="553713" w="3871319">
                  <a:moveTo>
                    <a:pt x="14041" y="0"/>
                  </a:moveTo>
                  <a:lnTo>
                    <a:pt x="3857278" y="0"/>
                  </a:lnTo>
                  <a:cubicBezTo>
                    <a:pt x="3861002" y="0"/>
                    <a:pt x="3864573" y="1479"/>
                    <a:pt x="3867207" y="4113"/>
                  </a:cubicBezTo>
                  <a:cubicBezTo>
                    <a:pt x="3869840" y="6746"/>
                    <a:pt x="3871319" y="10317"/>
                    <a:pt x="3871319" y="14041"/>
                  </a:cubicBezTo>
                  <a:lnTo>
                    <a:pt x="3871319" y="539672"/>
                  </a:lnTo>
                  <a:cubicBezTo>
                    <a:pt x="3871319" y="543396"/>
                    <a:pt x="3869840" y="546967"/>
                    <a:pt x="3867207" y="549601"/>
                  </a:cubicBezTo>
                  <a:cubicBezTo>
                    <a:pt x="3864573" y="552234"/>
                    <a:pt x="3861002" y="553713"/>
                    <a:pt x="3857278" y="553713"/>
                  </a:cubicBezTo>
                  <a:lnTo>
                    <a:pt x="14041" y="553713"/>
                  </a:lnTo>
                  <a:cubicBezTo>
                    <a:pt x="6287" y="553713"/>
                    <a:pt x="0" y="547427"/>
                    <a:pt x="0" y="539672"/>
                  </a:cubicBezTo>
                  <a:lnTo>
                    <a:pt x="0" y="14041"/>
                  </a:lnTo>
                  <a:cubicBezTo>
                    <a:pt x="0" y="6287"/>
                    <a:pt x="6287" y="0"/>
                    <a:pt x="14041"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8" id="8"/>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Freeform 9" id="9"/>
          <p:cNvSpPr/>
          <p:nvPr/>
        </p:nvSpPr>
        <p:spPr>
          <a:xfrm flipH="false" flipV="false" rot="0">
            <a:off x="12106024" y="5967350"/>
            <a:ext cx="7507086" cy="4119513"/>
          </a:xfrm>
          <a:custGeom>
            <a:avLst/>
            <a:gdLst/>
            <a:ahLst/>
            <a:cxnLst/>
            <a:rect r="r" b="b" t="t" l="l"/>
            <a:pathLst>
              <a:path h="4119513" w="7507086">
                <a:moveTo>
                  <a:pt x="0" y="0"/>
                </a:moveTo>
                <a:lnTo>
                  <a:pt x="7507087" y="0"/>
                </a:lnTo>
                <a:lnTo>
                  <a:pt x="7507087" y="4119513"/>
                </a:lnTo>
                <a:lnTo>
                  <a:pt x="0" y="4119513"/>
                </a:lnTo>
                <a:lnTo>
                  <a:pt x="0" y="0"/>
                </a:lnTo>
                <a:close/>
              </a:path>
            </a:pathLst>
          </a:custGeom>
          <a:blipFill>
            <a:blip r:embed="rId3"/>
            <a:stretch>
              <a:fillRect l="0" t="0" r="0" b="0"/>
            </a:stretch>
          </a:blipFill>
        </p:spPr>
      </p:sp>
      <p:sp>
        <p:nvSpPr>
          <p:cNvPr name="TextBox 10" id="10"/>
          <p:cNvSpPr txBox="true"/>
          <p:nvPr/>
        </p:nvSpPr>
        <p:spPr>
          <a:xfrm rot="0">
            <a:off x="670458" y="923925"/>
            <a:ext cx="10043621" cy="732444"/>
          </a:xfrm>
          <a:prstGeom prst="rect">
            <a:avLst/>
          </a:prstGeom>
        </p:spPr>
        <p:txBody>
          <a:bodyPr anchor="t" rtlCol="false" tIns="0" lIns="0" bIns="0" rIns="0">
            <a:spAutoFit/>
          </a:bodyPr>
          <a:lstStyle/>
          <a:p>
            <a:pPr algn="ctr">
              <a:lnSpc>
                <a:spcPts val="5829"/>
              </a:lnSpc>
            </a:pPr>
            <a:r>
              <a:rPr lang="en-US" sz="4163" b="true">
                <a:solidFill>
                  <a:srgbClr val="FFFFFF"/>
                </a:solidFill>
                <a:latin typeface="Arial Bold"/>
                <a:ea typeface="Arial Bold"/>
                <a:cs typeface="Arial Bold"/>
                <a:sym typeface="Arial Bold"/>
              </a:rPr>
              <a:t>Contextualización y origen de los datos</a:t>
            </a:r>
          </a:p>
        </p:txBody>
      </p:sp>
      <p:grpSp>
        <p:nvGrpSpPr>
          <p:cNvPr name="Group 11" id="11"/>
          <p:cNvGrpSpPr/>
          <p:nvPr/>
        </p:nvGrpSpPr>
        <p:grpSpPr>
          <a:xfrm rot="0">
            <a:off x="248922" y="2942863"/>
            <a:ext cx="12912214" cy="5888483"/>
            <a:chOff x="0" y="0"/>
            <a:chExt cx="4533085" cy="2067267"/>
          </a:xfrm>
        </p:grpSpPr>
        <p:sp>
          <p:nvSpPr>
            <p:cNvPr name="Freeform 12" id="12"/>
            <p:cNvSpPr/>
            <p:nvPr/>
          </p:nvSpPr>
          <p:spPr>
            <a:xfrm flipH="false" flipV="false" rot="0">
              <a:off x="0" y="0"/>
              <a:ext cx="4533085" cy="2067267"/>
            </a:xfrm>
            <a:custGeom>
              <a:avLst/>
              <a:gdLst/>
              <a:ahLst/>
              <a:cxnLst/>
              <a:rect r="r" b="b" t="t" l="l"/>
              <a:pathLst>
                <a:path h="2067267" w="4533085">
                  <a:moveTo>
                    <a:pt x="11992" y="0"/>
                  </a:moveTo>
                  <a:lnTo>
                    <a:pt x="4521093" y="0"/>
                  </a:lnTo>
                  <a:cubicBezTo>
                    <a:pt x="4527716" y="0"/>
                    <a:pt x="4533085" y="5369"/>
                    <a:pt x="4533085" y="11992"/>
                  </a:cubicBezTo>
                  <a:lnTo>
                    <a:pt x="4533085" y="2055275"/>
                  </a:lnTo>
                  <a:cubicBezTo>
                    <a:pt x="4533085" y="2061898"/>
                    <a:pt x="4527716" y="2067267"/>
                    <a:pt x="4521093" y="2067267"/>
                  </a:cubicBezTo>
                  <a:lnTo>
                    <a:pt x="11992" y="2067267"/>
                  </a:lnTo>
                  <a:cubicBezTo>
                    <a:pt x="8811" y="2067267"/>
                    <a:pt x="5761" y="2066004"/>
                    <a:pt x="3512" y="2063755"/>
                  </a:cubicBezTo>
                  <a:cubicBezTo>
                    <a:pt x="1263" y="2061506"/>
                    <a:pt x="0" y="2058456"/>
                    <a:pt x="0" y="2055275"/>
                  </a:cubicBezTo>
                  <a:lnTo>
                    <a:pt x="0" y="11992"/>
                  </a:lnTo>
                  <a:cubicBezTo>
                    <a:pt x="0" y="5369"/>
                    <a:pt x="5369" y="0"/>
                    <a:pt x="11992" y="0"/>
                  </a:cubicBezTo>
                  <a:close/>
                </a:path>
              </a:pathLst>
            </a:custGeom>
            <a:gradFill rotWithShape="true">
              <a:gsLst>
                <a:gs pos="0">
                  <a:srgbClr val="256AB3">
                    <a:alpha val="28000"/>
                  </a:srgbClr>
                </a:gs>
                <a:gs pos="100000">
                  <a:srgbClr val="CBDFFF">
                    <a:alpha val="28000"/>
                  </a:srgbClr>
                </a:gs>
              </a:gsLst>
              <a:path path="circle">
                <a:fillToRect l="0" r="100000" t="0" b="100000"/>
              </a:path>
              <a:tileRect r="0" l="-100000" b="0" t="-100000"/>
            </a:gradFill>
            <a:ln cap="sq">
              <a:noFill/>
              <a:prstDash val="solid"/>
              <a:miter/>
            </a:ln>
          </p:spPr>
        </p:sp>
        <p:sp>
          <p:nvSpPr>
            <p:cNvPr name="TextBox 13" id="13"/>
            <p:cNvSpPr txBox="true"/>
            <p:nvPr/>
          </p:nvSpPr>
          <p:spPr>
            <a:xfrm>
              <a:off x="0" y="-66675"/>
              <a:ext cx="4533085" cy="2133942"/>
            </a:xfrm>
            <a:prstGeom prst="rect">
              <a:avLst/>
            </a:prstGeom>
          </p:spPr>
          <p:txBody>
            <a:bodyPr anchor="ctr" rtlCol="false" tIns="47543" lIns="47543" bIns="47543" rIns="47543"/>
            <a:lstStyle/>
            <a:p>
              <a:pPr algn="ctr">
                <a:lnSpc>
                  <a:spcPts val="3418"/>
                </a:lnSpc>
              </a:pPr>
            </a:p>
          </p:txBody>
        </p:sp>
      </p:grpSp>
      <p:grpSp>
        <p:nvGrpSpPr>
          <p:cNvPr name="Group 14" id="14"/>
          <p:cNvGrpSpPr/>
          <p:nvPr/>
        </p:nvGrpSpPr>
        <p:grpSpPr>
          <a:xfrm rot="0">
            <a:off x="428204" y="2665248"/>
            <a:ext cx="13028583" cy="5983869"/>
            <a:chOff x="0" y="0"/>
            <a:chExt cx="17371444" cy="7978492"/>
          </a:xfrm>
        </p:grpSpPr>
        <p:grpSp>
          <p:nvGrpSpPr>
            <p:cNvPr name="Group 15" id="15"/>
            <p:cNvGrpSpPr/>
            <p:nvPr/>
          </p:nvGrpSpPr>
          <p:grpSpPr>
            <a:xfrm rot="0">
              <a:off x="0" y="0"/>
              <a:ext cx="17371444" cy="7978492"/>
              <a:chOff x="0" y="0"/>
              <a:chExt cx="4573938" cy="2100754"/>
            </a:xfrm>
          </p:grpSpPr>
          <p:sp>
            <p:nvSpPr>
              <p:cNvPr name="Freeform 16" id="16"/>
              <p:cNvSpPr/>
              <p:nvPr/>
            </p:nvSpPr>
            <p:spPr>
              <a:xfrm flipH="false" flipV="false" rot="0">
                <a:off x="0" y="0"/>
                <a:ext cx="4573938" cy="2100754"/>
              </a:xfrm>
              <a:custGeom>
                <a:avLst/>
                <a:gdLst/>
                <a:ahLst/>
                <a:cxnLst/>
                <a:rect r="r" b="b" t="t" l="l"/>
                <a:pathLst>
                  <a:path h="2100754" w="4573938">
                    <a:moveTo>
                      <a:pt x="11885" y="0"/>
                    </a:moveTo>
                    <a:lnTo>
                      <a:pt x="4562054" y="0"/>
                    </a:lnTo>
                    <a:cubicBezTo>
                      <a:pt x="4565206" y="0"/>
                      <a:pt x="4568229" y="1252"/>
                      <a:pt x="4570457" y="3481"/>
                    </a:cubicBezTo>
                    <a:cubicBezTo>
                      <a:pt x="4572686" y="5710"/>
                      <a:pt x="4573938" y="8733"/>
                      <a:pt x="4573938" y="11885"/>
                    </a:cubicBezTo>
                    <a:lnTo>
                      <a:pt x="4573938" y="2088870"/>
                    </a:lnTo>
                    <a:cubicBezTo>
                      <a:pt x="4573938" y="2092022"/>
                      <a:pt x="4572686" y="2095044"/>
                      <a:pt x="4570457" y="2097273"/>
                    </a:cubicBezTo>
                    <a:cubicBezTo>
                      <a:pt x="4568229" y="2099502"/>
                      <a:pt x="4565206" y="2100754"/>
                      <a:pt x="4562054" y="2100754"/>
                    </a:cubicBezTo>
                    <a:lnTo>
                      <a:pt x="11885" y="2100754"/>
                    </a:lnTo>
                    <a:cubicBezTo>
                      <a:pt x="8733" y="2100754"/>
                      <a:pt x="5710" y="2099502"/>
                      <a:pt x="3481" y="2097273"/>
                    </a:cubicBezTo>
                    <a:cubicBezTo>
                      <a:pt x="1252" y="2095044"/>
                      <a:pt x="0" y="2092022"/>
                      <a:pt x="0" y="2088870"/>
                    </a:cubicBezTo>
                    <a:lnTo>
                      <a:pt x="0" y="11885"/>
                    </a:lnTo>
                    <a:cubicBezTo>
                      <a:pt x="0" y="8733"/>
                      <a:pt x="1252" y="5710"/>
                      <a:pt x="3481" y="3481"/>
                    </a:cubicBezTo>
                    <a:cubicBezTo>
                      <a:pt x="5710" y="1252"/>
                      <a:pt x="8733" y="0"/>
                      <a:pt x="11885"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7" id="17"/>
              <p:cNvSpPr txBox="true"/>
              <p:nvPr/>
            </p:nvSpPr>
            <p:spPr>
              <a:xfrm>
                <a:off x="0" y="-66675"/>
                <a:ext cx="4573938" cy="2167429"/>
              </a:xfrm>
              <a:prstGeom prst="rect">
                <a:avLst/>
              </a:prstGeom>
            </p:spPr>
            <p:txBody>
              <a:bodyPr anchor="ctr" rtlCol="false" tIns="47543" lIns="47543" bIns="47543" rIns="47543"/>
              <a:lstStyle/>
              <a:p>
                <a:pPr algn="ctr">
                  <a:lnSpc>
                    <a:spcPts val="3418"/>
                  </a:lnSpc>
                </a:pPr>
              </a:p>
            </p:txBody>
          </p:sp>
        </p:grpSp>
        <p:sp>
          <p:nvSpPr>
            <p:cNvPr name="TextBox 18" id="18"/>
            <p:cNvSpPr txBox="true"/>
            <p:nvPr/>
          </p:nvSpPr>
          <p:spPr>
            <a:xfrm rot="0">
              <a:off x="323006" y="315291"/>
              <a:ext cx="16725432" cy="7245774"/>
            </a:xfrm>
            <a:prstGeom prst="rect">
              <a:avLst/>
            </a:prstGeom>
          </p:spPr>
          <p:txBody>
            <a:bodyPr anchor="t" rtlCol="false" tIns="0" lIns="0" bIns="0" rIns="0">
              <a:spAutoFit/>
            </a:bodyPr>
            <a:lstStyle/>
            <a:p>
              <a:pPr algn="l">
                <a:lnSpc>
                  <a:spcPts val="3919"/>
                </a:lnSpc>
              </a:pPr>
              <a:r>
                <a:rPr lang="en-US" sz="2799" b="true">
                  <a:solidFill>
                    <a:srgbClr val="FFFFFF"/>
                  </a:solidFill>
                  <a:latin typeface="Arial Bold"/>
                  <a:ea typeface="Arial Bold"/>
                  <a:cs typeface="Arial Bold"/>
                  <a:sym typeface="Arial Bold"/>
                </a:rPr>
                <a:t>Este proyecto se dedica a analizar, elaborar y explicar los datos obtenidos del caso 16 - Nutrición, en el curso analisis de datos e inferencia estadistica.</a:t>
              </a:r>
            </a:p>
            <a:p>
              <a:pPr algn="l">
                <a:lnSpc>
                  <a:spcPts val="3919"/>
                </a:lnSpc>
              </a:pPr>
            </a:p>
            <a:p>
              <a:pPr algn="l">
                <a:lnSpc>
                  <a:spcPts val="3919"/>
                </a:lnSpc>
              </a:pPr>
              <a:r>
                <a:rPr lang="en-US" sz="2799" b="true">
                  <a:solidFill>
                    <a:srgbClr val="FFFFFF"/>
                  </a:solidFill>
                  <a:latin typeface="Arial Bold"/>
                  <a:ea typeface="Arial Bold"/>
                  <a:cs typeface="Arial Bold"/>
                  <a:sym typeface="Arial Bold"/>
                </a:rPr>
                <a:t>La base de datos consiste en un conteo de alimentos saludables y no saludables, correspondientes a cada local en una proximidad dentro de 400 metros pertenecientes a 6 colegios seleccionados, pertenecientes a 3 comunas; La Granja, San Joaquin y Macul.</a:t>
              </a:r>
            </a:p>
            <a:p>
              <a:pPr algn="l">
                <a:lnSpc>
                  <a:spcPts val="3919"/>
                </a:lnSpc>
              </a:pPr>
            </a:p>
            <a:p>
              <a:pPr algn="l">
                <a:lnSpc>
                  <a:spcPts val="3919"/>
                </a:lnSpc>
                <a:spcBef>
                  <a:spcPct val="0"/>
                </a:spcBef>
              </a:pPr>
              <a:r>
                <a:rPr lang="en-US" b="true" sz="2799">
                  <a:solidFill>
                    <a:srgbClr val="FFFFFF"/>
                  </a:solidFill>
                  <a:latin typeface="Arial Bold"/>
                  <a:ea typeface="Arial Bold"/>
                  <a:cs typeface="Arial Bold"/>
                  <a:sym typeface="Arial Bold"/>
                </a:rPr>
                <a:t>Este conteo permite realizar las siguientes preguntas:</a:t>
              </a:r>
            </a:p>
            <a:p>
              <a:pPr algn="l">
                <a:lnSpc>
                  <a:spcPts val="391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9950921" y="13205125"/>
            <a:ext cx="800350" cy="417292"/>
          </a:xfrm>
          <a:custGeom>
            <a:avLst/>
            <a:gdLst/>
            <a:ahLst/>
            <a:cxnLst/>
            <a:rect r="r" b="b" t="t" l="l"/>
            <a:pathLst>
              <a:path h="417292" w="800350">
                <a:moveTo>
                  <a:pt x="0" y="0"/>
                </a:moveTo>
                <a:lnTo>
                  <a:pt x="800350" y="0"/>
                </a:lnTo>
                <a:lnTo>
                  <a:pt x="800350" y="417292"/>
                </a:lnTo>
                <a:lnTo>
                  <a:pt x="0" y="4172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53085" y="2264370"/>
            <a:ext cx="16240402" cy="6635006"/>
            <a:chOff x="0" y="0"/>
            <a:chExt cx="21653870" cy="8846675"/>
          </a:xfrm>
        </p:grpSpPr>
        <p:grpSp>
          <p:nvGrpSpPr>
            <p:cNvPr name="Group 5" id="5"/>
            <p:cNvGrpSpPr/>
            <p:nvPr/>
          </p:nvGrpSpPr>
          <p:grpSpPr>
            <a:xfrm rot="0">
              <a:off x="0" y="586148"/>
              <a:ext cx="1490763" cy="7674378"/>
              <a:chOff x="0" y="0"/>
              <a:chExt cx="263030" cy="1354068"/>
            </a:xfrm>
          </p:grpSpPr>
          <p:sp>
            <p:nvSpPr>
              <p:cNvPr name="Freeform 6" id="6"/>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7" id="7"/>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8" id="8"/>
            <p:cNvGrpSpPr/>
            <p:nvPr/>
          </p:nvGrpSpPr>
          <p:grpSpPr>
            <a:xfrm rot="-10800000">
              <a:off x="20163107" y="586148"/>
              <a:ext cx="1490763" cy="7674378"/>
              <a:chOff x="0" y="0"/>
              <a:chExt cx="263030" cy="1354068"/>
            </a:xfrm>
          </p:grpSpPr>
          <p:sp>
            <p:nvSpPr>
              <p:cNvPr name="Freeform 9" id="9"/>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10" id="10"/>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11" id="11"/>
            <p:cNvGrpSpPr/>
            <p:nvPr/>
          </p:nvGrpSpPr>
          <p:grpSpPr>
            <a:xfrm rot="0">
              <a:off x="492333" y="0"/>
              <a:ext cx="20672081" cy="8846675"/>
              <a:chOff x="0" y="0"/>
              <a:chExt cx="3647384" cy="1560908"/>
            </a:xfrm>
          </p:grpSpPr>
          <p:sp>
            <p:nvSpPr>
              <p:cNvPr name="Freeform 12" id="12"/>
              <p:cNvSpPr/>
              <p:nvPr/>
            </p:nvSpPr>
            <p:spPr>
              <a:xfrm flipH="false" flipV="false" rot="0">
                <a:off x="0" y="0"/>
                <a:ext cx="3647384" cy="1560908"/>
              </a:xfrm>
              <a:custGeom>
                <a:avLst/>
                <a:gdLst/>
                <a:ahLst/>
                <a:cxnLst/>
                <a:rect r="r" b="b" t="t" l="l"/>
                <a:pathLst>
                  <a:path h="1560908" w="3647384">
                    <a:moveTo>
                      <a:pt x="16771" y="0"/>
                    </a:moveTo>
                    <a:lnTo>
                      <a:pt x="3630613" y="0"/>
                    </a:lnTo>
                    <a:cubicBezTo>
                      <a:pt x="3639875" y="0"/>
                      <a:pt x="3647384" y="7509"/>
                      <a:pt x="3647384" y="16771"/>
                    </a:cubicBezTo>
                    <a:lnTo>
                      <a:pt x="3647384" y="1544137"/>
                    </a:lnTo>
                    <a:cubicBezTo>
                      <a:pt x="3647384" y="1553399"/>
                      <a:pt x="3639875" y="1560908"/>
                      <a:pt x="3630613" y="1560908"/>
                    </a:cubicBezTo>
                    <a:lnTo>
                      <a:pt x="16771" y="1560908"/>
                    </a:lnTo>
                    <a:cubicBezTo>
                      <a:pt x="7509" y="1560908"/>
                      <a:pt x="0" y="1553399"/>
                      <a:pt x="0" y="1544137"/>
                    </a:cubicBezTo>
                    <a:lnTo>
                      <a:pt x="0" y="16771"/>
                    </a:lnTo>
                    <a:cubicBezTo>
                      <a:pt x="0" y="7509"/>
                      <a:pt x="7509" y="0"/>
                      <a:pt x="16771" y="0"/>
                    </a:cubicBezTo>
                    <a:close/>
                  </a:path>
                </a:pathLst>
              </a:custGeom>
              <a:solidFill>
                <a:srgbClr val="FFFFFF"/>
              </a:solidFill>
              <a:ln cap="rnd">
                <a:noFill/>
                <a:prstDash val="solid"/>
                <a:round/>
              </a:ln>
            </p:spPr>
          </p:sp>
          <p:sp>
            <p:nvSpPr>
              <p:cNvPr name="TextBox 13" id="13"/>
              <p:cNvSpPr txBox="true"/>
              <p:nvPr/>
            </p:nvSpPr>
            <p:spPr>
              <a:xfrm>
                <a:off x="0" y="-38100"/>
                <a:ext cx="3647384" cy="1599008"/>
              </a:xfrm>
              <a:prstGeom prst="rect">
                <a:avLst/>
              </a:prstGeom>
            </p:spPr>
            <p:txBody>
              <a:bodyPr anchor="ctr" rtlCol="false" tIns="50800" lIns="50800" bIns="50800" rIns="50800"/>
              <a:lstStyle/>
              <a:p>
                <a:pPr algn="ctr">
                  <a:lnSpc>
                    <a:spcPts val="2940"/>
                  </a:lnSpc>
                </a:pPr>
              </a:p>
            </p:txBody>
          </p:sp>
        </p:grpSp>
      </p:grpSp>
      <p:grpSp>
        <p:nvGrpSpPr>
          <p:cNvPr name="Group 14" id="14"/>
          <p:cNvGrpSpPr/>
          <p:nvPr/>
        </p:nvGrpSpPr>
        <p:grpSpPr>
          <a:xfrm rot="0">
            <a:off x="3200609" y="1028700"/>
            <a:ext cx="12345354" cy="1765751"/>
            <a:chOff x="0" y="0"/>
            <a:chExt cx="3871319" cy="553713"/>
          </a:xfrm>
        </p:grpSpPr>
        <p:sp>
          <p:nvSpPr>
            <p:cNvPr name="Freeform 15" id="15"/>
            <p:cNvSpPr/>
            <p:nvPr/>
          </p:nvSpPr>
          <p:spPr>
            <a:xfrm flipH="false" flipV="false" rot="0">
              <a:off x="0" y="0"/>
              <a:ext cx="3871319" cy="553713"/>
            </a:xfrm>
            <a:custGeom>
              <a:avLst/>
              <a:gdLst/>
              <a:ahLst/>
              <a:cxnLst/>
              <a:rect r="r" b="b" t="t" l="l"/>
              <a:pathLst>
                <a:path h="553713" w="3871319">
                  <a:moveTo>
                    <a:pt x="12542" y="0"/>
                  </a:moveTo>
                  <a:lnTo>
                    <a:pt x="3858777" y="0"/>
                  </a:lnTo>
                  <a:cubicBezTo>
                    <a:pt x="3865704" y="0"/>
                    <a:pt x="3871319" y="5615"/>
                    <a:pt x="3871319" y="12542"/>
                  </a:cubicBezTo>
                  <a:lnTo>
                    <a:pt x="3871319" y="541171"/>
                  </a:lnTo>
                  <a:cubicBezTo>
                    <a:pt x="3871319" y="548098"/>
                    <a:pt x="3865704" y="553713"/>
                    <a:pt x="3858777" y="553713"/>
                  </a:cubicBezTo>
                  <a:lnTo>
                    <a:pt x="12542" y="553713"/>
                  </a:lnTo>
                  <a:cubicBezTo>
                    <a:pt x="5615" y="553713"/>
                    <a:pt x="0" y="548098"/>
                    <a:pt x="0" y="541171"/>
                  </a:cubicBezTo>
                  <a:lnTo>
                    <a:pt x="0" y="12542"/>
                  </a:lnTo>
                  <a:cubicBezTo>
                    <a:pt x="0" y="5615"/>
                    <a:pt x="5615" y="0"/>
                    <a:pt x="1254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6" id="16"/>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TextBox 17" id="17"/>
          <p:cNvSpPr txBox="true"/>
          <p:nvPr/>
        </p:nvSpPr>
        <p:spPr>
          <a:xfrm rot="0">
            <a:off x="2669886" y="2935585"/>
            <a:ext cx="13456473" cy="5624195"/>
          </a:xfrm>
          <a:prstGeom prst="rect">
            <a:avLst/>
          </a:prstGeom>
        </p:spPr>
        <p:txBody>
          <a:bodyPr anchor="t" rtlCol="false" tIns="0" lIns="0" bIns="0" rIns="0">
            <a:spAutoFit/>
          </a:bodyPr>
          <a:lstStyle/>
          <a:p>
            <a:pPr algn="just">
              <a:lnSpc>
                <a:spcPts val="4480"/>
              </a:lnSpc>
            </a:pPr>
            <a:r>
              <a:rPr lang="en-US" sz="3200">
                <a:solidFill>
                  <a:srgbClr val="0B1B45"/>
                </a:solidFill>
                <a:latin typeface="Arial"/>
                <a:ea typeface="Arial"/>
                <a:cs typeface="Arial"/>
                <a:sym typeface="Arial"/>
              </a:rPr>
              <a:t>Este proyecto busca analizar la nutrición disponible a los estudiantes de estos colegios y comunas para verificar que todos tienen acceso a alimentos saludables, sin diferenciaciones por clase social o aforo estudiantil.</a:t>
            </a:r>
          </a:p>
          <a:p>
            <a:pPr algn="just">
              <a:lnSpc>
                <a:spcPts val="4480"/>
              </a:lnSpc>
            </a:pPr>
          </a:p>
          <a:p>
            <a:pPr algn="just" marL="0" indent="0" lvl="0">
              <a:lnSpc>
                <a:spcPts val="4480"/>
              </a:lnSpc>
              <a:spcBef>
                <a:spcPct val="0"/>
              </a:spcBef>
            </a:pPr>
            <a:r>
              <a:rPr lang="en-US" b="true" sz="3200" i="true">
                <a:solidFill>
                  <a:srgbClr val="0B1B45"/>
                </a:solidFill>
                <a:latin typeface="Arial Bold Italics"/>
                <a:ea typeface="Arial Bold Italics"/>
                <a:cs typeface="Arial Bold Italics"/>
                <a:sym typeface="Arial Bold Italics"/>
              </a:rPr>
              <a:t>¿Existen diferencias en la disponibilidad de alimentos saludables en los entornos alimentacios analizados, y en qué medida estas diferencias se relacionan con variables socioeconómicas y escolares, como el porcentaje de pobreza por ingresos y la matrícula estudiantil?</a:t>
            </a:r>
          </a:p>
        </p:txBody>
      </p:sp>
      <p:sp>
        <p:nvSpPr>
          <p:cNvPr name="AutoShape 18" id="18"/>
          <p:cNvSpPr/>
          <p:nvPr/>
        </p:nvSpPr>
        <p:spPr>
          <a:xfrm flipV="true">
            <a:off x="1028700" y="9258300"/>
            <a:ext cx="16464787" cy="9525"/>
          </a:xfrm>
          <a:prstGeom prst="line">
            <a:avLst/>
          </a:prstGeom>
          <a:ln cap="flat" w="19050">
            <a:solidFill>
              <a:srgbClr val="FFFFFF"/>
            </a:solidFill>
            <a:prstDash val="solid"/>
            <a:headEnd type="none" len="sm" w="sm"/>
            <a:tailEnd type="none" len="sm" w="sm"/>
          </a:ln>
        </p:spPr>
      </p:sp>
      <p:sp>
        <p:nvSpPr>
          <p:cNvPr name="TextBox 19" id="19"/>
          <p:cNvSpPr txBox="true"/>
          <p:nvPr/>
        </p:nvSpPr>
        <p:spPr>
          <a:xfrm rot="0">
            <a:off x="3751193" y="1444481"/>
            <a:ext cx="11244186" cy="824577"/>
          </a:xfrm>
          <a:prstGeom prst="rect">
            <a:avLst/>
          </a:prstGeom>
        </p:spPr>
        <p:txBody>
          <a:bodyPr anchor="t" rtlCol="false" tIns="0" lIns="0" bIns="0" rIns="0">
            <a:spAutoFit/>
          </a:bodyPr>
          <a:lstStyle/>
          <a:p>
            <a:pPr algn="ctr">
              <a:lnSpc>
                <a:spcPts val="6525"/>
              </a:lnSpc>
            </a:pPr>
            <a:r>
              <a:rPr lang="en-US" sz="4661" b="true">
                <a:solidFill>
                  <a:srgbClr val="FFFFFF"/>
                </a:solidFill>
                <a:latin typeface="Arial Bold"/>
                <a:ea typeface="Arial Bold"/>
                <a:cs typeface="Arial Bold"/>
                <a:sym typeface="Arial Bold"/>
              </a:rPr>
              <a:t>Pregunta de investigación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412510" y="270524"/>
            <a:ext cx="12345354" cy="1765751"/>
            <a:chOff x="0" y="0"/>
            <a:chExt cx="3871319" cy="553713"/>
          </a:xfrm>
        </p:grpSpPr>
        <p:sp>
          <p:nvSpPr>
            <p:cNvPr name="Freeform 4" id="4"/>
            <p:cNvSpPr/>
            <p:nvPr/>
          </p:nvSpPr>
          <p:spPr>
            <a:xfrm flipH="false" flipV="false" rot="0">
              <a:off x="0" y="0"/>
              <a:ext cx="3871319" cy="553713"/>
            </a:xfrm>
            <a:custGeom>
              <a:avLst/>
              <a:gdLst/>
              <a:ahLst/>
              <a:cxnLst/>
              <a:rect r="r" b="b" t="t" l="l"/>
              <a:pathLst>
                <a:path h="553713" w="3871319">
                  <a:moveTo>
                    <a:pt x="12542" y="0"/>
                  </a:moveTo>
                  <a:lnTo>
                    <a:pt x="3858777" y="0"/>
                  </a:lnTo>
                  <a:cubicBezTo>
                    <a:pt x="3865704" y="0"/>
                    <a:pt x="3871319" y="5615"/>
                    <a:pt x="3871319" y="12542"/>
                  </a:cubicBezTo>
                  <a:lnTo>
                    <a:pt x="3871319" y="541171"/>
                  </a:lnTo>
                  <a:cubicBezTo>
                    <a:pt x="3871319" y="548098"/>
                    <a:pt x="3865704" y="553713"/>
                    <a:pt x="3858777" y="553713"/>
                  </a:cubicBezTo>
                  <a:lnTo>
                    <a:pt x="12542" y="553713"/>
                  </a:lnTo>
                  <a:cubicBezTo>
                    <a:pt x="5615" y="553713"/>
                    <a:pt x="0" y="548098"/>
                    <a:pt x="0" y="541171"/>
                  </a:cubicBezTo>
                  <a:lnTo>
                    <a:pt x="0" y="12542"/>
                  </a:lnTo>
                  <a:cubicBezTo>
                    <a:pt x="0" y="5615"/>
                    <a:pt x="5615" y="0"/>
                    <a:pt x="1254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5" id="5"/>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AutoShape 6" id="6"/>
          <p:cNvSpPr/>
          <p:nvPr/>
        </p:nvSpPr>
        <p:spPr>
          <a:xfrm flipV="true">
            <a:off x="1028694" y="10018820"/>
            <a:ext cx="16464787" cy="9525"/>
          </a:xfrm>
          <a:prstGeom prst="line">
            <a:avLst/>
          </a:prstGeom>
          <a:ln cap="flat" w="19050">
            <a:solidFill>
              <a:srgbClr val="FFFFFF"/>
            </a:solidFill>
            <a:prstDash val="solid"/>
            <a:headEnd type="none" len="sm" w="sm"/>
            <a:tailEnd type="none" len="sm" w="sm"/>
          </a:ln>
        </p:spPr>
      </p:sp>
      <p:grpSp>
        <p:nvGrpSpPr>
          <p:cNvPr name="Group 7" id="7"/>
          <p:cNvGrpSpPr/>
          <p:nvPr/>
        </p:nvGrpSpPr>
        <p:grpSpPr>
          <a:xfrm rot="0">
            <a:off x="2098989" y="2432950"/>
            <a:ext cx="3966944" cy="2058171"/>
            <a:chOff x="0" y="0"/>
            <a:chExt cx="1044792" cy="542070"/>
          </a:xfrm>
        </p:grpSpPr>
        <p:sp>
          <p:nvSpPr>
            <p:cNvPr name="Freeform 8" id="8"/>
            <p:cNvSpPr/>
            <p:nvPr/>
          </p:nvSpPr>
          <p:spPr>
            <a:xfrm flipH="false" flipV="false" rot="0">
              <a:off x="0" y="0"/>
              <a:ext cx="1044792" cy="542070"/>
            </a:xfrm>
            <a:custGeom>
              <a:avLst/>
              <a:gdLst/>
              <a:ahLst/>
              <a:cxnLst/>
              <a:rect r="r" b="b" t="t" l="l"/>
              <a:pathLst>
                <a:path h="542070" w="1044792">
                  <a:moveTo>
                    <a:pt x="99532" y="0"/>
                  </a:moveTo>
                  <a:lnTo>
                    <a:pt x="945260" y="0"/>
                  </a:lnTo>
                  <a:cubicBezTo>
                    <a:pt x="1000230" y="0"/>
                    <a:pt x="1044792" y="44562"/>
                    <a:pt x="1044792" y="99532"/>
                  </a:cubicBezTo>
                  <a:lnTo>
                    <a:pt x="1044792" y="442538"/>
                  </a:lnTo>
                  <a:cubicBezTo>
                    <a:pt x="1044792" y="468935"/>
                    <a:pt x="1034305" y="494252"/>
                    <a:pt x="1015640" y="512918"/>
                  </a:cubicBezTo>
                  <a:cubicBezTo>
                    <a:pt x="996974" y="531583"/>
                    <a:pt x="971657" y="542070"/>
                    <a:pt x="945260" y="542070"/>
                  </a:cubicBezTo>
                  <a:lnTo>
                    <a:pt x="99532" y="542070"/>
                  </a:lnTo>
                  <a:cubicBezTo>
                    <a:pt x="73134" y="542070"/>
                    <a:pt x="47818" y="531583"/>
                    <a:pt x="29152" y="512918"/>
                  </a:cubicBezTo>
                  <a:cubicBezTo>
                    <a:pt x="10486" y="494252"/>
                    <a:pt x="0" y="468935"/>
                    <a:pt x="0" y="442538"/>
                  </a:cubicBezTo>
                  <a:lnTo>
                    <a:pt x="0" y="99532"/>
                  </a:lnTo>
                  <a:cubicBezTo>
                    <a:pt x="0" y="73134"/>
                    <a:pt x="10486" y="47818"/>
                    <a:pt x="29152" y="29152"/>
                  </a:cubicBezTo>
                  <a:cubicBezTo>
                    <a:pt x="47818" y="10486"/>
                    <a:pt x="73134" y="0"/>
                    <a:pt x="99532" y="0"/>
                  </a:cubicBezTo>
                  <a:close/>
                </a:path>
              </a:pathLst>
            </a:custGeom>
            <a:solidFill>
              <a:srgbClr val="B4CFE0"/>
            </a:solidFill>
          </p:spPr>
        </p:sp>
        <p:sp>
          <p:nvSpPr>
            <p:cNvPr name="TextBox 9" id="9"/>
            <p:cNvSpPr txBox="true"/>
            <p:nvPr/>
          </p:nvSpPr>
          <p:spPr>
            <a:xfrm>
              <a:off x="0" y="-57150"/>
              <a:ext cx="1044792"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¿Se pueden identificar locales sin verificación presencial?</a:t>
              </a:r>
            </a:p>
          </p:txBody>
        </p:sp>
      </p:grpSp>
      <p:grpSp>
        <p:nvGrpSpPr>
          <p:cNvPr name="Group 10" id="10"/>
          <p:cNvGrpSpPr/>
          <p:nvPr/>
        </p:nvGrpSpPr>
        <p:grpSpPr>
          <a:xfrm rot="0">
            <a:off x="193471" y="2431275"/>
            <a:ext cx="1670458" cy="2058171"/>
            <a:chOff x="0" y="0"/>
            <a:chExt cx="439956" cy="542070"/>
          </a:xfrm>
        </p:grpSpPr>
        <p:sp>
          <p:nvSpPr>
            <p:cNvPr name="Freeform 11" id="11"/>
            <p:cNvSpPr/>
            <p:nvPr/>
          </p:nvSpPr>
          <p:spPr>
            <a:xfrm flipH="false" flipV="false" rot="0">
              <a:off x="0" y="0"/>
              <a:ext cx="439956" cy="542070"/>
            </a:xfrm>
            <a:custGeom>
              <a:avLst/>
              <a:gdLst/>
              <a:ahLst/>
              <a:cxnLst/>
              <a:rect r="r" b="b" t="t" l="l"/>
              <a:pathLst>
                <a:path h="542070" w="439956">
                  <a:moveTo>
                    <a:pt x="219978" y="0"/>
                  </a:moveTo>
                  <a:lnTo>
                    <a:pt x="219978" y="0"/>
                  </a:lnTo>
                  <a:cubicBezTo>
                    <a:pt x="341468" y="0"/>
                    <a:pt x="439956" y="98488"/>
                    <a:pt x="439956" y="219978"/>
                  </a:cubicBezTo>
                  <a:lnTo>
                    <a:pt x="439956" y="322092"/>
                  </a:lnTo>
                  <a:cubicBezTo>
                    <a:pt x="439956" y="380434"/>
                    <a:pt x="416780" y="436386"/>
                    <a:pt x="375526" y="477640"/>
                  </a:cubicBezTo>
                  <a:cubicBezTo>
                    <a:pt x="334272" y="518894"/>
                    <a:pt x="278320" y="542070"/>
                    <a:pt x="219978" y="542070"/>
                  </a:cubicBezTo>
                  <a:lnTo>
                    <a:pt x="219978" y="542070"/>
                  </a:lnTo>
                  <a:cubicBezTo>
                    <a:pt x="161636" y="542070"/>
                    <a:pt x="105684" y="518894"/>
                    <a:pt x="64430" y="477640"/>
                  </a:cubicBezTo>
                  <a:cubicBezTo>
                    <a:pt x="23176" y="436386"/>
                    <a:pt x="0" y="380434"/>
                    <a:pt x="0" y="322092"/>
                  </a:cubicBezTo>
                  <a:lnTo>
                    <a:pt x="0" y="219978"/>
                  </a:lnTo>
                  <a:cubicBezTo>
                    <a:pt x="0" y="161636"/>
                    <a:pt x="23176" y="105684"/>
                    <a:pt x="64430" y="64430"/>
                  </a:cubicBezTo>
                  <a:cubicBezTo>
                    <a:pt x="105684" y="23176"/>
                    <a:pt x="161636" y="0"/>
                    <a:pt x="219978" y="0"/>
                  </a:cubicBezTo>
                  <a:close/>
                </a:path>
              </a:pathLst>
            </a:custGeom>
            <a:solidFill>
              <a:srgbClr val="3165AA"/>
            </a:solidFill>
          </p:spPr>
        </p:sp>
        <p:sp>
          <p:nvSpPr>
            <p:cNvPr name="TextBox 12" id="12"/>
            <p:cNvSpPr txBox="true"/>
            <p:nvPr/>
          </p:nvSpPr>
          <p:spPr>
            <a:xfrm>
              <a:off x="0" y="-57150"/>
              <a:ext cx="439956"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Semana</a:t>
              </a:r>
            </a:p>
            <a:p>
              <a:pPr algn="ctr">
                <a:lnSpc>
                  <a:spcPts val="3499"/>
                </a:lnSpc>
              </a:pPr>
              <a:r>
                <a:rPr lang="en-US" sz="2499">
                  <a:solidFill>
                    <a:srgbClr val="FFFFFF"/>
                  </a:solidFill>
                  <a:latin typeface="Arial"/>
                  <a:ea typeface="Arial"/>
                  <a:cs typeface="Arial"/>
                  <a:sym typeface="Arial"/>
                </a:rPr>
                <a:t>7</a:t>
              </a:r>
            </a:p>
            <a:p>
              <a:pPr algn="ctr">
                <a:lnSpc>
                  <a:spcPts val="3499"/>
                </a:lnSpc>
              </a:pPr>
              <a:r>
                <a:rPr lang="en-US" sz="2499">
                  <a:solidFill>
                    <a:srgbClr val="FFFFFF"/>
                  </a:solidFill>
                  <a:latin typeface="Arial"/>
                  <a:ea typeface="Arial"/>
                  <a:cs typeface="Arial"/>
                  <a:sym typeface="Arial"/>
                </a:rPr>
                <a:t>Plantea-miento</a:t>
              </a:r>
            </a:p>
          </p:txBody>
        </p:sp>
      </p:grpSp>
      <p:grpSp>
        <p:nvGrpSpPr>
          <p:cNvPr name="Group 13" id="13"/>
          <p:cNvGrpSpPr/>
          <p:nvPr/>
        </p:nvGrpSpPr>
        <p:grpSpPr>
          <a:xfrm rot="0">
            <a:off x="7160528" y="2431275"/>
            <a:ext cx="3966944" cy="2058171"/>
            <a:chOff x="0" y="0"/>
            <a:chExt cx="1044792" cy="542070"/>
          </a:xfrm>
        </p:grpSpPr>
        <p:sp>
          <p:nvSpPr>
            <p:cNvPr name="Freeform 14" id="14"/>
            <p:cNvSpPr/>
            <p:nvPr/>
          </p:nvSpPr>
          <p:spPr>
            <a:xfrm flipH="false" flipV="false" rot="0">
              <a:off x="0" y="0"/>
              <a:ext cx="1044792" cy="542070"/>
            </a:xfrm>
            <a:custGeom>
              <a:avLst/>
              <a:gdLst/>
              <a:ahLst/>
              <a:cxnLst/>
              <a:rect r="r" b="b" t="t" l="l"/>
              <a:pathLst>
                <a:path h="542070" w="1044792">
                  <a:moveTo>
                    <a:pt x="99532" y="0"/>
                  </a:moveTo>
                  <a:lnTo>
                    <a:pt x="945260" y="0"/>
                  </a:lnTo>
                  <a:cubicBezTo>
                    <a:pt x="1000230" y="0"/>
                    <a:pt x="1044792" y="44562"/>
                    <a:pt x="1044792" y="99532"/>
                  </a:cubicBezTo>
                  <a:lnTo>
                    <a:pt x="1044792" y="442538"/>
                  </a:lnTo>
                  <a:cubicBezTo>
                    <a:pt x="1044792" y="468935"/>
                    <a:pt x="1034305" y="494252"/>
                    <a:pt x="1015640" y="512918"/>
                  </a:cubicBezTo>
                  <a:cubicBezTo>
                    <a:pt x="996974" y="531583"/>
                    <a:pt x="971657" y="542070"/>
                    <a:pt x="945260" y="542070"/>
                  </a:cubicBezTo>
                  <a:lnTo>
                    <a:pt x="99532" y="542070"/>
                  </a:lnTo>
                  <a:cubicBezTo>
                    <a:pt x="73134" y="542070"/>
                    <a:pt x="47818" y="531583"/>
                    <a:pt x="29152" y="512918"/>
                  </a:cubicBezTo>
                  <a:cubicBezTo>
                    <a:pt x="10486" y="494252"/>
                    <a:pt x="0" y="468935"/>
                    <a:pt x="0" y="442538"/>
                  </a:cubicBezTo>
                  <a:lnTo>
                    <a:pt x="0" y="99532"/>
                  </a:lnTo>
                  <a:cubicBezTo>
                    <a:pt x="0" y="73134"/>
                    <a:pt x="10486" y="47818"/>
                    <a:pt x="29152" y="29152"/>
                  </a:cubicBezTo>
                  <a:cubicBezTo>
                    <a:pt x="47818" y="10486"/>
                    <a:pt x="73134" y="0"/>
                    <a:pt x="99532" y="0"/>
                  </a:cubicBezTo>
                  <a:close/>
                </a:path>
              </a:pathLst>
            </a:custGeom>
            <a:solidFill>
              <a:srgbClr val="B4CFE0"/>
            </a:solidFill>
          </p:spPr>
        </p:sp>
        <p:sp>
          <p:nvSpPr>
            <p:cNvPr name="TextBox 15" id="15"/>
            <p:cNvSpPr txBox="true"/>
            <p:nvPr/>
          </p:nvSpPr>
          <p:spPr>
            <a:xfrm>
              <a:off x="0" y="-57150"/>
              <a:ext cx="1044792" cy="599220"/>
            </a:xfrm>
            <a:prstGeom prst="rect">
              <a:avLst/>
            </a:prstGeom>
          </p:spPr>
          <p:txBody>
            <a:bodyPr anchor="ctr" rtlCol="false" tIns="50800" lIns="50800" bIns="50800" rIns="50800"/>
            <a:lstStyle/>
            <a:p>
              <a:pPr algn="ctr">
                <a:lnSpc>
                  <a:spcPts val="3499"/>
                </a:lnSpc>
              </a:pPr>
              <a:r>
                <a:rPr lang="en-US" sz="2499" u="sng">
                  <a:solidFill>
                    <a:srgbClr val="FFFFFF"/>
                  </a:solidFill>
                  <a:latin typeface="Arial"/>
                  <a:ea typeface="Arial"/>
                  <a:cs typeface="Arial"/>
                  <a:sym typeface="Arial"/>
                </a:rPr>
                <a:t>Datos a usar:</a:t>
              </a:r>
            </a:p>
            <a:p>
              <a:pPr algn="ctr">
                <a:lnSpc>
                  <a:spcPts val="3499"/>
                </a:lnSpc>
              </a:pPr>
              <a:r>
                <a:rPr lang="en-US" sz="2499">
                  <a:solidFill>
                    <a:srgbClr val="FFFFFF"/>
                  </a:solidFill>
                  <a:latin typeface="Arial"/>
                  <a:ea typeface="Arial"/>
                  <a:cs typeface="Arial"/>
                  <a:sym typeface="Arial"/>
                </a:rPr>
                <a:t>Entornos alimentarios 2024-2025 (≈250 registros)</a:t>
              </a:r>
            </a:p>
          </p:txBody>
        </p:sp>
      </p:grpSp>
      <p:grpSp>
        <p:nvGrpSpPr>
          <p:cNvPr name="Group 16" id="16"/>
          <p:cNvGrpSpPr/>
          <p:nvPr/>
        </p:nvGrpSpPr>
        <p:grpSpPr>
          <a:xfrm rot="0">
            <a:off x="12222847" y="2431275"/>
            <a:ext cx="3966944" cy="2058171"/>
            <a:chOff x="0" y="0"/>
            <a:chExt cx="1044792" cy="542070"/>
          </a:xfrm>
        </p:grpSpPr>
        <p:sp>
          <p:nvSpPr>
            <p:cNvPr name="Freeform 17" id="17"/>
            <p:cNvSpPr/>
            <p:nvPr/>
          </p:nvSpPr>
          <p:spPr>
            <a:xfrm flipH="false" flipV="false" rot="0">
              <a:off x="0" y="0"/>
              <a:ext cx="1044792" cy="542070"/>
            </a:xfrm>
            <a:custGeom>
              <a:avLst/>
              <a:gdLst/>
              <a:ahLst/>
              <a:cxnLst/>
              <a:rect r="r" b="b" t="t" l="l"/>
              <a:pathLst>
                <a:path h="542070" w="1044792">
                  <a:moveTo>
                    <a:pt x="99532" y="0"/>
                  </a:moveTo>
                  <a:lnTo>
                    <a:pt x="945260" y="0"/>
                  </a:lnTo>
                  <a:cubicBezTo>
                    <a:pt x="1000230" y="0"/>
                    <a:pt x="1044792" y="44562"/>
                    <a:pt x="1044792" y="99532"/>
                  </a:cubicBezTo>
                  <a:lnTo>
                    <a:pt x="1044792" y="442538"/>
                  </a:lnTo>
                  <a:cubicBezTo>
                    <a:pt x="1044792" y="468935"/>
                    <a:pt x="1034305" y="494252"/>
                    <a:pt x="1015640" y="512918"/>
                  </a:cubicBezTo>
                  <a:cubicBezTo>
                    <a:pt x="996974" y="531583"/>
                    <a:pt x="971657" y="542070"/>
                    <a:pt x="945260" y="542070"/>
                  </a:cubicBezTo>
                  <a:lnTo>
                    <a:pt x="99532" y="542070"/>
                  </a:lnTo>
                  <a:cubicBezTo>
                    <a:pt x="73134" y="542070"/>
                    <a:pt x="47818" y="531583"/>
                    <a:pt x="29152" y="512918"/>
                  </a:cubicBezTo>
                  <a:cubicBezTo>
                    <a:pt x="10486" y="494252"/>
                    <a:pt x="0" y="468935"/>
                    <a:pt x="0" y="442538"/>
                  </a:cubicBezTo>
                  <a:lnTo>
                    <a:pt x="0" y="99532"/>
                  </a:lnTo>
                  <a:cubicBezTo>
                    <a:pt x="0" y="73134"/>
                    <a:pt x="10486" y="47818"/>
                    <a:pt x="29152" y="29152"/>
                  </a:cubicBezTo>
                  <a:cubicBezTo>
                    <a:pt x="47818" y="10486"/>
                    <a:pt x="73134" y="0"/>
                    <a:pt x="99532" y="0"/>
                  </a:cubicBezTo>
                  <a:close/>
                </a:path>
              </a:pathLst>
            </a:custGeom>
            <a:solidFill>
              <a:srgbClr val="B4CFE0"/>
            </a:solidFill>
          </p:spPr>
        </p:sp>
        <p:sp>
          <p:nvSpPr>
            <p:cNvPr name="TextBox 18" id="18"/>
            <p:cNvSpPr txBox="true"/>
            <p:nvPr/>
          </p:nvSpPr>
          <p:spPr>
            <a:xfrm>
              <a:off x="0" y="-57150"/>
              <a:ext cx="1044792" cy="599220"/>
            </a:xfrm>
            <a:prstGeom prst="rect">
              <a:avLst/>
            </a:prstGeom>
          </p:spPr>
          <p:txBody>
            <a:bodyPr anchor="ctr" rtlCol="false" tIns="50800" lIns="50800" bIns="50800" rIns="50800"/>
            <a:lstStyle/>
            <a:p>
              <a:pPr algn="ctr">
                <a:lnSpc>
                  <a:spcPts val="3499"/>
                </a:lnSpc>
              </a:pPr>
              <a:r>
                <a:rPr lang="en-US" sz="2499" u="sng">
                  <a:solidFill>
                    <a:srgbClr val="FFFFFF"/>
                  </a:solidFill>
                  <a:latin typeface="Arial"/>
                  <a:ea typeface="Arial"/>
                  <a:cs typeface="Arial"/>
                  <a:sym typeface="Arial"/>
                </a:rPr>
                <a:t>Requerimiento:</a:t>
              </a:r>
            </a:p>
            <a:p>
              <a:pPr algn="ctr">
                <a:lnSpc>
                  <a:spcPts val="3499"/>
                </a:lnSpc>
              </a:pPr>
              <a:r>
                <a:rPr lang="en-US" sz="2499">
                  <a:solidFill>
                    <a:srgbClr val="FFFFFF"/>
                  </a:solidFill>
                  <a:latin typeface="Arial"/>
                  <a:ea typeface="Arial"/>
                  <a:cs typeface="Arial"/>
                  <a:sym typeface="Arial"/>
                </a:rPr>
                <a:t>Limpieza y preparacion para exploracion.</a:t>
              </a:r>
            </a:p>
          </p:txBody>
        </p:sp>
      </p:grpSp>
      <p:grpSp>
        <p:nvGrpSpPr>
          <p:cNvPr name="Group 19" id="19"/>
          <p:cNvGrpSpPr/>
          <p:nvPr/>
        </p:nvGrpSpPr>
        <p:grpSpPr>
          <a:xfrm rot="0">
            <a:off x="2098989" y="5012831"/>
            <a:ext cx="3966944" cy="2058171"/>
            <a:chOff x="0" y="0"/>
            <a:chExt cx="1044792" cy="542070"/>
          </a:xfrm>
        </p:grpSpPr>
        <p:sp>
          <p:nvSpPr>
            <p:cNvPr name="Freeform 20" id="20"/>
            <p:cNvSpPr/>
            <p:nvPr/>
          </p:nvSpPr>
          <p:spPr>
            <a:xfrm flipH="false" flipV="false" rot="0">
              <a:off x="0" y="0"/>
              <a:ext cx="1044792" cy="542070"/>
            </a:xfrm>
            <a:custGeom>
              <a:avLst/>
              <a:gdLst/>
              <a:ahLst/>
              <a:cxnLst/>
              <a:rect r="r" b="b" t="t" l="l"/>
              <a:pathLst>
                <a:path h="542070" w="1044792">
                  <a:moveTo>
                    <a:pt x="99532" y="0"/>
                  </a:moveTo>
                  <a:lnTo>
                    <a:pt x="945260" y="0"/>
                  </a:lnTo>
                  <a:cubicBezTo>
                    <a:pt x="1000230" y="0"/>
                    <a:pt x="1044792" y="44562"/>
                    <a:pt x="1044792" y="99532"/>
                  </a:cubicBezTo>
                  <a:lnTo>
                    <a:pt x="1044792" y="442538"/>
                  </a:lnTo>
                  <a:cubicBezTo>
                    <a:pt x="1044792" y="468935"/>
                    <a:pt x="1034305" y="494252"/>
                    <a:pt x="1015640" y="512918"/>
                  </a:cubicBezTo>
                  <a:cubicBezTo>
                    <a:pt x="996974" y="531583"/>
                    <a:pt x="971657" y="542070"/>
                    <a:pt x="945260" y="542070"/>
                  </a:cubicBezTo>
                  <a:lnTo>
                    <a:pt x="99532" y="542070"/>
                  </a:lnTo>
                  <a:cubicBezTo>
                    <a:pt x="73134" y="542070"/>
                    <a:pt x="47818" y="531583"/>
                    <a:pt x="29152" y="512918"/>
                  </a:cubicBezTo>
                  <a:cubicBezTo>
                    <a:pt x="10486" y="494252"/>
                    <a:pt x="0" y="468935"/>
                    <a:pt x="0" y="442538"/>
                  </a:cubicBezTo>
                  <a:lnTo>
                    <a:pt x="0" y="99532"/>
                  </a:lnTo>
                  <a:cubicBezTo>
                    <a:pt x="0" y="73134"/>
                    <a:pt x="10486" y="47818"/>
                    <a:pt x="29152" y="29152"/>
                  </a:cubicBezTo>
                  <a:cubicBezTo>
                    <a:pt x="47818" y="10486"/>
                    <a:pt x="73134" y="0"/>
                    <a:pt x="99532" y="0"/>
                  </a:cubicBezTo>
                  <a:close/>
                </a:path>
              </a:pathLst>
            </a:custGeom>
            <a:solidFill>
              <a:srgbClr val="B4CFE0"/>
            </a:solidFill>
          </p:spPr>
        </p:sp>
        <p:sp>
          <p:nvSpPr>
            <p:cNvPr name="TextBox 21" id="21"/>
            <p:cNvSpPr txBox="true"/>
            <p:nvPr/>
          </p:nvSpPr>
          <p:spPr>
            <a:xfrm>
              <a:off x="0" y="-57150"/>
              <a:ext cx="1044792"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Promedios, dispersión, distribución por zonas</a:t>
              </a:r>
            </a:p>
          </p:txBody>
        </p:sp>
      </p:grpSp>
      <p:grpSp>
        <p:nvGrpSpPr>
          <p:cNvPr name="Group 22" id="22"/>
          <p:cNvGrpSpPr/>
          <p:nvPr/>
        </p:nvGrpSpPr>
        <p:grpSpPr>
          <a:xfrm rot="0">
            <a:off x="193471" y="5011156"/>
            <a:ext cx="1670458" cy="2058171"/>
            <a:chOff x="0" y="0"/>
            <a:chExt cx="439956" cy="542070"/>
          </a:xfrm>
        </p:grpSpPr>
        <p:sp>
          <p:nvSpPr>
            <p:cNvPr name="Freeform 23" id="23"/>
            <p:cNvSpPr/>
            <p:nvPr/>
          </p:nvSpPr>
          <p:spPr>
            <a:xfrm flipH="false" flipV="false" rot="0">
              <a:off x="0" y="0"/>
              <a:ext cx="439956" cy="542070"/>
            </a:xfrm>
            <a:custGeom>
              <a:avLst/>
              <a:gdLst/>
              <a:ahLst/>
              <a:cxnLst/>
              <a:rect r="r" b="b" t="t" l="l"/>
              <a:pathLst>
                <a:path h="542070" w="439956">
                  <a:moveTo>
                    <a:pt x="219978" y="0"/>
                  </a:moveTo>
                  <a:lnTo>
                    <a:pt x="219978" y="0"/>
                  </a:lnTo>
                  <a:cubicBezTo>
                    <a:pt x="341468" y="0"/>
                    <a:pt x="439956" y="98488"/>
                    <a:pt x="439956" y="219978"/>
                  </a:cubicBezTo>
                  <a:lnTo>
                    <a:pt x="439956" y="322092"/>
                  </a:lnTo>
                  <a:cubicBezTo>
                    <a:pt x="439956" y="380434"/>
                    <a:pt x="416780" y="436386"/>
                    <a:pt x="375526" y="477640"/>
                  </a:cubicBezTo>
                  <a:cubicBezTo>
                    <a:pt x="334272" y="518894"/>
                    <a:pt x="278320" y="542070"/>
                    <a:pt x="219978" y="542070"/>
                  </a:cubicBezTo>
                  <a:lnTo>
                    <a:pt x="219978" y="542070"/>
                  </a:lnTo>
                  <a:cubicBezTo>
                    <a:pt x="161636" y="542070"/>
                    <a:pt x="105684" y="518894"/>
                    <a:pt x="64430" y="477640"/>
                  </a:cubicBezTo>
                  <a:cubicBezTo>
                    <a:pt x="23176" y="436386"/>
                    <a:pt x="0" y="380434"/>
                    <a:pt x="0" y="322092"/>
                  </a:cubicBezTo>
                  <a:lnTo>
                    <a:pt x="0" y="219978"/>
                  </a:lnTo>
                  <a:cubicBezTo>
                    <a:pt x="0" y="161636"/>
                    <a:pt x="23176" y="105684"/>
                    <a:pt x="64430" y="64430"/>
                  </a:cubicBezTo>
                  <a:cubicBezTo>
                    <a:pt x="105684" y="23176"/>
                    <a:pt x="161636" y="0"/>
                    <a:pt x="219978" y="0"/>
                  </a:cubicBezTo>
                  <a:close/>
                </a:path>
              </a:pathLst>
            </a:custGeom>
            <a:solidFill>
              <a:srgbClr val="3165AA"/>
            </a:solidFill>
          </p:spPr>
        </p:sp>
        <p:sp>
          <p:nvSpPr>
            <p:cNvPr name="TextBox 24" id="24"/>
            <p:cNvSpPr txBox="true"/>
            <p:nvPr/>
          </p:nvSpPr>
          <p:spPr>
            <a:xfrm>
              <a:off x="0" y="-57150"/>
              <a:ext cx="439956"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Semana</a:t>
              </a:r>
            </a:p>
            <a:p>
              <a:pPr algn="ctr">
                <a:lnSpc>
                  <a:spcPts val="3499"/>
                </a:lnSpc>
              </a:pPr>
              <a:r>
                <a:rPr lang="en-US" sz="2499">
                  <a:solidFill>
                    <a:srgbClr val="FFFFFF"/>
                  </a:solidFill>
                  <a:latin typeface="Arial"/>
                  <a:ea typeface="Arial"/>
                  <a:cs typeface="Arial"/>
                  <a:sym typeface="Arial"/>
                </a:rPr>
                <a:t>8</a:t>
              </a:r>
            </a:p>
            <a:p>
              <a:pPr algn="ctr">
                <a:lnSpc>
                  <a:spcPts val="3499"/>
                </a:lnSpc>
              </a:pPr>
              <a:r>
                <a:rPr lang="en-US" sz="2499">
                  <a:solidFill>
                    <a:srgbClr val="FFFFFF"/>
                  </a:solidFill>
                  <a:latin typeface="Arial"/>
                  <a:ea typeface="Arial"/>
                  <a:cs typeface="Arial"/>
                  <a:sym typeface="Arial"/>
                </a:rPr>
                <a:t>Analisis</a:t>
              </a:r>
            </a:p>
          </p:txBody>
        </p:sp>
      </p:grpSp>
      <p:grpSp>
        <p:nvGrpSpPr>
          <p:cNvPr name="Group 25" id="25"/>
          <p:cNvGrpSpPr/>
          <p:nvPr/>
        </p:nvGrpSpPr>
        <p:grpSpPr>
          <a:xfrm rot="0">
            <a:off x="7160528" y="5011156"/>
            <a:ext cx="3966944" cy="2058171"/>
            <a:chOff x="0" y="0"/>
            <a:chExt cx="1044792" cy="542070"/>
          </a:xfrm>
        </p:grpSpPr>
        <p:sp>
          <p:nvSpPr>
            <p:cNvPr name="Freeform 26" id="26"/>
            <p:cNvSpPr/>
            <p:nvPr/>
          </p:nvSpPr>
          <p:spPr>
            <a:xfrm flipH="false" flipV="false" rot="0">
              <a:off x="0" y="0"/>
              <a:ext cx="1044792" cy="542070"/>
            </a:xfrm>
            <a:custGeom>
              <a:avLst/>
              <a:gdLst/>
              <a:ahLst/>
              <a:cxnLst/>
              <a:rect r="r" b="b" t="t" l="l"/>
              <a:pathLst>
                <a:path h="542070" w="1044792">
                  <a:moveTo>
                    <a:pt x="99532" y="0"/>
                  </a:moveTo>
                  <a:lnTo>
                    <a:pt x="945260" y="0"/>
                  </a:lnTo>
                  <a:cubicBezTo>
                    <a:pt x="1000230" y="0"/>
                    <a:pt x="1044792" y="44562"/>
                    <a:pt x="1044792" y="99532"/>
                  </a:cubicBezTo>
                  <a:lnTo>
                    <a:pt x="1044792" y="442538"/>
                  </a:lnTo>
                  <a:cubicBezTo>
                    <a:pt x="1044792" y="468935"/>
                    <a:pt x="1034305" y="494252"/>
                    <a:pt x="1015640" y="512918"/>
                  </a:cubicBezTo>
                  <a:cubicBezTo>
                    <a:pt x="996974" y="531583"/>
                    <a:pt x="971657" y="542070"/>
                    <a:pt x="945260" y="542070"/>
                  </a:cubicBezTo>
                  <a:lnTo>
                    <a:pt x="99532" y="542070"/>
                  </a:lnTo>
                  <a:cubicBezTo>
                    <a:pt x="73134" y="542070"/>
                    <a:pt x="47818" y="531583"/>
                    <a:pt x="29152" y="512918"/>
                  </a:cubicBezTo>
                  <a:cubicBezTo>
                    <a:pt x="10486" y="494252"/>
                    <a:pt x="0" y="468935"/>
                    <a:pt x="0" y="442538"/>
                  </a:cubicBezTo>
                  <a:lnTo>
                    <a:pt x="0" y="99532"/>
                  </a:lnTo>
                  <a:cubicBezTo>
                    <a:pt x="0" y="73134"/>
                    <a:pt x="10486" y="47818"/>
                    <a:pt x="29152" y="29152"/>
                  </a:cubicBezTo>
                  <a:cubicBezTo>
                    <a:pt x="47818" y="10486"/>
                    <a:pt x="73134" y="0"/>
                    <a:pt x="99532" y="0"/>
                  </a:cubicBezTo>
                  <a:close/>
                </a:path>
              </a:pathLst>
            </a:custGeom>
            <a:solidFill>
              <a:srgbClr val="B4CFE0"/>
            </a:solidFill>
          </p:spPr>
        </p:sp>
        <p:sp>
          <p:nvSpPr>
            <p:cNvPr name="TextBox 27" id="27"/>
            <p:cNvSpPr txBox="true"/>
            <p:nvPr/>
          </p:nvSpPr>
          <p:spPr>
            <a:xfrm>
              <a:off x="0" y="-57150"/>
              <a:ext cx="1044792"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APIs vs. registros en terreno (coincidencias + ventajas/desventajas)</a:t>
              </a:r>
            </a:p>
          </p:txBody>
        </p:sp>
      </p:grpSp>
      <p:grpSp>
        <p:nvGrpSpPr>
          <p:cNvPr name="Group 28" id="28"/>
          <p:cNvGrpSpPr/>
          <p:nvPr/>
        </p:nvGrpSpPr>
        <p:grpSpPr>
          <a:xfrm rot="0">
            <a:off x="12222847" y="5011156"/>
            <a:ext cx="3966944" cy="2058171"/>
            <a:chOff x="0" y="0"/>
            <a:chExt cx="1044792" cy="542070"/>
          </a:xfrm>
        </p:grpSpPr>
        <p:sp>
          <p:nvSpPr>
            <p:cNvPr name="Freeform 29" id="29"/>
            <p:cNvSpPr/>
            <p:nvPr/>
          </p:nvSpPr>
          <p:spPr>
            <a:xfrm flipH="false" flipV="false" rot="0">
              <a:off x="0" y="0"/>
              <a:ext cx="1044792" cy="542070"/>
            </a:xfrm>
            <a:custGeom>
              <a:avLst/>
              <a:gdLst/>
              <a:ahLst/>
              <a:cxnLst/>
              <a:rect r="r" b="b" t="t" l="l"/>
              <a:pathLst>
                <a:path h="542070" w="1044792">
                  <a:moveTo>
                    <a:pt x="99532" y="0"/>
                  </a:moveTo>
                  <a:lnTo>
                    <a:pt x="945260" y="0"/>
                  </a:lnTo>
                  <a:cubicBezTo>
                    <a:pt x="1000230" y="0"/>
                    <a:pt x="1044792" y="44562"/>
                    <a:pt x="1044792" y="99532"/>
                  </a:cubicBezTo>
                  <a:lnTo>
                    <a:pt x="1044792" y="442538"/>
                  </a:lnTo>
                  <a:cubicBezTo>
                    <a:pt x="1044792" y="468935"/>
                    <a:pt x="1034305" y="494252"/>
                    <a:pt x="1015640" y="512918"/>
                  </a:cubicBezTo>
                  <a:cubicBezTo>
                    <a:pt x="996974" y="531583"/>
                    <a:pt x="971657" y="542070"/>
                    <a:pt x="945260" y="542070"/>
                  </a:cubicBezTo>
                  <a:lnTo>
                    <a:pt x="99532" y="542070"/>
                  </a:lnTo>
                  <a:cubicBezTo>
                    <a:pt x="73134" y="542070"/>
                    <a:pt x="47818" y="531583"/>
                    <a:pt x="29152" y="512918"/>
                  </a:cubicBezTo>
                  <a:cubicBezTo>
                    <a:pt x="10486" y="494252"/>
                    <a:pt x="0" y="468935"/>
                    <a:pt x="0" y="442538"/>
                  </a:cubicBezTo>
                  <a:lnTo>
                    <a:pt x="0" y="99532"/>
                  </a:lnTo>
                  <a:cubicBezTo>
                    <a:pt x="0" y="73134"/>
                    <a:pt x="10486" y="47818"/>
                    <a:pt x="29152" y="29152"/>
                  </a:cubicBezTo>
                  <a:cubicBezTo>
                    <a:pt x="47818" y="10486"/>
                    <a:pt x="73134" y="0"/>
                    <a:pt x="99532" y="0"/>
                  </a:cubicBezTo>
                  <a:close/>
                </a:path>
              </a:pathLst>
            </a:custGeom>
            <a:solidFill>
              <a:srgbClr val="B4CFE0"/>
            </a:solidFill>
          </p:spPr>
        </p:sp>
        <p:sp>
          <p:nvSpPr>
            <p:cNvPr name="TextBox 30" id="30"/>
            <p:cNvSpPr txBox="true"/>
            <p:nvPr/>
          </p:nvSpPr>
          <p:spPr>
            <a:xfrm>
              <a:off x="0" y="-57150"/>
              <a:ext cx="1044792"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Google Places + Overpass (OSM) para locales cercanos sin campo</a:t>
              </a:r>
            </a:p>
          </p:txBody>
        </p:sp>
      </p:grpSp>
      <p:grpSp>
        <p:nvGrpSpPr>
          <p:cNvPr name="Group 31" id="31"/>
          <p:cNvGrpSpPr/>
          <p:nvPr/>
        </p:nvGrpSpPr>
        <p:grpSpPr>
          <a:xfrm rot="0">
            <a:off x="4601715" y="7591037"/>
            <a:ext cx="3966944" cy="2058171"/>
            <a:chOff x="0" y="0"/>
            <a:chExt cx="1044792" cy="542070"/>
          </a:xfrm>
        </p:grpSpPr>
        <p:sp>
          <p:nvSpPr>
            <p:cNvPr name="Freeform 32" id="32"/>
            <p:cNvSpPr/>
            <p:nvPr/>
          </p:nvSpPr>
          <p:spPr>
            <a:xfrm flipH="false" flipV="false" rot="0">
              <a:off x="0" y="0"/>
              <a:ext cx="1044792" cy="542070"/>
            </a:xfrm>
            <a:custGeom>
              <a:avLst/>
              <a:gdLst/>
              <a:ahLst/>
              <a:cxnLst/>
              <a:rect r="r" b="b" t="t" l="l"/>
              <a:pathLst>
                <a:path h="542070" w="1044792">
                  <a:moveTo>
                    <a:pt x="99532" y="0"/>
                  </a:moveTo>
                  <a:lnTo>
                    <a:pt x="945260" y="0"/>
                  </a:lnTo>
                  <a:cubicBezTo>
                    <a:pt x="1000230" y="0"/>
                    <a:pt x="1044792" y="44562"/>
                    <a:pt x="1044792" y="99532"/>
                  </a:cubicBezTo>
                  <a:lnTo>
                    <a:pt x="1044792" y="442538"/>
                  </a:lnTo>
                  <a:cubicBezTo>
                    <a:pt x="1044792" y="468935"/>
                    <a:pt x="1034305" y="494252"/>
                    <a:pt x="1015640" y="512918"/>
                  </a:cubicBezTo>
                  <a:cubicBezTo>
                    <a:pt x="996974" y="531583"/>
                    <a:pt x="971657" y="542070"/>
                    <a:pt x="945260" y="542070"/>
                  </a:cubicBezTo>
                  <a:lnTo>
                    <a:pt x="99532" y="542070"/>
                  </a:lnTo>
                  <a:cubicBezTo>
                    <a:pt x="73134" y="542070"/>
                    <a:pt x="47818" y="531583"/>
                    <a:pt x="29152" y="512918"/>
                  </a:cubicBezTo>
                  <a:cubicBezTo>
                    <a:pt x="10486" y="494252"/>
                    <a:pt x="0" y="468935"/>
                    <a:pt x="0" y="442538"/>
                  </a:cubicBezTo>
                  <a:lnTo>
                    <a:pt x="0" y="99532"/>
                  </a:lnTo>
                  <a:cubicBezTo>
                    <a:pt x="0" y="73134"/>
                    <a:pt x="10486" y="47818"/>
                    <a:pt x="29152" y="29152"/>
                  </a:cubicBezTo>
                  <a:cubicBezTo>
                    <a:pt x="47818" y="10486"/>
                    <a:pt x="73134" y="0"/>
                    <a:pt x="99532" y="0"/>
                  </a:cubicBezTo>
                  <a:close/>
                </a:path>
              </a:pathLst>
            </a:custGeom>
            <a:solidFill>
              <a:srgbClr val="B4CFE0"/>
            </a:solidFill>
          </p:spPr>
        </p:sp>
        <p:sp>
          <p:nvSpPr>
            <p:cNvPr name="TextBox 33" id="33"/>
            <p:cNvSpPr txBox="true"/>
            <p:nvPr/>
          </p:nvSpPr>
          <p:spPr>
            <a:xfrm>
              <a:off x="0" y="-57150"/>
              <a:ext cx="1044792"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Cobertura, precisión, errores por API</a:t>
              </a:r>
            </a:p>
          </p:txBody>
        </p:sp>
      </p:grpSp>
      <p:grpSp>
        <p:nvGrpSpPr>
          <p:cNvPr name="Group 34" id="34"/>
          <p:cNvGrpSpPr/>
          <p:nvPr/>
        </p:nvGrpSpPr>
        <p:grpSpPr>
          <a:xfrm rot="0">
            <a:off x="193471" y="7591037"/>
            <a:ext cx="1670458" cy="2058171"/>
            <a:chOff x="0" y="0"/>
            <a:chExt cx="439956" cy="542070"/>
          </a:xfrm>
        </p:grpSpPr>
        <p:sp>
          <p:nvSpPr>
            <p:cNvPr name="Freeform 35" id="35"/>
            <p:cNvSpPr/>
            <p:nvPr/>
          </p:nvSpPr>
          <p:spPr>
            <a:xfrm flipH="false" flipV="false" rot="0">
              <a:off x="0" y="0"/>
              <a:ext cx="439956" cy="542070"/>
            </a:xfrm>
            <a:custGeom>
              <a:avLst/>
              <a:gdLst/>
              <a:ahLst/>
              <a:cxnLst/>
              <a:rect r="r" b="b" t="t" l="l"/>
              <a:pathLst>
                <a:path h="542070" w="439956">
                  <a:moveTo>
                    <a:pt x="219978" y="0"/>
                  </a:moveTo>
                  <a:lnTo>
                    <a:pt x="219978" y="0"/>
                  </a:lnTo>
                  <a:cubicBezTo>
                    <a:pt x="341468" y="0"/>
                    <a:pt x="439956" y="98488"/>
                    <a:pt x="439956" y="219978"/>
                  </a:cubicBezTo>
                  <a:lnTo>
                    <a:pt x="439956" y="322092"/>
                  </a:lnTo>
                  <a:cubicBezTo>
                    <a:pt x="439956" y="380434"/>
                    <a:pt x="416780" y="436386"/>
                    <a:pt x="375526" y="477640"/>
                  </a:cubicBezTo>
                  <a:cubicBezTo>
                    <a:pt x="334272" y="518894"/>
                    <a:pt x="278320" y="542070"/>
                    <a:pt x="219978" y="542070"/>
                  </a:cubicBezTo>
                  <a:lnTo>
                    <a:pt x="219978" y="542070"/>
                  </a:lnTo>
                  <a:cubicBezTo>
                    <a:pt x="161636" y="542070"/>
                    <a:pt x="105684" y="518894"/>
                    <a:pt x="64430" y="477640"/>
                  </a:cubicBezTo>
                  <a:cubicBezTo>
                    <a:pt x="23176" y="436386"/>
                    <a:pt x="0" y="380434"/>
                    <a:pt x="0" y="322092"/>
                  </a:cubicBezTo>
                  <a:lnTo>
                    <a:pt x="0" y="219978"/>
                  </a:lnTo>
                  <a:cubicBezTo>
                    <a:pt x="0" y="161636"/>
                    <a:pt x="23176" y="105684"/>
                    <a:pt x="64430" y="64430"/>
                  </a:cubicBezTo>
                  <a:cubicBezTo>
                    <a:pt x="105684" y="23176"/>
                    <a:pt x="161636" y="0"/>
                    <a:pt x="219978" y="0"/>
                  </a:cubicBezTo>
                  <a:close/>
                </a:path>
              </a:pathLst>
            </a:custGeom>
            <a:solidFill>
              <a:srgbClr val="3165AA"/>
            </a:solidFill>
          </p:spPr>
        </p:sp>
        <p:sp>
          <p:nvSpPr>
            <p:cNvPr name="TextBox 36" id="36"/>
            <p:cNvSpPr txBox="true"/>
            <p:nvPr/>
          </p:nvSpPr>
          <p:spPr>
            <a:xfrm>
              <a:off x="0" y="-57150"/>
              <a:ext cx="439956"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Semana</a:t>
              </a:r>
            </a:p>
            <a:p>
              <a:pPr algn="ctr">
                <a:lnSpc>
                  <a:spcPts val="3499"/>
                </a:lnSpc>
              </a:pPr>
              <a:r>
                <a:rPr lang="en-US" sz="2499">
                  <a:solidFill>
                    <a:srgbClr val="FFFFFF"/>
                  </a:solidFill>
                  <a:latin typeface="Arial"/>
                  <a:ea typeface="Arial"/>
                  <a:cs typeface="Arial"/>
                  <a:sym typeface="Arial"/>
                </a:rPr>
                <a:t>9</a:t>
              </a:r>
            </a:p>
            <a:p>
              <a:pPr algn="ctr">
                <a:lnSpc>
                  <a:spcPts val="3499"/>
                </a:lnSpc>
              </a:pPr>
              <a:r>
                <a:rPr lang="en-US" sz="2499">
                  <a:solidFill>
                    <a:srgbClr val="FFFFFF"/>
                  </a:solidFill>
                  <a:latin typeface="Arial"/>
                  <a:ea typeface="Arial"/>
                  <a:cs typeface="Arial"/>
                  <a:sym typeface="Arial"/>
                </a:rPr>
                <a:t>Evaluacion</a:t>
              </a:r>
            </a:p>
          </p:txBody>
        </p:sp>
      </p:grpSp>
      <p:grpSp>
        <p:nvGrpSpPr>
          <p:cNvPr name="Group 37" id="37"/>
          <p:cNvGrpSpPr/>
          <p:nvPr/>
        </p:nvGrpSpPr>
        <p:grpSpPr>
          <a:xfrm rot="0">
            <a:off x="10069896" y="7591037"/>
            <a:ext cx="3966944" cy="2058171"/>
            <a:chOff x="0" y="0"/>
            <a:chExt cx="1044792" cy="542070"/>
          </a:xfrm>
        </p:grpSpPr>
        <p:sp>
          <p:nvSpPr>
            <p:cNvPr name="Freeform 38" id="38"/>
            <p:cNvSpPr/>
            <p:nvPr/>
          </p:nvSpPr>
          <p:spPr>
            <a:xfrm flipH="false" flipV="false" rot="0">
              <a:off x="0" y="0"/>
              <a:ext cx="1044792" cy="542070"/>
            </a:xfrm>
            <a:custGeom>
              <a:avLst/>
              <a:gdLst/>
              <a:ahLst/>
              <a:cxnLst/>
              <a:rect r="r" b="b" t="t" l="l"/>
              <a:pathLst>
                <a:path h="542070" w="1044792">
                  <a:moveTo>
                    <a:pt x="99532" y="0"/>
                  </a:moveTo>
                  <a:lnTo>
                    <a:pt x="945260" y="0"/>
                  </a:lnTo>
                  <a:cubicBezTo>
                    <a:pt x="1000230" y="0"/>
                    <a:pt x="1044792" y="44562"/>
                    <a:pt x="1044792" y="99532"/>
                  </a:cubicBezTo>
                  <a:lnTo>
                    <a:pt x="1044792" y="442538"/>
                  </a:lnTo>
                  <a:cubicBezTo>
                    <a:pt x="1044792" y="468935"/>
                    <a:pt x="1034305" y="494252"/>
                    <a:pt x="1015640" y="512918"/>
                  </a:cubicBezTo>
                  <a:cubicBezTo>
                    <a:pt x="996974" y="531583"/>
                    <a:pt x="971657" y="542070"/>
                    <a:pt x="945260" y="542070"/>
                  </a:cubicBezTo>
                  <a:lnTo>
                    <a:pt x="99532" y="542070"/>
                  </a:lnTo>
                  <a:cubicBezTo>
                    <a:pt x="73134" y="542070"/>
                    <a:pt x="47818" y="531583"/>
                    <a:pt x="29152" y="512918"/>
                  </a:cubicBezTo>
                  <a:cubicBezTo>
                    <a:pt x="10486" y="494252"/>
                    <a:pt x="0" y="468935"/>
                    <a:pt x="0" y="442538"/>
                  </a:cubicBezTo>
                  <a:lnTo>
                    <a:pt x="0" y="99532"/>
                  </a:lnTo>
                  <a:cubicBezTo>
                    <a:pt x="0" y="73134"/>
                    <a:pt x="10486" y="47818"/>
                    <a:pt x="29152" y="29152"/>
                  </a:cubicBezTo>
                  <a:cubicBezTo>
                    <a:pt x="47818" y="10486"/>
                    <a:pt x="73134" y="0"/>
                    <a:pt x="99532" y="0"/>
                  </a:cubicBezTo>
                  <a:close/>
                </a:path>
              </a:pathLst>
            </a:custGeom>
            <a:solidFill>
              <a:srgbClr val="B4CFE0"/>
            </a:solidFill>
          </p:spPr>
        </p:sp>
        <p:sp>
          <p:nvSpPr>
            <p:cNvPr name="TextBox 39" id="39"/>
            <p:cNvSpPr txBox="true"/>
            <p:nvPr/>
          </p:nvSpPr>
          <p:spPr>
            <a:xfrm>
              <a:off x="0" y="-57150"/>
              <a:ext cx="1044792" cy="599220"/>
            </a:xfrm>
            <a:prstGeom prst="rect">
              <a:avLst/>
            </a:prstGeom>
          </p:spPr>
          <p:txBody>
            <a:bodyPr anchor="ctr" rtlCol="false" tIns="50800" lIns="50800" bIns="50800" rIns="50800"/>
            <a:lstStyle/>
            <a:p>
              <a:pPr algn="ctr">
                <a:lnSpc>
                  <a:spcPts val="3499"/>
                </a:lnSpc>
              </a:pPr>
              <a:r>
                <a:rPr lang="en-US" sz="2499">
                  <a:solidFill>
                    <a:srgbClr val="FFFFFF"/>
                  </a:solidFill>
                  <a:latin typeface="Arial"/>
                  <a:ea typeface="Arial"/>
                  <a:cs typeface="Arial"/>
                  <a:sym typeface="Arial"/>
                </a:rPr>
                <a:t>Automatización para futuros estudios (ahorro tiempo/recursos)</a:t>
              </a:r>
            </a:p>
          </p:txBody>
        </p:sp>
      </p:grpSp>
      <p:grpSp>
        <p:nvGrpSpPr>
          <p:cNvPr name="Group 40" id="40"/>
          <p:cNvGrpSpPr/>
          <p:nvPr/>
        </p:nvGrpSpPr>
        <p:grpSpPr>
          <a:xfrm rot="-10800000">
            <a:off x="6173306" y="3099745"/>
            <a:ext cx="879850" cy="724582"/>
            <a:chOff x="0" y="0"/>
            <a:chExt cx="647700" cy="533400"/>
          </a:xfrm>
        </p:grpSpPr>
        <p:sp>
          <p:nvSpPr>
            <p:cNvPr name="Freeform 41" id="41"/>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FFFFFF"/>
            </a:solidFill>
          </p:spPr>
        </p:sp>
        <p:sp>
          <p:nvSpPr>
            <p:cNvPr name="TextBox 42" id="42"/>
            <p:cNvSpPr txBox="true"/>
            <p:nvPr/>
          </p:nvSpPr>
          <p:spPr>
            <a:xfrm>
              <a:off x="120650" y="107950"/>
              <a:ext cx="527050" cy="260350"/>
            </a:xfrm>
            <a:prstGeom prst="rect">
              <a:avLst/>
            </a:prstGeom>
          </p:spPr>
          <p:txBody>
            <a:bodyPr anchor="ctr" rtlCol="false" tIns="50800" lIns="50800" bIns="50800" rIns="50800"/>
            <a:lstStyle/>
            <a:p>
              <a:pPr algn="ctr">
                <a:lnSpc>
                  <a:spcPts val="3499"/>
                </a:lnSpc>
              </a:pPr>
            </a:p>
          </p:txBody>
        </p:sp>
      </p:grpSp>
      <p:sp>
        <p:nvSpPr>
          <p:cNvPr name="TextBox 43" id="43"/>
          <p:cNvSpPr txBox="true"/>
          <p:nvPr/>
        </p:nvSpPr>
        <p:spPr>
          <a:xfrm rot="0">
            <a:off x="809182" y="664911"/>
            <a:ext cx="11244186" cy="892175"/>
          </a:xfrm>
          <a:prstGeom prst="rect">
            <a:avLst/>
          </a:prstGeom>
        </p:spPr>
        <p:txBody>
          <a:bodyPr anchor="t" rtlCol="false" tIns="0" lIns="0" bIns="0" rIns="0">
            <a:spAutoFit/>
          </a:bodyPr>
          <a:lstStyle/>
          <a:p>
            <a:pPr algn="l">
              <a:lnSpc>
                <a:spcPts val="7000"/>
              </a:lnSpc>
            </a:pPr>
            <a:r>
              <a:rPr lang="en-US" sz="5000" b="true">
                <a:solidFill>
                  <a:srgbClr val="FFFFFF"/>
                </a:solidFill>
                <a:latin typeface="Times New Roman Bold"/>
                <a:ea typeface="Times New Roman Bold"/>
                <a:cs typeface="Times New Roman Bold"/>
                <a:sym typeface="Times New Roman Bold"/>
              </a:rPr>
              <a:t>Diagrama Metodologico</a:t>
            </a:r>
          </a:p>
        </p:txBody>
      </p:sp>
      <p:grpSp>
        <p:nvGrpSpPr>
          <p:cNvPr name="Group 44" id="44"/>
          <p:cNvGrpSpPr/>
          <p:nvPr/>
        </p:nvGrpSpPr>
        <p:grpSpPr>
          <a:xfrm rot="-10800000">
            <a:off x="11235235" y="3099745"/>
            <a:ext cx="879850" cy="724582"/>
            <a:chOff x="0" y="0"/>
            <a:chExt cx="647700" cy="533400"/>
          </a:xfrm>
        </p:grpSpPr>
        <p:sp>
          <p:nvSpPr>
            <p:cNvPr name="Freeform 45" id="45"/>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FFFFFF"/>
            </a:solidFill>
          </p:spPr>
        </p:sp>
        <p:sp>
          <p:nvSpPr>
            <p:cNvPr name="TextBox 46" id="46"/>
            <p:cNvSpPr txBox="true"/>
            <p:nvPr/>
          </p:nvSpPr>
          <p:spPr>
            <a:xfrm>
              <a:off x="120650" y="107950"/>
              <a:ext cx="527050" cy="260350"/>
            </a:xfrm>
            <a:prstGeom prst="rect">
              <a:avLst/>
            </a:prstGeom>
          </p:spPr>
          <p:txBody>
            <a:bodyPr anchor="ctr" rtlCol="false" tIns="50800" lIns="50800" bIns="50800" rIns="50800"/>
            <a:lstStyle/>
            <a:p>
              <a:pPr algn="ctr">
                <a:lnSpc>
                  <a:spcPts val="3499"/>
                </a:lnSpc>
              </a:pPr>
            </a:p>
          </p:txBody>
        </p:sp>
      </p:grpSp>
      <p:grpSp>
        <p:nvGrpSpPr>
          <p:cNvPr name="Group 47" id="47"/>
          <p:cNvGrpSpPr/>
          <p:nvPr/>
        </p:nvGrpSpPr>
        <p:grpSpPr>
          <a:xfrm rot="-10800000">
            <a:off x="6173306" y="5660494"/>
            <a:ext cx="879850" cy="724582"/>
            <a:chOff x="0" y="0"/>
            <a:chExt cx="647700" cy="533400"/>
          </a:xfrm>
        </p:grpSpPr>
        <p:sp>
          <p:nvSpPr>
            <p:cNvPr name="Freeform 48" id="48"/>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FFFFFF"/>
            </a:solidFill>
          </p:spPr>
        </p:sp>
        <p:sp>
          <p:nvSpPr>
            <p:cNvPr name="TextBox 49" id="49"/>
            <p:cNvSpPr txBox="true"/>
            <p:nvPr/>
          </p:nvSpPr>
          <p:spPr>
            <a:xfrm>
              <a:off x="120650" y="107950"/>
              <a:ext cx="527050" cy="260350"/>
            </a:xfrm>
            <a:prstGeom prst="rect">
              <a:avLst/>
            </a:prstGeom>
          </p:spPr>
          <p:txBody>
            <a:bodyPr anchor="ctr" rtlCol="false" tIns="50800" lIns="50800" bIns="50800" rIns="50800"/>
            <a:lstStyle/>
            <a:p>
              <a:pPr algn="ctr">
                <a:lnSpc>
                  <a:spcPts val="3499"/>
                </a:lnSpc>
              </a:pPr>
            </a:p>
          </p:txBody>
        </p:sp>
      </p:grpSp>
      <p:grpSp>
        <p:nvGrpSpPr>
          <p:cNvPr name="Group 50" id="50"/>
          <p:cNvGrpSpPr/>
          <p:nvPr/>
        </p:nvGrpSpPr>
        <p:grpSpPr>
          <a:xfrm rot="-10800000">
            <a:off x="11232247" y="5679626"/>
            <a:ext cx="879850" cy="724582"/>
            <a:chOff x="0" y="0"/>
            <a:chExt cx="647700" cy="533400"/>
          </a:xfrm>
        </p:grpSpPr>
        <p:sp>
          <p:nvSpPr>
            <p:cNvPr name="Freeform 51" id="51"/>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FFFFFF"/>
            </a:solidFill>
          </p:spPr>
        </p:sp>
        <p:sp>
          <p:nvSpPr>
            <p:cNvPr name="TextBox 52" id="52"/>
            <p:cNvSpPr txBox="true"/>
            <p:nvPr/>
          </p:nvSpPr>
          <p:spPr>
            <a:xfrm>
              <a:off x="120650" y="107950"/>
              <a:ext cx="527050" cy="260350"/>
            </a:xfrm>
            <a:prstGeom prst="rect">
              <a:avLst/>
            </a:prstGeom>
          </p:spPr>
          <p:txBody>
            <a:bodyPr anchor="ctr" rtlCol="false" tIns="50800" lIns="50800" bIns="50800" rIns="50800"/>
            <a:lstStyle/>
            <a:p>
              <a:pPr algn="ctr">
                <a:lnSpc>
                  <a:spcPts val="3499"/>
                </a:lnSpc>
              </a:pPr>
            </a:p>
          </p:txBody>
        </p:sp>
      </p:grpSp>
      <p:grpSp>
        <p:nvGrpSpPr>
          <p:cNvPr name="Group 53" id="53"/>
          <p:cNvGrpSpPr/>
          <p:nvPr/>
        </p:nvGrpSpPr>
        <p:grpSpPr>
          <a:xfrm rot="-10800000">
            <a:off x="8879352" y="8257831"/>
            <a:ext cx="879850" cy="724582"/>
            <a:chOff x="0" y="0"/>
            <a:chExt cx="647700" cy="533400"/>
          </a:xfrm>
        </p:grpSpPr>
        <p:sp>
          <p:nvSpPr>
            <p:cNvPr name="Freeform 54" id="54"/>
            <p:cNvSpPr/>
            <p:nvPr/>
          </p:nvSpPr>
          <p:spPr>
            <a:xfrm flipH="false" flipV="false" rot="0">
              <a:off x="0" y="0"/>
              <a:ext cx="647700" cy="533400"/>
            </a:xfrm>
            <a:custGeom>
              <a:avLst/>
              <a:gdLst/>
              <a:ahLst/>
              <a:cxnLst/>
              <a:rect r="r" b="b" t="t" l="l"/>
              <a:pathLst>
                <a:path h="533400" w="647700">
                  <a:moveTo>
                    <a:pt x="239386" y="166418"/>
                  </a:moveTo>
                  <a:lnTo>
                    <a:pt x="647700" y="166418"/>
                  </a:lnTo>
                  <a:lnTo>
                    <a:pt x="647700" y="366942"/>
                  </a:lnTo>
                  <a:lnTo>
                    <a:pt x="239373" y="366942"/>
                  </a:lnTo>
                  <a:lnTo>
                    <a:pt x="302255" y="533400"/>
                  </a:lnTo>
                  <a:lnTo>
                    <a:pt x="0" y="266700"/>
                  </a:lnTo>
                  <a:lnTo>
                    <a:pt x="302255" y="0"/>
                  </a:lnTo>
                  <a:lnTo>
                    <a:pt x="239386" y="166418"/>
                  </a:lnTo>
                  <a:close/>
                </a:path>
              </a:pathLst>
            </a:custGeom>
            <a:solidFill>
              <a:srgbClr val="FFFFFF"/>
            </a:solidFill>
          </p:spPr>
        </p:sp>
        <p:sp>
          <p:nvSpPr>
            <p:cNvPr name="TextBox 55" id="55"/>
            <p:cNvSpPr txBox="true"/>
            <p:nvPr/>
          </p:nvSpPr>
          <p:spPr>
            <a:xfrm>
              <a:off x="120650" y="107950"/>
              <a:ext cx="527050" cy="260350"/>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412510" y="2201751"/>
            <a:ext cx="17841497" cy="7475079"/>
            <a:chOff x="0" y="0"/>
            <a:chExt cx="23788662" cy="9966771"/>
          </a:xfrm>
        </p:grpSpPr>
        <p:grpSp>
          <p:nvGrpSpPr>
            <p:cNvPr name="Group 4" id="4"/>
            <p:cNvGrpSpPr/>
            <p:nvPr/>
          </p:nvGrpSpPr>
          <p:grpSpPr>
            <a:xfrm rot="0">
              <a:off x="0" y="628151"/>
              <a:ext cx="1490763" cy="8224318"/>
              <a:chOff x="0" y="0"/>
              <a:chExt cx="263030" cy="1451099"/>
            </a:xfrm>
          </p:grpSpPr>
          <p:sp>
            <p:nvSpPr>
              <p:cNvPr name="Freeform 5" id="5"/>
              <p:cNvSpPr/>
              <p:nvPr/>
            </p:nvSpPr>
            <p:spPr>
              <a:xfrm flipH="false" flipV="false" rot="0">
                <a:off x="0" y="0"/>
                <a:ext cx="263030" cy="1451099"/>
              </a:xfrm>
              <a:custGeom>
                <a:avLst/>
                <a:gdLst/>
                <a:ahLst/>
                <a:cxnLst/>
                <a:rect r="r" b="b" t="t" l="l"/>
                <a:pathLst>
                  <a:path h="1451099" w="263030">
                    <a:moveTo>
                      <a:pt x="131515" y="0"/>
                    </a:moveTo>
                    <a:lnTo>
                      <a:pt x="131515" y="0"/>
                    </a:lnTo>
                    <a:cubicBezTo>
                      <a:pt x="166395" y="0"/>
                      <a:pt x="199847" y="13856"/>
                      <a:pt x="224510" y="38520"/>
                    </a:cubicBezTo>
                    <a:cubicBezTo>
                      <a:pt x="249174" y="63184"/>
                      <a:pt x="263030" y="96635"/>
                      <a:pt x="263030" y="131515"/>
                    </a:cubicBezTo>
                    <a:lnTo>
                      <a:pt x="263030" y="1319584"/>
                    </a:lnTo>
                    <a:cubicBezTo>
                      <a:pt x="263030" y="1354464"/>
                      <a:pt x="249174" y="1387916"/>
                      <a:pt x="224510" y="1412579"/>
                    </a:cubicBezTo>
                    <a:cubicBezTo>
                      <a:pt x="199847" y="1437243"/>
                      <a:pt x="166395" y="1451099"/>
                      <a:pt x="131515" y="1451099"/>
                    </a:cubicBezTo>
                    <a:lnTo>
                      <a:pt x="131515" y="1451099"/>
                    </a:lnTo>
                    <a:cubicBezTo>
                      <a:pt x="96635" y="1451099"/>
                      <a:pt x="63184" y="1437243"/>
                      <a:pt x="38520" y="1412579"/>
                    </a:cubicBezTo>
                    <a:cubicBezTo>
                      <a:pt x="13856" y="1387916"/>
                      <a:pt x="0" y="1354464"/>
                      <a:pt x="0" y="1319584"/>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6" id="6"/>
              <p:cNvSpPr txBox="true"/>
              <p:nvPr/>
            </p:nvSpPr>
            <p:spPr>
              <a:xfrm>
                <a:off x="0" y="-38100"/>
                <a:ext cx="263030" cy="1489199"/>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7" id="7"/>
            <p:cNvGrpSpPr/>
            <p:nvPr/>
          </p:nvGrpSpPr>
          <p:grpSpPr>
            <a:xfrm rot="-10800000">
              <a:off x="22297899" y="185206"/>
              <a:ext cx="1490763" cy="9558563"/>
              <a:chOff x="0" y="0"/>
              <a:chExt cx="263030" cy="1686514"/>
            </a:xfrm>
          </p:grpSpPr>
          <p:sp>
            <p:nvSpPr>
              <p:cNvPr name="Freeform 8" id="8"/>
              <p:cNvSpPr/>
              <p:nvPr/>
            </p:nvSpPr>
            <p:spPr>
              <a:xfrm flipH="false" flipV="false" rot="0">
                <a:off x="0" y="0"/>
                <a:ext cx="263030" cy="1686514"/>
              </a:xfrm>
              <a:custGeom>
                <a:avLst/>
                <a:gdLst/>
                <a:ahLst/>
                <a:cxnLst/>
                <a:rect r="r" b="b" t="t" l="l"/>
                <a:pathLst>
                  <a:path h="1686514" w="263030">
                    <a:moveTo>
                      <a:pt x="131515" y="0"/>
                    </a:moveTo>
                    <a:lnTo>
                      <a:pt x="131515" y="0"/>
                    </a:lnTo>
                    <a:cubicBezTo>
                      <a:pt x="166395" y="0"/>
                      <a:pt x="199847" y="13856"/>
                      <a:pt x="224510" y="38520"/>
                    </a:cubicBezTo>
                    <a:cubicBezTo>
                      <a:pt x="249174" y="63184"/>
                      <a:pt x="263030" y="96635"/>
                      <a:pt x="263030" y="131515"/>
                    </a:cubicBezTo>
                    <a:lnTo>
                      <a:pt x="263030" y="1554998"/>
                    </a:lnTo>
                    <a:cubicBezTo>
                      <a:pt x="263030" y="1589879"/>
                      <a:pt x="249174" y="1623330"/>
                      <a:pt x="224510" y="1647994"/>
                    </a:cubicBezTo>
                    <a:cubicBezTo>
                      <a:pt x="199847" y="1672658"/>
                      <a:pt x="166395" y="1686514"/>
                      <a:pt x="131515" y="1686514"/>
                    </a:cubicBezTo>
                    <a:lnTo>
                      <a:pt x="131515" y="1686514"/>
                    </a:lnTo>
                    <a:cubicBezTo>
                      <a:pt x="96635" y="1686514"/>
                      <a:pt x="63184" y="1672658"/>
                      <a:pt x="38520" y="1647994"/>
                    </a:cubicBezTo>
                    <a:cubicBezTo>
                      <a:pt x="13856" y="1623330"/>
                      <a:pt x="0" y="1589879"/>
                      <a:pt x="0" y="1554998"/>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9" id="9"/>
              <p:cNvSpPr txBox="true"/>
              <p:nvPr/>
            </p:nvSpPr>
            <p:spPr>
              <a:xfrm>
                <a:off x="0" y="-38100"/>
                <a:ext cx="263030" cy="1724614"/>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10" id="10"/>
            <p:cNvGrpSpPr/>
            <p:nvPr/>
          </p:nvGrpSpPr>
          <p:grpSpPr>
            <a:xfrm rot="0">
              <a:off x="0" y="0"/>
              <a:ext cx="23527366" cy="9966771"/>
              <a:chOff x="0" y="0"/>
              <a:chExt cx="4151170" cy="1758538"/>
            </a:xfrm>
          </p:grpSpPr>
          <p:sp>
            <p:nvSpPr>
              <p:cNvPr name="Freeform 11" id="11"/>
              <p:cNvSpPr/>
              <p:nvPr/>
            </p:nvSpPr>
            <p:spPr>
              <a:xfrm flipH="false" flipV="false" rot="0">
                <a:off x="0" y="0"/>
                <a:ext cx="4151171" cy="1758538"/>
              </a:xfrm>
              <a:custGeom>
                <a:avLst/>
                <a:gdLst/>
                <a:ahLst/>
                <a:cxnLst/>
                <a:rect r="r" b="b" t="t" l="l"/>
                <a:pathLst>
                  <a:path h="1758538" w="4151171">
                    <a:moveTo>
                      <a:pt x="14736" y="0"/>
                    </a:moveTo>
                    <a:lnTo>
                      <a:pt x="4136435" y="0"/>
                    </a:lnTo>
                    <a:cubicBezTo>
                      <a:pt x="4140343" y="0"/>
                      <a:pt x="4144091" y="1553"/>
                      <a:pt x="4146855" y="4316"/>
                    </a:cubicBezTo>
                    <a:cubicBezTo>
                      <a:pt x="4149618" y="7080"/>
                      <a:pt x="4151171" y="10828"/>
                      <a:pt x="4151171" y="14736"/>
                    </a:cubicBezTo>
                    <a:lnTo>
                      <a:pt x="4151171" y="1743802"/>
                    </a:lnTo>
                    <a:cubicBezTo>
                      <a:pt x="4151171" y="1747710"/>
                      <a:pt x="4149618" y="1751459"/>
                      <a:pt x="4146855" y="1754222"/>
                    </a:cubicBezTo>
                    <a:cubicBezTo>
                      <a:pt x="4144091" y="1756986"/>
                      <a:pt x="4140343" y="1758538"/>
                      <a:pt x="4136435" y="1758538"/>
                    </a:cubicBezTo>
                    <a:lnTo>
                      <a:pt x="14736" y="1758538"/>
                    </a:lnTo>
                    <a:cubicBezTo>
                      <a:pt x="10828" y="1758538"/>
                      <a:pt x="7080" y="1756986"/>
                      <a:pt x="4316" y="1754222"/>
                    </a:cubicBezTo>
                    <a:cubicBezTo>
                      <a:pt x="1553" y="1751459"/>
                      <a:pt x="0" y="1747710"/>
                      <a:pt x="0" y="1743802"/>
                    </a:cubicBezTo>
                    <a:lnTo>
                      <a:pt x="0" y="14736"/>
                    </a:lnTo>
                    <a:cubicBezTo>
                      <a:pt x="0" y="10828"/>
                      <a:pt x="1553" y="7080"/>
                      <a:pt x="4316" y="4316"/>
                    </a:cubicBezTo>
                    <a:cubicBezTo>
                      <a:pt x="7080" y="1553"/>
                      <a:pt x="10828" y="0"/>
                      <a:pt x="14736" y="0"/>
                    </a:cubicBezTo>
                    <a:close/>
                  </a:path>
                </a:pathLst>
              </a:custGeom>
              <a:solidFill>
                <a:srgbClr val="FFFFFF"/>
              </a:solidFill>
              <a:ln cap="rnd">
                <a:noFill/>
                <a:prstDash val="solid"/>
                <a:round/>
              </a:ln>
            </p:spPr>
          </p:sp>
          <p:sp>
            <p:nvSpPr>
              <p:cNvPr name="TextBox 12" id="12"/>
              <p:cNvSpPr txBox="true"/>
              <p:nvPr/>
            </p:nvSpPr>
            <p:spPr>
              <a:xfrm>
                <a:off x="0" y="-38100"/>
                <a:ext cx="4151170" cy="1796638"/>
              </a:xfrm>
              <a:prstGeom prst="rect">
                <a:avLst/>
              </a:prstGeom>
            </p:spPr>
            <p:txBody>
              <a:bodyPr anchor="ctr" rtlCol="false" tIns="50800" lIns="50800" bIns="50800" rIns="50800"/>
              <a:lstStyle/>
              <a:p>
                <a:pPr algn="ctr">
                  <a:lnSpc>
                    <a:spcPts val="2940"/>
                  </a:lnSpc>
                </a:pPr>
              </a:p>
            </p:txBody>
          </p:sp>
        </p:grpSp>
      </p:grpSp>
      <p:grpSp>
        <p:nvGrpSpPr>
          <p:cNvPr name="Group 13" id="13"/>
          <p:cNvGrpSpPr/>
          <p:nvPr/>
        </p:nvGrpSpPr>
        <p:grpSpPr>
          <a:xfrm rot="0">
            <a:off x="412510" y="270524"/>
            <a:ext cx="12345354" cy="1765751"/>
            <a:chOff x="0" y="0"/>
            <a:chExt cx="3871319" cy="553713"/>
          </a:xfrm>
        </p:grpSpPr>
        <p:sp>
          <p:nvSpPr>
            <p:cNvPr name="Freeform 14" id="14"/>
            <p:cNvSpPr/>
            <p:nvPr/>
          </p:nvSpPr>
          <p:spPr>
            <a:xfrm flipH="false" flipV="false" rot="0">
              <a:off x="0" y="0"/>
              <a:ext cx="3871319" cy="553713"/>
            </a:xfrm>
            <a:custGeom>
              <a:avLst/>
              <a:gdLst/>
              <a:ahLst/>
              <a:cxnLst/>
              <a:rect r="r" b="b" t="t" l="l"/>
              <a:pathLst>
                <a:path h="553713" w="3871319">
                  <a:moveTo>
                    <a:pt x="12542" y="0"/>
                  </a:moveTo>
                  <a:lnTo>
                    <a:pt x="3858777" y="0"/>
                  </a:lnTo>
                  <a:cubicBezTo>
                    <a:pt x="3865704" y="0"/>
                    <a:pt x="3871319" y="5615"/>
                    <a:pt x="3871319" y="12542"/>
                  </a:cubicBezTo>
                  <a:lnTo>
                    <a:pt x="3871319" y="541171"/>
                  </a:lnTo>
                  <a:cubicBezTo>
                    <a:pt x="3871319" y="548098"/>
                    <a:pt x="3865704" y="553713"/>
                    <a:pt x="3858777" y="553713"/>
                  </a:cubicBezTo>
                  <a:lnTo>
                    <a:pt x="12542" y="553713"/>
                  </a:lnTo>
                  <a:cubicBezTo>
                    <a:pt x="5615" y="553713"/>
                    <a:pt x="0" y="548098"/>
                    <a:pt x="0" y="541171"/>
                  </a:cubicBezTo>
                  <a:lnTo>
                    <a:pt x="0" y="12542"/>
                  </a:lnTo>
                  <a:cubicBezTo>
                    <a:pt x="0" y="5615"/>
                    <a:pt x="5615" y="0"/>
                    <a:pt x="1254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TextBox 16" id="16"/>
          <p:cNvSpPr txBox="true"/>
          <p:nvPr/>
        </p:nvSpPr>
        <p:spPr>
          <a:xfrm rot="0">
            <a:off x="1128833" y="2663809"/>
            <a:ext cx="16618798" cy="1490980"/>
          </a:xfrm>
          <a:prstGeom prst="rect">
            <a:avLst/>
          </a:prstGeom>
        </p:spPr>
        <p:txBody>
          <a:bodyPr anchor="t" rtlCol="false" tIns="0" lIns="0" bIns="0" rIns="0">
            <a:spAutoFit/>
          </a:bodyPr>
          <a:lstStyle/>
          <a:p>
            <a:pPr algn="just" marL="0" indent="0" lvl="0">
              <a:lnSpc>
                <a:spcPts val="3920"/>
              </a:lnSpc>
              <a:spcBef>
                <a:spcPct val="0"/>
              </a:spcBef>
            </a:pPr>
            <a:r>
              <a:rPr lang="en-US" sz="2800">
                <a:solidFill>
                  <a:srgbClr val="0B1B45"/>
                </a:solidFill>
                <a:latin typeface="Arial"/>
                <a:ea typeface="Arial"/>
                <a:cs typeface="Arial"/>
                <a:sym typeface="Arial"/>
              </a:rPr>
              <a:t>A partir de la literatura existente, se espera que en comunas con mayor pobreza por ingresos exista una menor disponibilidad de alimentos saludables en los entornos alimentarios cercanos a escuelas. Para evaluar esta hipótesis, se plantea:</a:t>
            </a:r>
          </a:p>
        </p:txBody>
      </p:sp>
      <p:sp>
        <p:nvSpPr>
          <p:cNvPr name="AutoShape 17" id="17"/>
          <p:cNvSpPr/>
          <p:nvPr/>
        </p:nvSpPr>
        <p:spPr>
          <a:xfrm flipV="true">
            <a:off x="1028694" y="10018820"/>
            <a:ext cx="16464787" cy="9525"/>
          </a:xfrm>
          <a:prstGeom prst="line">
            <a:avLst/>
          </a:prstGeom>
          <a:ln cap="flat" w="19050">
            <a:solidFill>
              <a:srgbClr val="FFFFFF"/>
            </a:solidFill>
            <a:prstDash val="solid"/>
            <a:headEnd type="none" len="sm" w="sm"/>
            <a:tailEnd type="none" len="sm" w="sm"/>
          </a:ln>
        </p:spPr>
      </p:sp>
      <p:sp>
        <p:nvSpPr>
          <p:cNvPr name="TextBox 18" id="18"/>
          <p:cNvSpPr txBox="true"/>
          <p:nvPr/>
        </p:nvSpPr>
        <p:spPr>
          <a:xfrm rot="0">
            <a:off x="809182" y="664911"/>
            <a:ext cx="11244186" cy="892175"/>
          </a:xfrm>
          <a:prstGeom prst="rect">
            <a:avLst/>
          </a:prstGeom>
        </p:spPr>
        <p:txBody>
          <a:bodyPr anchor="t" rtlCol="false" tIns="0" lIns="0" bIns="0" rIns="0">
            <a:spAutoFit/>
          </a:bodyPr>
          <a:lstStyle/>
          <a:p>
            <a:pPr algn="l">
              <a:lnSpc>
                <a:spcPts val="7000"/>
              </a:lnSpc>
            </a:pPr>
            <a:r>
              <a:rPr lang="en-US" sz="5000" b="true">
                <a:solidFill>
                  <a:srgbClr val="FFFFFF"/>
                </a:solidFill>
                <a:latin typeface="Times New Roman Bold"/>
                <a:ea typeface="Times New Roman Bold"/>
                <a:cs typeface="Times New Roman Bold"/>
                <a:sym typeface="Times New Roman Bold"/>
              </a:rPr>
              <a:t>Test de hipotesis</a:t>
            </a:r>
          </a:p>
        </p:txBody>
      </p:sp>
      <p:sp>
        <p:nvSpPr>
          <p:cNvPr name="TextBox 19" id="19"/>
          <p:cNvSpPr txBox="true"/>
          <p:nvPr/>
        </p:nvSpPr>
        <p:spPr>
          <a:xfrm rot="0">
            <a:off x="1128833" y="4334454"/>
            <a:ext cx="16718936" cy="2976880"/>
          </a:xfrm>
          <a:prstGeom prst="rect">
            <a:avLst/>
          </a:prstGeom>
        </p:spPr>
        <p:txBody>
          <a:bodyPr anchor="t" rtlCol="false" tIns="0" lIns="0" bIns="0" rIns="0">
            <a:spAutoFit/>
          </a:bodyPr>
          <a:lstStyle/>
          <a:p>
            <a:pPr algn="l" marL="604518" indent="-302259" lvl="1">
              <a:lnSpc>
                <a:spcPts val="3919"/>
              </a:lnSpc>
              <a:buFont typeface="Arial"/>
              <a:buChar char="•"/>
            </a:pPr>
            <a:r>
              <a:rPr lang="en-US" b="true" sz="2799" spc="27">
                <a:solidFill>
                  <a:srgbClr val="000000"/>
                </a:solidFill>
                <a:latin typeface="Arial Bold"/>
                <a:ea typeface="Arial Bold"/>
                <a:cs typeface="Arial Bold"/>
                <a:sym typeface="Arial Bold"/>
              </a:rPr>
              <a:t>Hipótesis nula (H₀):</a:t>
            </a:r>
            <a:r>
              <a:rPr lang="en-US" sz="2799" spc="27">
                <a:solidFill>
                  <a:srgbClr val="000000"/>
                </a:solidFill>
                <a:latin typeface="Arial"/>
                <a:ea typeface="Arial"/>
                <a:cs typeface="Arial"/>
                <a:sym typeface="Arial"/>
              </a:rPr>
              <a:t> No existe asociación entre el total de alimentos saludables y la tasa de pobreza comunal.</a:t>
            </a:r>
          </a:p>
          <a:p>
            <a:pPr algn="l">
              <a:lnSpc>
                <a:spcPts val="3919"/>
              </a:lnSpc>
              <a:spcBef>
                <a:spcPct val="0"/>
              </a:spcBef>
            </a:pPr>
            <a:r>
              <a:rPr lang="en-US" sz="2799" spc="27">
                <a:solidFill>
                  <a:srgbClr val="000000"/>
                </a:solidFill>
                <a:latin typeface="Arial"/>
                <a:ea typeface="Arial"/>
                <a:cs typeface="Arial"/>
                <a:sym typeface="Arial"/>
              </a:rPr>
              <a:t>      - </a:t>
            </a:r>
            <a:r>
              <a:rPr lang="en-US" sz="2799" spc="27">
                <a:solidFill>
                  <a:srgbClr val="000000"/>
                </a:solidFill>
                <a:latin typeface="Arial"/>
                <a:ea typeface="Arial"/>
                <a:cs typeface="Arial"/>
                <a:sym typeface="Arial"/>
              </a:rPr>
              <a:t>Correlación = 0</a:t>
            </a:r>
          </a:p>
          <a:p>
            <a:pPr algn="l" marL="604518" indent="-302259" lvl="1">
              <a:lnSpc>
                <a:spcPts val="3919"/>
              </a:lnSpc>
              <a:buFont typeface="Arial"/>
              <a:buChar char="•"/>
            </a:pPr>
            <a:r>
              <a:rPr lang="en-US" b="true" sz="2799" spc="27">
                <a:solidFill>
                  <a:srgbClr val="000000"/>
                </a:solidFill>
                <a:latin typeface="Arial Bold"/>
                <a:ea typeface="Arial Bold"/>
                <a:cs typeface="Arial Bold"/>
                <a:sym typeface="Arial Bold"/>
              </a:rPr>
              <a:t>Hipótesis alternativa (H₁)</a:t>
            </a:r>
            <a:r>
              <a:rPr lang="en-US" sz="2799" spc="27">
                <a:solidFill>
                  <a:srgbClr val="000000"/>
                </a:solidFill>
                <a:latin typeface="Arial"/>
                <a:ea typeface="Arial"/>
                <a:cs typeface="Arial"/>
                <a:sym typeface="Arial"/>
              </a:rPr>
              <a:t>: Existe asociación entre el total de alimentos saludables y la tasa de pobreza comunal.</a:t>
            </a:r>
          </a:p>
          <a:p>
            <a:pPr algn="l">
              <a:lnSpc>
                <a:spcPts val="3919"/>
              </a:lnSpc>
              <a:spcBef>
                <a:spcPct val="0"/>
              </a:spcBef>
            </a:pPr>
            <a:r>
              <a:rPr lang="en-US" sz="2799" spc="27">
                <a:solidFill>
                  <a:srgbClr val="000000"/>
                </a:solidFill>
                <a:latin typeface="Arial"/>
                <a:ea typeface="Arial"/>
                <a:cs typeface="Arial"/>
                <a:sym typeface="Arial"/>
              </a:rPr>
              <a:t>      - </a:t>
            </a:r>
            <a:r>
              <a:rPr lang="en-US" sz="2799" spc="27">
                <a:solidFill>
                  <a:srgbClr val="000000"/>
                </a:solidFill>
                <a:latin typeface="Arial"/>
                <a:ea typeface="Arial"/>
                <a:cs typeface="Arial"/>
                <a:sym typeface="Arial"/>
              </a:rPr>
              <a:t>Correlación ≠ 0</a:t>
            </a:r>
          </a:p>
        </p:txBody>
      </p:sp>
      <p:sp>
        <p:nvSpPr>
          <p:cNvPr name="TextBox 20" id="20"/>
          <p:cNvSpPr txBox="true"/>
          <p:nvPr/>
        </p:nvSpPr>
        <p:spPr>
          <a:xfrm rot="0">
            <a:off x="1128833" y="8855075"/>
            <a:ext cx="4203383" cy="431800"/>
          </a:xfrm>
          <a:prstGeom prst="rect">
            <a:avLst/>
          </a:prstGeom>
        </p:spPr>
        <p:txBody>
          <a:bodyPr anchor="t" rtlCol="false" tIns="0" lIns="0" bIns="0" rIns="0">
            <a:spAutoFit/>
          </a:bodyPr>
          <a:lstStyle/>
          <a:p>
            <a:pPr algn="ctr">
              <a:lnSpc>
                <a:spcPts val="3499"/>
              </a:lnSpc>
              <a:spcBef>
                <a:spcPct val="0"/>
              </a:spcBef>
            </a:pPr>
            <a:r>
              <a:rPr lang="en-US" b="true" sz="2499" spc="24">
                <a:solidFill>
                  <a:srgbClr val="000000"/>
                </a:solidFill>
                <a:latin typeface="Times New Roman Bold"/>
                <a:ea typeface="Times New Roman Bold"/>
                <a:cs typeface="Times New Roman Bold"/>
                <a:sym typeface="Times New Roman Bold"/>
              </a:rPr>
              <a:t>Nivel de significancia</a:t>
            </a:r>
            <a:r>
              <a:rPr lang="en-US" sz="2499" spc="24">
                <a:solidFill>
                  <a:srgbClr val="000000"/>
                </a:solidFill>
                <a:latin typeface="Times New Roman"/>
                <a:ea typeface="Times New Roman"/>
                <a:cs typeface="Times New Roman"/>
                <a:sym typeface="Times New Roman"/>
              </a:rPr>
              <a:t>: α = 0.05</a:t>
            </a:r>
          </a:p>
        </p:txBody>
      </p:sp>
      <p:sp>
        <p:nvSpPr>
          <p:cNvPr name="TextBox 21" id="21"/>
          <p:cNvSpPr txBox="true"/>
          <p:nvPr/>
        </p:nvSpPr>
        <p:spPr>
          <a:xfrm rot="0">
            <a:off x="1028694" y="7510050"/>
            <a:ext cx="13764816" cy="1308100"/>
          </a:xfrm>
          <a:prstGeom prst="rect">
            <a:avLst/>
          </a:prstGeom>
        </p:spPr>
        <p:txBody>
          <a:bodyPr anchor="t" rtlCol="false" tIns="0" lIns="0" bIns="0" rIns="0">
            <a:spAutoFit/>
          </a:bodyPr>
          <a:lstStyle/>
          <a:p>
            <a:pPr algn="l">
              <a:lnSpc>
                <a:spcPts val="3499"/>
              </a:lnSpc>
              <a:spcBef>
                <a:spcPct val="0"/>
              </a:spcBef>
            </a:pPr>
            <a:r>
              <a:rPr lang="en-US" b="true" sz="2499" spc="24">
                <a:solidFill>
                  <a:srgbClr val="000000"/>
                </a:solidFill>
                <a:latin typeface="Arial Bold"/>
                <a:ea typeface="Arial Bold"/>
                <a:cs typeface="Arial Bold"/>
                <a:sym typeface="Arial Bold"/>
              </a:rPr>
              <a:t>Variables analizada:</a:t>
            </a:r>
          </a:p>
          <a:p>
            <a:pPr algn="l">
              <a:lnSpc>
                <a:spcPts val="3499"/>
              </a:lnSpc>
              <a:spcBef>
                <a:spcPct val="0"/>
              </a:spcBef>
            </a:pPr>
            <a:r>
              <a:rPr lang="en-US" sz="2499" spc="24">
                <a:solidFill>
                  <a:srgbClr val="000000"/>
                </a:solidFill>
                <a:latin typeface="Arial"/>
                <a:ea typeface="Arial"/>
                <a:cs typeface="Arial"/>
                <a:sym typeface="Arial"/>
              </a:rPr>
              <a:t>Total_alimentos_saludables (disponibilidad de alimentos saludables)</a:t>
            </a:r>
          </a:p>
          <a:p>
            <a:pPr algn="l">
              <a:lnSpc>
                <a:spcPts val="3499"/>
              </a:lnSpc>
              <a:spcBef>
                <a:spcPct val="0"/>
              </a:spcBef>
            </a:pPr>
            <a:r>
              <a:rPr lang="en-US" sz="2499" spc="24">
                <a:solidFill>
                  <a:srgbClr val="000000"/>
                </a:solidFill>
                <a:latin typeface="Arial"/>
                <a:ea typeface="Arial"/>
                <a:cs typeface="Arial"/>
                <a:sym typeface="Arial"/>
              </a:rPr>
              <a:t>pobreza_ingresos_2024 (porcentaje de pobreza por ingresos según SAE 2024, a nivel comuna)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314691" y="9987522"/>
            <a:ext cx="18917381" cy="617085"/>
            <a:chOff x="0" y="0"/>
            <a:chExt cx="2788263" cy="90953"/>
          </a:xfrm>
        </p:grpSpPr>
        <p:sp>
          <p:nvSpPr>
            <p:cNvPr name="Freeform 4" id="4"/>
            <p:cNvSpPr/>
            <p:nvPr/>
          </p:nvSpPr>
          <p:spPr>
            <a:xfrm flipH="false" flipV="false" rot="0">
              <a:off x="0" y="0"/>
              <a:ext cx="2788263" cy="90953"/>
            </a:xfrm>
            <a:custGeom>
              <a:avLst/>
              <a:gdLst/>
              <a:ahLst/>
              <a:cxnLst/>
              <a:rect r="r" b="b" t="t" l="l"/>
              <a:pathLst>
                <a:path h="90953" w="2788263">
                  <a:moveTo>
                    <a:pt x="15551" y="0"/>
                  </a:moveTo>
                  <a:lnTo>
                    <a:pt x="2772711" y="0"/>
                  </a:lnTo>
                  <a:cubicBezTo>
                    <a:pt x="2776836" y="0"/>
                    <a:pt x="2780791" y="1638"/>
                    <a:pt x="2783708" y="4555"/>
                  </a:cubicBezTo>
                  <a:cubicBezTo>
                    <a:pt x="2786624" y="7471"/>
                    <a:pt x="2788263" y="11427"/>
                    <a:pt x="2788263" y="15551"/>
                  </a:cubicBezTo>
                  <a:lnTo>
                    <a:pt x="2788263" y="75402"/>
                  </a:lnTo>
                  <a:cubicBezTo>
                    <a:pt x="2788263" y="79526"/>
                    <a:pt x="2786624" y="83482"/>
                    <a:pt x="2783708" y="86398"/>
                  </a:cubicBezTo>
                  <a:cubicBezTo>
                    <a:pt x="2780791" y="89315"/>
                    <a:pt x="2776836" y="90953"/>
                    <a:pt x="2772711" y="90953"/>
                  </a:cubicBezTo>
                  <a:lnTo>
                    <a:pt x="15551" y="90953"/>
                  </a:lnTo>
                  <a:cubicBezTo>
                    <a:pt x="11427" y="90953"/>
                    <a:pt x="7471" y="89315"/>
                    <a:pt x="4555" y="86398"/>
                  </a:cubicBezTo>
                  <a:cubicBezTo>
                    <a:pt x="1638" y="83482"/>
                    <a:pt x="0" y="79526"/>
                    <a:pt x="0" y="75402"/>
                  </a:cubicBezTo>
                  <a:lnTo>
                    <a:pt x="0" y="15551"/>
                  </a:lnTo>
                  <a:cubicBezTo>
                    <a:pt x="0" y="11427"/>
                    <a:pt x="1638" y="7471"/>
                    <a:pt x="4555" y="4555"/>
                  </a:cubicBezTo>
                  <a:cubicBezTo>
                    <a:pt x="7471" y="1638"/>
                    <a:pt x="11427" y="0"/>
                    <a:pt x="15551"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grpSp>
      <p:sp>
        <p:nvSpPr>
          <p:cNvPr name="Freeform 5" id="5"/>
          <p:cNvSpPr/>
          <p:nvPr/>
        </p:nvSpPr>
        <p:spPr>
          <a:xfrm flipH="false" flipV="false" rot="0">
            <a:off x="-1026531" y="373368"/>
            <a:ext cx="2724332" cy="1490953"/>
          </a:xfrm>
          <a:custGeom>
            <a:avLst/>
            <a:gdLst/>
            <a:ahLst/>
            <a:cxnLst/>
            <a:rect r="r" b="b" t="t" l="l"/>
            <a:pathLst>
              <a:path h="1490953" w="2724332">
                <a:moveTo>
                  <a:pt x="0" y="0"/>
                </a:moveTo>
                <a:lnTo>
                  <a:pt x="2724332" y="0"/>
                </a:lnTo>
                <a:lnTo>
                  <a:pt x="2724332" y="1490953"/>
                </a:lnTo>
                <a:lnTo>
                  <a:pt x="0" y="14909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377812" y="6908877"/>
            <a:ext cx="17532375" cy="2470681"/>
            <a:chOff x="0" y="0"/>
            <a:chExt cx="5497892" cy="774769"/>
          </a:xfrm>
        </p:grpSpPr>
        <p:sp>
          <p:nvSpPr>
            <p:cNvPr name="Freeform 7" id="7"/>
            <p:cNvSpPr/>
            <p:nvPr/>
          </p:nvSpPr>
          <p:spPr>
            <a:xfrm flipH="false" flipV="false" rot="0">
              <a:off x="0" y="0"/>
              <a:ext cx="5497892" cy="774769"/>
            </a:xfrm>
            <a:custGeom>
              <a:avLst/>
              <a:gdLst/>
              <a:ahLst/>
              <a:cxnLst/>
              <a:rect r="r" b="b" t="t" l="l"/>
              <a:pathLst>
                <a:path h="774769" w="5497892">
                  <a:moveTo>
                    <a:pt x="8832" y="0"/>
                  </a:moveTo>
                  <a:lnTo>
                    <a:pt x="5489060" y="0"/>
                  </a:lnTo>
                  <a:cubicBezTo>
                    <a:pt x="5491402" y="0"/>
                    <a:pt x="5493649" y="930"/>
                    <a:pt x="5495305" y="2587"/>
                  </a:cubicBezTo>
                  <a:cubicBezTo>
                    <a:pt x="5496961" y="4243"/>
                    <a:pt x="5497892" y="6489"/>
                    <a:pt x="5497892" y="8832"/>
                  </a:cubicBezTo>
                  <a:lnTo>
                    <a:pt x="5497892" y="765937"/>
                  </a:lnTo>
                  <a:cubicBezTo>
                    <a:pt x="5497892" y="768279"/>
                    <a:pt x="5496961" y="770526"/>
                    <a:pt x="5495305" y="772182"/>
                  </a:cubicBezTo>
                  <a:cubicBezTo>
                    <a:pt x="5493649" y="773838"/>
                    <a:pt x="5491402" y="774769"/>
                    <a:pt x="5489060" y="774769"/>
                  </a:cubicBezTo>
                  <a:lnTo>
                    <a:pt x="8832" y="774769"/>
                  </a:lnTo>
                  <a:cubicBezTo>
                    <a:pt x="6489" y="774769"/>
                    <a:pt x="4243" y="773838"/>
                    <a:pt x="2587" y="772182"/>
                  </a:cubicBezTo>
                  <a:cubicBezTo>
                    <a:pt x="930" y="770526"/>
                    <a:pt x="0" y="768279"/>
                    <a:pt x="0" y="765937"/>
                  </a:cubicBezTo>
                  <a:lnTo>
                    <a:pt x="0" y="8832"/>
                  </a:lnTo>
                  <a:cubicBezTo>
                    <a:pt x="0" y="6489"/>
                    <a:pt x="930" y="4243"/>
                    <a:pt x="2587" y="2587"/>
                  </a:cubicBezTo>
                  <a:cubicBezTo>
                    <a:pt x="4243" y="930"/>
                    <a:pt x="6489" y="0"/>
                    <a:pt x="8832" y="0"/>
                  </a:cubicBezTo>
                  <a:close/>
                </a:path>
              </a:pathLst>
            </a:custGeom>
            <a:solidFill>
              <a:srgbClr val="3165AA"/>
            </a:solidFill>
            <a:ln cap="sq">
              <a:noFill/>
              <a:prstDash val="solid"/>
              <a:miter/>
            </a:ln>
          </p:spPr>
        </p:sp>
        <p:sp>
          <p:nvSpPr>
            <p:cNvPr name="TextBox 8" id="8"/>
            <p:cNvSpPr txBox="true"/>
            <p:nvPr/>
          </p:nvSpPr>
          <p:spPr>
            <a:xfrm>
              <a:off x="0" y="-57150"/>
              <a:ext cx="5497892" cy="831919"/>
            </a:xfrm>
            <a:prstGeom prst="rect">
              <a:avLst/>
            </a:prstGeom>
          </p:spPr>
          <p:txBody>
            <a:bodyPr anchor="ctr" rtlCol="false" tIns="47543" lIns="47543" bIns="47543" rIns="47543"/>
            <a:lstStyle/>
            <a:p>
              <a:pPr algn="ctr">
                <a:lnSpc>
                  <a:spcPts val="3418"/>
                </a:lnSpc>
              </a:pPr>
            </a:p>
          </p:txBody>
        </p:sp>
      </p:grpSp>
      <p:sp>
        <p:nvSpPr>
          <p:cNvPr name="Freeform 9" id="9"/>
          <p:cNvSpPr/>
          <p:nvPr/>
        </p:nvSpPr>
        <p:spPr>
          <a:xfrm flipH="false" flipV="false" rot="0">
            <a:off x="377812" y="2583751"/>
            <a:ext cx="17532375" cy="4580333"/>
          </a:xfrm>
          <a:custGeom>
            <a:avLst/>
            <a:gdLst/>
            <a:ahLst/>
            <a:cxnLst/>
            <a:rect r="r" b="b" t="t" l="l"/>
            <a:pathLst>
              <a:path h="4580333" w="17532375">
                <a:moveTo>
                  <a:pt x="0" y="0"/>
                </a:moveTo>
                <a:lnTo>
                  <a:pt x="17532376" y="0"/>
                </a:lnTo>
                <a:lnTo>
                  <a:pt x="17532376" y="4580333"/>
                </a:lnTo>
                <a:lnTo>
                  <a:pt x="0" y="4580333"/>
                </a:lnTo>
                <a:lnTo>
                  <a:pt x="0" y="0"/>
                </a:lnTo>
                <a:close/>
              </a:path>
            </a:pathLst>
          </a:custGeom>
          <a:blipFill>
            <a:blip r:embed="rId5"/>
            <a:stretch>
              <a:fillRect l="0" t="0" r="0" b="0"/>
            </a:stretch>
          </a:blipFill>
          <a:ln w="85725" cap="sq">
            <a:gradFill>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prstDash val="solid"/>
            <a:miter/>
          </a:ln>
        </p:spPr>
      </p:sp>
      <p:sp>
        <p:nvSpPr>
          <p:cNvPr name="TextBox 10" id="10"/>
          <p:cNvSpPr txBox="true"/>
          <p:nvPr/>
        </p:nvSpPr>
        <p:spPr>
          <a:xfrm rot="0">
            <a:off x="2137100" y="475102"/>
            <a:ext cx="7006900" cy="973455"/>
          </a:xfrm>
          <a:prstGeom prst="rect">
            <a:avLst/>
          </a:prstGeom>
        </p:spPr>
        <p:txBody>
          <a:bodyPr anchor="t" rtlCol="false" tIns="0" lIns="0" bIns="0" rIns="0">
            <a:spAutoFit/>
          </a:bodyPr>
          <a:lstStyle/>
          <a:p>
            <a:pPr algn="l">
              <a:lnSpc>
                <a:spcPts val="7769"/>
              </a:lnSpc>
            </a:pPr>
            <a:r>
              <a:rPr lang="en-US" sz="5550" b="true">
                <a:solidFill>
                  <a:srgbClr val="FFFFFF"/>
                </a:solidFill>
                <a:latin typeface="Arial Bold"/>
                <a:ea typeface="Arial Bold"/>
                <a:cs typeface="Arial Bold"/>
                <a:sym typeface="Arial Bold"/>
              </a:rPr>
              <a:t>Variables clave</a:t>
            </a:r>
          </a:p>
        </p:txBody>
      </p:sp>
      <p:grpSp>
        <p:nvGrpSpPr>
          <p:cNvPr name="Group 11" id="11"/>
          <p:cNvGrpSpPr/>
          <p:nvPr/>
        </p:nvGrpSpPr>
        <p:grpSpPr>
          <a:xfrm rot="0">
            <a:off x="718940" y="7506799"/>
            <a:ext cx="2612256" cy="1345529"/>
            <a:chOff x="0" y="0"/>
            <a:chExt cx="2763311" cy="1423334"/>
          </a:xfrm>
        </p:grpSpPr>
        <p:sp>
          <p:nvSpPr>
            <p:cNvPr name="Freeform 12" id="12"/>
            <p:cNvSpPr/>
            <p:nvPr/>
          </p:nvSpPr>
          <p:spPr>
            <a:xfrm flipH="false" flipV="false" rot="0">
              <a:off x="0" y="0"/>
              <a:ext cx="2763311" cy="1423334"/>
            </a:xfrm>
            <a:custGeom>
              <a:avLst/>
              <a:gdLst/>
              <a:ahLst/>
              <a:cxnLst/>
              <a:rect r="r" b="b" t="t" l="l"/>
              <a:pathLst>
                <a:path h="1423334" w="2763311">
                  <a:moveTo>
                    <a:pt x="88911" y="0"/>
                  </a:moveTo>
                  <a:lnTo>
                    <a:pt x="2674400" y="0"/>
                  </a:lnTo>
                  <a:cubicBezTo>
                    <a:pt x="2697981" y="0"/>
                    <a:pt x="2720596" y="9367"/>
                    <a:pt x="2737270" y="26041"/>
                  </a:cubicBezTo>
                  <a:cubicBezTo>
                    <a:pt x="2753944" y="42715"/>
                    <a:pt x="2763311" y="65330"/>
                    <a:pt x="2763311" y="88911"/>
                  </a:cubicBezTo>
                  <a:lnTo>
                    <a:pt x="2763311" y="1334424"/>
                  </a:lnTo>
                  <a:cubicBezTo>
                    <a:pt x="2763311" y="1358004"/>
                    <a:pt x="2753944" y="1380619"/>
                    <a:pt x="2737270" y="1397293"/>
                  </a:cubicBezTo>
                  <a:cubicBezTo>
                    <a:pt x="2720596" y="1413967"/>
                    <a:pt x="2697981" y="1423334"/>
                    <a:pt x="2674400" y="1423334"/>
                  </a:cubicBezTo>
                  <a:lnTo>
                    <a:pt x="88911" y="1423334"/>
                  </a:lnTo>
                  <a:cubicBezTo>
                    <a:pt x="65330" y="1423334"/>
                    <a:pt x="42715" y="1413967"/>
                    <a:pt x="26041" y="1397293"/>
                  </a:cubicBezTo>
                  <a:cubicBezTo>
                    <a:pt x="9367" y="1380619"/>
                    <a:pt x="0" y="1358004"/>
                    <a:pt x="0" y="1334424"/>
                  </a:cubicBezTo>
                  <a:lnTo>
                    <a:pt x="0" y="88911"/>
                  </a:lnTo>
                  <a:cubicBezTo>
                    <a:pt x="0" y="65330"/>
                    <a:pt x="9367" y="42715"/>
                    <a:pt x="26041" y="26041"/>
                  </a:cubicBezTo>
                  <a:cubicBezTo>
                    <a:pt x="42715" y="9367"/>
                    <a:pt x="65330" y="0"/>
                    <a:pt x="88911" y="0"/>
                  </a:cubicBezTo>
                  <a:close/>
                </a:path>
              </a:pathLst>
            </a:custGeom>
            <a:solidFill>
              <a:srgbClr val="FFFFFF"/>
            </a:solidFill>
            <a:ln cap="rnd">
              <a:noFill/>
              <a:prstDash val="solid"/>
              <a:round/>
            </a:ln>
          </p:spPr>
        </p:sp>
        <p:sp>
          <p:nvSpPr>
            <p:cNvPr name="TextBox 13" id="13"/>
            <p:cNvSpPr txBox="true"/>
            <p:nvPr/>
          </p:nvSpPr>
          <p:spPr>
            <a:xfrm>
              <a:off x="0" y="-57150"/>
              <a:ext cx="2763311" cy="1480484"/>
            </a:xfrm>
            <a:prstGeom prst="rect">
              <a:avLst/>
            </a:prstGeom>
          </p:spPr>
          <p:txBody>
            <a:bodyPr anchor="ctr" rtlCol="false" tIns="12648" lIns="12648" bIns="12648" rIns="12648"/>
            <a:lstStyle/>
            <a:p>
              <a:pPr algn="l">
                <a:lnSpc>
                  <a:spcPts val="2939"/>
                </a:lnSpc>
              </a:pPr>
            </a:p>
          </p:txBody>
        </p:sp>
      </p:grpSp>
      <p:sp>
        <p:nvSpPr>
          <p:cNvPr name="TextBox 14" id="14"/>
          <p:cNvSpPr txBox="true"/>
          <p:nvPr/>
        </p:nvSpPr>
        <p:spPr>
          <a:xfrm rot="0">
            <a:off x="932748" y="7518406"/>
            <a:ext cx="2115319" cy="1308100"/>
          </a:xfrm>
          <a:prstGeom prst="rect">
            <a:avLst/>
          </a:prstGeom>
        </p:spPr>
        <p:txBody>
          <a:bodyPr anchor="t" rtlCol="false" tIns="0" lIns="0" bIns="0" rIns="0">
            <a:spAutoFit/>
          </a:bodyPr>
          <a:lstStyle/>
          <a:p>
            <a:pPr algn="l">
              <a:lnSpc>
                <a:spcPts val="3499"/>
              </a:lnSpc>
            </a:pPr>
            <a:r>
              <a:rPr lang="en-US" sz="2499">
                <a:solidFill>
                  <a:srgbClr val="000000"/>
                </a:solidFill>
                <a:latin typeface="Arial"/>
                <a:ea typeface="Arial"/>
                <a:cs typeface="Arial"/>
                <a:sym typeface="Arial"/>
              </a:rPr>
              <a:t>Guarda las 6 escuelas seleccionadas</a:t>
            </a:r>
          </a:p>
        </p:txBody>
      </p:sp>
      <p:grpSp>
        <p:nvGrpSpPr>
          <p:cNvPr name="Group 15" id="15"/>
          <p:cNvGrpSpPr/>
          <p:nvPr/>
        </p:nvGrpSpPr>
        <p:grpSpPr>
          <a:xfrm rot="0">
            <a:off x="3560445" y="7535039"/>
            <a:ext cx="2328781" cy="1345529"/>
            <a:chOff x="0" y="0"/>
            <a:chExt cx="2463444" cy="1423334"/>
          </a:xfrm>
        </p:grpSpPr>
        <p:sp>
          <p:nvSpPr>
            <p:cNvPr name="Freeform 16" id="16"/>
            <p:cNvSpPr/>
            <p:nvPr/>
          </p:nvSpPr>
          <p:spPr>
            <a:xfrm flipH="false" flipV="false" rot="0">
              <a:off x="0" y="0"/>
              <a:ext cx="2463444" cy="1423334"/>
            </a:xfrm>
            <a:custGeom>
              <a:avLst/>
              <a:gdLst/>
              <a:ahLst/>
              <a:cxnLst/>
              <a:rect r="r" b="b" t="t" l="l"/>
              <a:pathLst>
                <a:path h="1423334" w="2463444">
                  <a:moveTo>
                    <a:pt x="99734" y="0"/>
                  </a:moveTo>
                  <a:lnTo>
                    <a:pt x="2363711" y="0"/>
                  </a:lnTo>
                  <a:cubicBezTo>
                    <a:pt x="2418792" y="0"/>
                    <a:pt x="2463444" y="44652"/>
                    <a:pt x="2463444" y="99734"/>
                  </a:cubicBezTo>
                  <a:lnTo>
                    <a:pt x="2463444" y="1323601"/>
                  </a:lnTo>
                  <a:cubicBezTo>
                    <a:pt x="2463444" y="1378682"/>
                    <a:pt x="2418792" y="1423334"/>
                    <a:pt x="2363711" y="1423334"/>
                  </a:cubicBezTo>
                  <a:lnTo>
                    <a:pt x="99734" y="1423334"/>
                  </a:lnTo>
                  <a:cubicBezTo>
                    <a:pt x="44652" y="1423334"/>
                    <a:pt x="0" y="1378682"/>
                    <a:pt x="0" y="1323601"/>
                  </a:cubicBezTo>
                  <a:lnTo>
                    <a:pt x="0" y="99734"/>
                  </a:lnTo>
                  <a:cubicBezTo>
                    <a:pt x="0" y="44652"/>
                    <a:pt x="44652" y="0"/>
                    <a:pt x="99734" y="0"/>
                  </a:cubicBezTo>
                  <a:close/>
                </a:path>
              </a:pathLst>
            </a:custGeom>
            <a:solidFill>
              <a:srgbClr val="FFFFFF"/>
            </a:solidFill>
            <a:ln cap="rnd">
              <a:noFill/>
              <a:prstDash val="solid"/>
              <a:round/>
            </a:ln>
          </p:spPr>
        </p:sp>
        <p:sp>
          <p:nvSpPr>
            <p:cNvPr name="TextBox 17" id="17"/>
            <p:cNvSpPr txBox="true"/>
            <p:nvPr/>
          </p:nvSpPr>
          <p:spPr>
            <a:xfrm>
              <a:off x="0" y="-57150"/>
              <a:ext cx="2463444" cy="1480484"/>
            </a:xfrm>
            <a:prstGeom prst="rect">
              <a:avLst/>
            </a:prstGeom>
          </p:spPr>
          <p:txBody>
            <a:bodyPr anchor="ctr" rtlCol="false" tIns="12648" lIns="12648" bIns="12648" rIns="12648"/>
            <a:lstStyle/>
            <a:p>
              <a:pPr algn="l">
                <a:lnSpc>
                  <a:spcPts val="2939"/>
                </a:lnSpc>
              </a:pPr>
            </a:p>
          </p:txBody>
        </p:sp>
      </p:grpSp>
      <p:sp>
        <p:nvSpPr>
          <p:cNvPr name="TextBox 18" id="18"/>
          <p:cNvSpPr txBox="true"/>
          <p:nvPr/>
        </p:nvSpPr>
        <p:spPr>
          <a:xfrm rot="0">
            <a:off x="3869880" y="7518406"/>
            <a:ext cx="1770670" cy="1308100"/>
          </a:xfrm>
          <a:prstGeom prst="rect">
            <a:avLst/>
          </a:prstGeom>
        </p:spPr>
        <p:txBody>
          <a:bodyPr anchor="t" rtlCol="false" tIns="0" lIns="0" bIns="0" rIns="0">
            <a:spAutoFit/>
          </a:bodyPr>
          <a:lstStyle/>
          <a:p>
            <a:pPr algn="ctr">
              <a:lnSpc>
                <a:spcPts val="3499"/>
              </a:lnSpc>
            </a:pPr>
            <a:r>
              <a:rPr lang="en-US" sz="2499">
                <a:solidFill>
                  <a:srgbClr val="000000"/>
                </a:solidFill>
                <a:latin typeface="Arial"/>
                <a:ea typeface="Arial"/>
                <a:cs typeface="Arial"/>
                <a:sym typeface="Arial"/>
              </a:rPr>
              <a:t>Registra la comuna por locación</a:t>
            </a:r>
          </a:p>
        </p:txBody>
      </p:sp>
      <p:grpSp>
        <p:nvGrpSpPr>
          <p:cNvPr name="Group 19" id="19"/>
          <p:cNvGrpSpPr/>
          <p:nvPr/>
        </p:nvGrpSpPr>
        <p:grpSpPr>
          <a:xfrm rot="0">
            <a:off x="6063939" y="7506799"/>
            <a:ext cx="4326688" cy="1345529"/>
            <a:chOff x="0" y="0"/>
            <a:chExt cx="4576881" cy="1423334"/>
          </a:xfrm>
        </p:grpSpPr>
        <p:sp>
          <p:nvSpPr>
            <p:cNvPr name="Freeform 20" id="20"/>
            <p:cNvSpPr/>
            <p:nvPr/>
          </p:nvSpPr>
          <p:spPr>
            <a:xfrm flipH="false" flipV="false" rot="0">
              <a:off x="0" y="0"/>
              <a:ext cx="4576881" cy="1423334"/>
            </a:xfrm>
            <a:custGeom>
              <a:avLst/>
              <a:gdLst/>
              <a:ahLst/>
              <a:cxnLst/>
              <a:rect r="r" b="b" t="t" l="l"/>
              <a:pathLst>
                <a:path h="1423334" w="4576881">
                  <a:moveTo>
                    <a:pt x="53680" y="0"/>
                  </a:moveTo>
                  <a:lnTo>
                    <a:pt x="4523201" y="0"/>
                  </a:lnTo>
                  <a:cubicBezTo>
                    <a:pt x="4552847" y="0"/>
                    <a:pt x="4576881" y="24033"/>
                    <a:pt x="4576881" y="53680"/>
                  </a:cubicBezTo>
                  <a:lnTo>
                    <a:pt x="4576881" y="1369654"/>
                  </a:lnTo>
                  <a:cubicBezTo>
                    <a:pt x="4576881" y="1383891"/>
                    <a:pt x="4571225" y="1397545"/>
                    <a:pt x="4561158" y="1407612"/>
                  </a:cubicBezTo>
                  <a:cubicBezTo>
                    <a:pt x="4551091" y="1417679"/>
                    <a:pt x="4537437" y="1423334"/>
                    <a:pt x="4523201" y="1423334"/>
                  </a:cubicBezTo>
                  <a:lnTo>
                    <a:pt x="53680" y="1423334"/>
                  </a:lnTo>
                  <a:cubicBezTo>
                    <a:pt x="39443" y="1423334"/>
                    <a:pt x="25790" y="1417679"/>
                    <a:pt x="15723" y="1407612"/>
                  </a:cubicBezTo>
                  <a:cubicBezTo>
                    <a:pt x="5656" y="1397545"/>
                    <a:pt x="0" y="1383891"/>
                    <a:pt x="0" y="1369654"/>
                  </a:cubicBezTo>
                  <a:lnTo>
                    <a:pt x="0" y="53680"/>
                  </a:lnTo>
                  <a:cubicBezTo>
                    <a:pt x="0" y="24033"/>
                    <a:pt x="24033" y="0"/>
                    <a:pt x="53680" y="0"/>
                  </a:cubicBezTo>
                  <a:close/>
                </a:path>
              </a:pathLst>
            </a:custGeom>
            <a:solidFill>
              <a:srgbClr val="FFFFFF"/>
            </a:solidFill>
            <a:ln cap="rnd">
              <a:noFill/>
              <a:prstDash val="solid"/>
              <a:round/>
            </a:ln>
          </p:spPr>
        </p:sp>
        <p:sp>
          <p:nvSpPr>
            <p:cNvPr name="TextBox 21" id="21"/>
            <p:cNvSpPr txBox="true"/>
            <p:nvPr/>
          </p:nvSpPr>
          <p:spPr>
            <a:xfrm>
              <a:off x="0" y="-57150"/>
              <a:ext cx="4576881" cy="1480484"/>
            </a:xfrm>
            <a:prstGeom prst="rect">
              <a:avLst/>
            </a:prstGeom>
          </p:spPr>
          <p:txBody>
            <a:bodyPr anchor="ctr" rtlCol="false" tIns="12648" lIns="12648" bIns="12648" rIns="12648"/>
            <a:lstStyle/>
            <a:p>
              <a:pPr algn="l">
                <a:lnSpc>
                  <a:spcPts val="2939"/>
                </a:lnSpc>
              </a:pPr>
            </a:p>
          </p:txBody>
        </p:sp>
      </p:grpSp>
      <p:sp>
        <p:nvSpPr>
          <p:cNvPr name="TextBox 22" id="22"/>
          <p:cNvSpPr txBox="true"/>
          <p:nvPr/>
        </p:nvSpPr>
        <p:spPr>
          <a:xfrm rot="0">
            <a:off x="6223282" y="7544228"/>
            <a:ext cx="4008002" cy="1308100"/>
          </a:xfrm>
          <a:prstGeom prst="rect">
            <a:avLst/>
          </a:prstGeom>
        </p:spPr>
        <p:txBody>
          <a:bodyPr anchor="t" rtlCol="false" tIns="0" lIns="0" bIns="0" rIns="0">
            <a:spAutoFit/>
          </a:bodyPr>
          <a:lstStyle/>
          <a:p>
            <a:pPr algn="l">
              <a:lnSpc>
                <a:spcPts val="3499"/>
              </a:lnSpc>
            </a:pPr>
            <a:r>
              <a:rPr lang="en-US" sz="2499">
                <a:solidFill>
                  <a:srgbClr val="000000"/>
                </a:solidFill>
                <a:latin typeface="Arial"/>
                <a:ea typeface="Arial"/>
                <a:cs typeface="Arial"/>
                <a:sym typeface="Arial"/>
              </a:rPr>
              <a:t>Guarda el total de alimentos saludables por registro/comuna</a:t>
            </a:r>
          </a:p>
        </p:txBody>
      </p:sp>
      <p:grpSp>
        <p:nvGrpSpPr>
          <p:cNvPr name="Group 23" id="23"/>
          <p:cNvGrpSpPr/>
          <p:nvPr/>
        </p:nvGrpSpPr>
        <p:grpSpPr>
          <a:xfrm rot="0">
            <a:off x="10590134" y="7506799"/>
            <a:ext cx="4326688" cy="1345529"/>
            <a:chOff x="0" y="0"/>
            <a:chExt cx="4576881" cy="1423334"/>
          </a:xfrm>
        </p:grpSpPr>
        <p:sp>
          <p:nvSpPr>
            <p:cNvPr name="Freeform 24" id="24"/>
            <p:cNvSpPr/>
            <p:nvPr/>
          </p:nvSpPr>
          <p:spPr>
            <a:xfrm flipH="false" flipV="false" rot="0">
              <a:off x="0" y="0"/>
              <a:ext cx="4576881" cy="1423334"/>
            </a:xfrm>
            <a:custGeom>
              <a:avLst/>
              <a:gdLst/>
              <a:ahLst/>
              <a:cxnLst/>
              <a:rect r="r" b="b" t="t" l="l"/>
              <a:pathLst>
                <a:path h="1423334" w="4576881">
                  <a:moveTo>
                    <a:pt x="53680" y="0"/>
                  </a:moveTo>
                  <a:lnTo>
                    <a:pt x="4523201" y="0"/>
                  </a:lnTo>
                  <a:cubicBezTo>
                    <a:pt x="4552847" y="0"/>
                    <a:pt x="4576881" y="24033"/>
                    <a:pt x="4576881" y="53680"/>
                  </a:cubicBezTo>
                  <a:lnTo>
                    <a:pt x="4576881" y="1369654"/>
                  </a:lnTo>
                  <a:cubicBezTo>
                    <a:pt x="4576881" y="1383891"/>
                    <a:pt x="4571225" y="1397545"/>
                    <a:pt x="4561158" y="1407612"/>
                  </a:cubicBezTo>
                  <a:cubicBezTo>
                    <a:pt x="4551091" y="1417679"/>
                    <a:pt x="4537437" y="1423334"/>
                    <a:pt x="4523201" y="1423334"/>
                  </a:cubicBezTo>
                  <a:lnTo>
                    <a:pt x="53680" y="1423334"/>
                  </a:lnTo>
                  <a:cubicBezTo>
                    <a:pt x="39443" y="1423334"/>
                    <a:pt x="25790" y="1417679"/>
                    <a:pt x="15723" y="1407612"/>
                  </a:cubicBezTo>
                  <a:cubicBezTo>
                    <a:pt x="5656" y="1397545"/>
                    <a:pt x="0" y="1383891"/>
                    <a:pt x="0" y="1369654"/>
                  </a:cubicBezTo>
                  <a:lnTo>
                    <a:pt x="0" y="53680"/>
                  </a:lnTo>
                  <a:cubicBezTo>
                    <a:pt x="0" y="24033"/>
                    <a:pt x="24033" y="0"/>
                    <a:pt x="53680" y="0"/>
                  </a:cubicBezTo>
                  <a:close/>
                </a:path>
              </a:pathLst>
            </a:custGeom>
            <a:solidFill>
              <a:srgbClr val="FFFFFF"/>
            </a:solidFill>
            <a:ln cap="rnd">
              <a:noFill/>
              <a:prstDash val="solid"/>
              <a:round/>
            </a:ln>
          </p:spPr>
        </p:sp>
        <p:sp>
          <p:nvSpPr>
            <p:cNvPr name="TextBox 25" id="25"/>
            <p:cNvSpPr txBox="true"/>
            <p:nvPr/>
          </p:nvSpPr>
          <p:spPr>
            <a:xfrm>
              <a:off x="0" y="-57150"/>
              <a:ext cx="4576881" cy="1480484"/>
            </a:xfrm>
            <a:prstGeom prst="rect">
              <a:avLst/>
            </a:prstGeom>
          </p:spPr>
          <p:txBody>
            <a:bodyPr anchor="ctr" rtlCol="false" tIns="12648" lIns="12648" bIns="12648" rIns="12648"/>
            <a:lstStyle/>
            <a:p>
              <a:pPr algn="l">
                <a:lnSpc>
                  <a:spcPts val="2939"/>
                </a:lnSpc>
              </a:pPr>
            </a:p>
          </p:txBody>
        </p:sp>
      </p:grpSp>
      <p:sp>
        <p:nvSpPr>
          <p:cNvPr name="TextBox 26" id="26"/>
          <p:cNvSpPr txBox="true"/>
          <p:nvPr/>
        </p:nvSpPr>
        <p:spPr>
          <a:xfrm rot="0">
            <a:off x="10724002" y="7572467"/>
            <a:ext cx="4012202" cy="1308100"/>
          </a:xfrm>
          <a:prstGeom prst="rect">
            <a:avLst/>
          </a:prstGeom>
        </p:spPr>
        <p:txBody>
          <a:bodyPr anchor="t" rtlCol="false" tIns="0" lIns="0" bIns="0" rIns="0">
            <a:spAutoFit/>
          </a:bodyPr>
          <a:lstStyle/>
          <a:p>
            <a:pPr algn="l">
              <a:lnSpc>
                <a:spcPts val="3499"/>
              </a:lnSpc>
            </a:pPr>
            <a:r>
              <a:rPr lang="en-US" sz="2499">
                <a:solidFill>
                  <a:srgbClr val="000000"/>
                </a:solidFill>
                <a:latin typeface="Arial"/>
                <a:ea typeface="Arial"/>
                <a:cs typeface="Arial"/>
                <a:sym typeface="Arial"/>
              </a:rPr>
              <a:t>Registra el indice de pobreza por comuna, según datos del mineduc</a:t>
            </a:r>
          </a:p>
        </p:txBody>
      </p:sp>
      <p:grpSp>
        <p:nvGrpSpPr>
          <p:cNvPr name="Group 27" id="27"/>
          <p:cNvGrpSpPr/>
          <p:nvPr/>
        </p:nvGrpSpPr>
        <p:grpSpPr>
          <a:xfrm rot="0">
            <a:off x="15088273" y="7480978"/>
            <a:ext cx="2784080" cy="1345529"/>
            <a:chOff x="0" y="0"/>
            <a:chExt cx="2945070" cy="1423334"/>
          </a:xfrm>
        </p:grpSpPr>
        <p:sp>
          <p:nvSpPr>
            <p:cNvPr name="Freeform 28" id="28"/>
            <p:cNvSpPr/>
            <p:nvPr/>
          </p:nvSpPr>
          <p:spPr>
            <a:xfrm flipH="false" flipV="false" rot="0">
              <a:off x="0" y="0"/>
              <a:ext cx="2945070" cy="1423334"/>
            </a:xfrm>
            <a:custGeom>
              <a:avLst/>
              <a:gdLst/>
              <a:ahLst/>
              <a:cxnLst/>
              <a:rect r="r" b="b" t="t" l="l"/>
              <a:pathLst>
                <a:path h="1423334" w="2945070">
                  <a:moveTo>
                    <a:pt x="83423" y="0"/>
                  </a:moveTo>
                  <a:lnTo>
                    <a:pt x="2861647" y="0"/>
                  </a:lnTo>
                  <a:cubicBezTo>
                    <a:pt x="2883772" y="0"/>
                    <a:pt x="2904991" y="8789"/>
                    <a:pt x="2920636" y="24434"/>
                  </a:cubicBezTo>
                  <a:cubicBezTo>
                    <a:pt x="2936281" y="40079"/>
                    <a:pt x="2945070" y="61298"/>
                    <a:pt x="2945070" y="83423"/>
                  </a:cubicBezTo>
                  <a:lnTo>
                    <a:pt x="2945070" y="1339911"/>
                  </a:lnTo>
                  <a:cubicBezTo>
                    <a:pt x="2945070" y="1362036"/>
                    <a:pt x="2936281" y="1383255"/>
                    <a:pt x="2920636" y="1398900"/>
                  </a:cubicBezTo>
                  <a:cubicBezTo>
                    <a:pt x="2904991" y="1414545"/>
                    <a:pt x="2883772" y="1423334"/>
                    <a:pt x="2861647" y="1423334"/>
                  </a:cubicBezTo>
                  <a:lnTo>
                    <a:pt x="83423" y="1423334"/>
                  </a:lnTo>
                  <a:cubicBezTo>
                    <a:pt x="61298" y="1423334"/>
                    <a:pt x="40079" y="1414545"/>
                    <a:pt x="24434" y="1398900"/>
                  </a:cubicBezTo>
                  <a:cubicBezTo>
                    <a:pt x="8789" y="1383255"/>
                    <a:pt x="0" y="1362036"/>
                    <a:pt x="0" y="1339911"/>
                  </a:cubicBezTo>
                  <a:lnTo>
                    <a:pt x="0" y="83423"/>
                  </a:lnTo>
                  <a:cubicBezTo>
                    <a:pt x="0" y="61298"/>
                    <a:pt x="8789" y="40079"/>
                    <a:pt x="24434" y="24434"/>
                  </a:cubicBezTo>
                  <a:cubicBezTo>
                    <a:pt x="40079" y="8789"/>
                    <a:pt x="61298" y="0"/>
                    <a:pt x="83423" y="0"/>
                  </a:cubicBezTo>
                  <a:close/>
                </a:path>
              </a:pathLst>
            </a:custGeom>
            <a:solidFill>
              <a:srgbClr val="FFFFFF"/>
            </a:solidFill>
            <a:ln cap="rnd">
              <a:noFill/>
              <a:prstDash val="solid"/>
              <a:round/>
            </a:ln>
          </p:spPr>
        </p:sp>
        <p:sp>
          <p:nvSpPr>
            <p:cNvPr name="TextBox 29" id="29"/>
            <p:cNvSpPr txBox="true"/>
            <p:nvPr/>
          </p:nvSpPr>
          <p:spPr>
            <a:xfrm>
              <a:off x="0" y="-57150"/>
              <a:ext cx="2945070" cy="1480484"/>
            </a:xfrm>
            <a:prstGeom prst="rect">
              <a:avLst/>
            </a:prstGeom>
          </p:spPr>
          <p:txBody>
            <a:bodyPr anchor="ctr" rtlCol="false" tIns="12648" lIns="12648" bIns="12648" rIns="12648"/>
            <a:lstStyle/>
            <a:p>
              <a:pPr algn="l">
                <a:lnSpc>
                  <a:spcPts val="2939"/>
                </a:lnSpc>
              </a:pPr>
            </a:p>
          </p:txBody>
        </p:sp>
      </p:grpSp>
      <p:sp>
        <p:nvSpPr>
          <p:cNvPr name="TextBox 30" id="30"/>
          <p:cNvSpPr txBox="true"/>
          <p:nvPr/>
        </p:nvSpPr>
        <p:spPr>
          <a:xfrm rot="0">
            <a:off x="15145423" y="7477889"/>
            <a:ext cx="2756023" cy="1308100"/>
          </a:xfrm>
          <a:prstGeom prst="rect">
            <a:avLst/>
          </a:prstGeom>
        </p:spPr>
        <p:txBody>
          <a:bodyPr anchor="t" rtlCol="false" tIns="0" lIns="0" bIns="0" rIns="0">
            <a:spAutoFit/>
          </a:bodyPr>
          <a:lstStyle/>
          <a:p>
            <a:pPr algn="l">
              <a:lnSpc>
                <a:spcPts val="3499"/>
              </a:lnSpc>
            </a:pPr>
            <a:r>
              <a:rPr lang="en-US" sz="2499">
                <a:solidFill>
                  <a:srgbClr val="000000"/>
                </a:solidFill>
                <a:latin typeface="Arial"/>
                <a:ea typeface="Arial"/>
                <a:cs typeface="Arial"/>
                <a:sym typeface="Arial"/>
              </a:rPr>
              <a:t>Registra el numero de estudiantes por establecimiento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15440351" y="283224"/>
            <a:ext cx="2724332" cy="1490953"/>
          </a:xfrm>
          <a:custGeom>
            <a:avLst/>
            <a:gdLst/>
            <a:ahLst/>
            <a:cxnLst/>
            <a:rect r="r" b="b" t="t" l="l"/>
            <a:pathLst>
              <a:path h="1490953" w="2724332">
                <a:moveTo>
                  <a:pt x="0" y="0"/>
                </a:moveTo>
                <a:lnTo>
                  <a:pt x="2724332" y="0"/>
                </a:lnTo>
                <a:lnTo>
                  <a:pt x="2724332" y="1490952"/>
                </a:lnTo>
                <a:lnTo>
                  <a:pt x="0" y="14909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58200" y="884608"/>
            <a:ext cx="7241607" cy="4102526"/>
            <a:chOff x="0" y="0"/>
            <a:chExt cx="9655476" cy="5470035"/>
          </a:xfrm>
        </p:grpSpPr>
        <p:grpSp>
          <p:nvGrpSpPr>
            <p:cNvPr name="Group 5" id="5"/>
            <p:cNvGrpSpPr/>
            <p:nvPr/>
          </p:nvGrpSpPr>
          <p:grpSpPr>
            <a:xfrm rot="-10800000">
              <a:off x="0" y="4576805"/>
              <a:ext cx="9655476" cy="893230"/>
              <a:chOff x="0" y="0"/>
              <a:chExt cx="3780846" cy="349767"/>
            </a:xfrm>
          </p:grpSpPr>
          <p:sp>
            <p:nvSpPr>
              <p:cNvPr name="Freeform 6" id="6"/>
              <p:cNvSpPr/>
              <p:nvPr/>
            </p:nvSpPr>
            <p:spPr>
              <a:xfrm flipH="false" flipV="false" rot="0">
                <a:off x="0" y="0"/>
                <a:ext cx="3780846" cy="349767"/>
              </a:xfrm>
              <a:custGeom>
                <a:avLst/>
                <a:gdLst/>
                <a:ahLst/>
                <a:cxnLst/>
                <a:rect r="r" b="b" t="t" l="l"/>
                <a:pathLst>
                  <a:path h="349767" w="3780846">
                    <a:moveTo>
                      <a:pt x="24555" y="0"/>
                    </a:moveTo>
                    <a:lnTo>
                      <a:pt x="3756291" y="0"/>
                    </a:lnTo>
                    <a:cubicBezTo>
                      <a:pt x="3762803" y="0"/>
                      <a:pt x="3769049" y="2587"/>
                      <a:pt x="3773654" y="7192"/>
                    </a:cubicBezTo>
                    <a:cubicBezTo>
                      <a:pt x="3778259" y="11797"/>
                      <a:pt x="3780846" y="18043"/>
                      <a:pt x="3780846" y="24555"/>
                    </a:cubicBezTo>
                    <a:lnTo>
                      <a:pt x="3780846" y="325212"/>
                    </a:lnTo>
                    <a:cubicBezTo>
                      <a:pt x="3780846" y="331724"/>
                      <a:pt x="3778259" y="337970"/>
                      <a:pt x="3773654" y="342575"/>
                    </a:cubicBezTo>
                    <a:cubicBezTo>
                      <a:pt x="3769049" y="347180"/>
                      <a:pt x="3762803" y="349767"/>
                      <a:pt x="3756291" y="349767"/>
                    </a:cubicBezTo>
                    <a:lnTo>
                      <a:pt x="24555" y="349767"/>
                    </a:lnTo>
                    <a:cubicBezTo>
                      <a:pt x="18043" y="349767"/>
                      <a:pt x="11797" y="347180"/>
                      <a:pt x="7192" y="342575"/>
                    </a:cubicBezTo>
                    <a:cubicBezTo>
                      <a:pt x="2587" y="337970"/>
                      <a:pt x="0" y="331724"/>
                      <a:pt x="0" y="325212"/>
                    </a:cubicBezTo>
                    <a:lnTo>
                      <a:pt x="0" y="24555"/>
                    </a:lnTo>
                    <a:cubicBezTo>
                      <a:pt x="0" y="18043"/>
                      <a:pt x="2587" y="11797"/>
                      <a:pt x="7192" y="7192"/>
                    </a:cubicBezTo>
                    <a:cubicBezTo>
                      <a:pt x="11797" y="2587"/>
                      <a:pt x="18043" y="0"/>
                      <a:pt x="2455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7" id="7"/>
              <p:cNvSpPr txBox="true"/>
              <p:nvPr/>
            </p:nvSpPr>
            <p:spPr>
              <a:xfrm>
                <a:off x="0" y="-38100"/>
                <a:ext cx="3780846" cy="387867"/>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8" id="8"/>
            <p:cNvGrpSpPr/>
            <p:nvPr/>
          </p:nvGrpSpPr>
          <p:grpSpPr>
            <a:xfrm rot="0">
              <a:off x="0" y="0"/>
              <a:ext cx="9655476" cy="5273528"/>
              <a:chOff x="0" y="0"/>
              <a:chExt cx="3780846" cy="2064983"/>
            </a:xfrm>
          </p:grpSpPr>
          <p:sp>
            <p:nvSpPr>
              <p:cNvPr name="Freeform 9" id="9"/>
              <p:cNvSpPr/>
              <p:nvPr/>
            </p:nvSpPr>
            <p:spPr>
              <a:xfrm flipH="false" flipV="false" rot="0">
                <a:off x="0" y="0"/>
                <a:ext cx="3780846" cy="2064983"/>
              </a:xfrm>
              <a:custGeom>
                <a:avLst/>
                <a:gdLst/>
                <a:ahLst/>
                <a:cxnLst/>
                <a:rect r="r" b="b" t="t" l="l"/>
                <a:pathLst>
                  <a:path h="2064983" w="3780846">
                    <a:moveTo>
                      <a:pt x="24555" y="0"/>
                    </a:moveTo>
                    <a:lnTo>
                      <a:pt x="3756291" y="0"/>
                    </a:lnTo>
                    <a:cubicBezTo>
                      <a:pt x="3762803" y="0"/>
                      <a:pt x="3769049" y="2587"/>
                      <a:pt x="3773654" y="7192"/>
                    </a:cubicBezTo>
                    <a:cubicBezTo>
                      <a:pt x="3778259" y="11797"/>
                      <a:pt x="3780846" y="18043"/>
                      <a:pt x="3780846" y="24555"/>
                    </a:cubicBezTo>
                    <a:lnTo>
                      <a:pt x="3780846" y="2040429"/>
                    </a:lnTo>
                    <a:cubicBezTo>
                      <a:pt x="3780846" y="2053990"/>
                      <a:pt x="3769852" y="2064983"/>
                      <a:pt x="3756291" y="2064983"/>
                    </a:cubicBezTo>
                    <a:lnTo>
                      <a:pt x="24555" y="2064983"/>
                    </a:lnTo>
                    <a:cubicBezTo>
                      <a:pt x="18043" y="2064983"/>
                      <a:pt x="11797" y="2062396"/>
                      <a:pt x="7192" y="2057791"/>
                    </a:cubicBezTo>
                    <a:cubicBezTo>
                      <a:pt x="2587" y="2053186"/>
                      <a:pt x="0" y="2046941"/>
                      <a:pt x="0" y="2040429"/>
                    </a:cubicBezTo>
                    <a:lnTo>
                      <a:pt x="0" y="24555"/>
                    </a:lnTo>
                    <a:cubicBezTo>
                      <a:pt x="0" y="18043"/>
                      <a:pt x="2587" y="11797"/>
                      <a:pt x="7192" y="7192"/>
                    </a:cubicBezTo>
                    <a:cubicBezTo>
                      <a:pt x="11797" y="2587"/>
                      <a:pt x="18043" y="0"/>
                      <a:pt x="24555" y="0"/>
                    </a:cubicBezTo>
                    <a:close/>
                  </a:path>
                </a:pathLst>
              </a:custGeom>
              <a:solidFill>
                <a:srgbClr val="FFFFFF"/>
              </a:solidFill>
              <a:ln cap="rnd">
                <a:noFill/>
                <a:prstDash val="solid"/>
                <a:round/>
              </a:ln>
            </p:spPr>
          </p:sp>
          <p:sp>
            <p:nvSpPr>
              <p:cNvPr name="TextBox 10" id="10"/>
              <p:cNvSpPr txBox="true"/>
              <p:nvPr/>
            </p:nvSpPr>
            <p:spPr>
              <a:xfrm>
                <a:off x="0" y="-38100"/>
                <a:ext cx="3780846" cy="2103083"/>
              </a:xfrm>
              <a:prstGeom prst="rect">
                <a:avLst/>
              </a:prstGeom>
            </p:spPr>
            <p:txBody>
              <a:bodyPr anchor="ctr" rtlCol="false" tIns="50800" lIns="50800" bIns="50800" rIns="50800"/>
              <a:lstStyle/>
              <a:p>
                <a:pPr algn="ctr">
                  <a:lnSpc>
                    <a:spcPts val="2940"/>
                  </a:lnSpc>
                </a:pPr>
              </a:p>
            </p:txBody>
          </p:sp>
        </p:grpSp>
      </p:grpSp>
      <p:grpSp>
        <p:nvGrpSpPr>
          <p:cNvPr name="Group 11" id="11"/>
          <p:cNvGrpSpPr/>
          <p:nvPr/>
        </p:nvGrpSpPr>
        <p:grpSpPr>
          <a:xfrm rot="0">
            <a:off x="-314691" y="9987522"/>
            <a:ext cx="18917381" cy="617085"/>
            <a:chOff x="0" y="0"/>
            <a:chExt cx="2788263" cy="90953"/>
          </a:xfrm>
        </p:grpSpPr>
        <p:sp>
          <p:nvSpPr>
            <p:cNvPr name="Freeform 12" id="12"/>
            <p:cNvSpPr/>
            <p:nvPr/>
          </p:nvSpPr>
          <p:spPr>
            <a:xfrm flipH="false" flipV="false" rot="0">
              <a:off x="0" y="0"/>
              <a:ext cx="2788263" cy="90953"/>
            </a:xfrm>
            <a:custGeom>
              <a:avLst/>
              <a:gdLst/>
              <a:ahLst/>
              <a:cxnLst/>
              <a:rect r="r" b="b" t="t" l="l"/>
              <a:pathLst>
                <a:path h="90953" w="2788263">
                  <a:moveTo>
                    <a:pt x="15551" y="0"/>
                  </a:moveTo>
                  <a:lnTo>
                    <a:pt x="2772711" y="0"/>
                  </a:lnTo>
                  <a:cubicBezTo>
                    <a:pt x="2776836" y="0"/>
                    <a:pt x="2780791" y="1638"/>
                    <a:pt x="2783708" y="4555"/>
                  </a:cubicBezTo>
                  <a:cubicBezTo>
                    <a:pt x="2786624" y="7471"/>
                    <a:pt x="2788263" y="11427"/>
                    <a:pt x="2788263" y="15551"/>
                  </a:cubicBezTo>
                  <a:lnTo>
                    <a:pt x="2788263" y="75402"/>
                  </a:lnTo>
                  <a:cubicBezTo>
                    <a:pt x="2788263" y="79526"/>
                    <a:pt x="2786624" y="83482"/>
                    <a:pt x="2783708" y="86398"/>
                  </a:cubicBezTo>
                  <a:cubicBezTo>
                    <a:pt x="2780791" y="89315"/>
                    <a:pt x="2776836" y="90953"/>
                    <a:pt x="2772711" y="90953"/>
                  </a:cubicBezTo>
                  <a:lnTo>
                    <a:pt x="15551" y="90953"/>
                  </a:lnTo>
                  <a:cubicBezTo>
                    <a:pt x="11427" y="90953"/>
                    <a:pt x="7471" y="89315"/>
                    <a:pt x="4555" y="86398"/>
                  </a:cubicBezTo>
                  <a:cubicBezTo>
                    <a:pt x="1638" y="83482"/>
                    <a:pt x="0" y="79526"/>
                    <a:pt x="0" y="75402"/>
                  </a:cubicBezTo>
                  <a:lnTo>
                    <a:pt x="0" y="15551"/>
                  </a:lnTo>
                  <a:cubicBezTo>
                    <a:pt x="0" y="11427"/>
                    <a:pt x="1638" y="7471"/>
                    <a:pt x="4555" y="4555"/>
                  </a:cubicBezTo>
                  <a:cubicBezTo>
                    <a:pt x="7471" y="1638"/>
                    <a:pt x="11427" y="0"/>
                    <a:pt x="15551"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grpSp>
      <p:pic>
        <p:nvPicPr>
          <p:cNvPr name="Picture 13" id="13"/>
          <p:cNvPicPr>
            <a:picLocks noChangeAspect="true"/>
          </p:cNvPicPr>
          <p:nvPr/>
        </p:nvPicPr>
        <p:blipFill>
          <a:blip r:embed="rId5"/>
          <a:stretch>
            <a:fillRect/>
          </a:stretch>
        </p:blipFill>
        <p:spPr>
          <a:xfrm rot="0">
            <a:off x="7462609" y="-239503"/>
            <a:ext cx="11194237" cy="10766005"/>
          </a:xfrm>
          <a:prstGeom prst="rect">
            <a:avLst/>
          </a:prstGeom>
        </p:spPr>
      </p:pic>
      <p:sp>
        <p:nvSpPr>
          <p:cNvPr name="Freeform 14" id="14"/>
          <p:cNvSpPr/>
          <p:nvPr/>
        </p:nvSpPr>
        <p:spPr>
          <a:xfrm flipH="false" flipV="false" rot="0">
            <a:off x="658200" y="5463261"/>
            <a:ext cx="7241607" cy="2768027"/>
          </a:xfrm>
          <a:custGeom>
            <a:avLst/>
            <a:gdLst/>
            <a:ahLst/>
            <a:cxnLst/>
            <a:rect r="r" b="b" t="t" l="l"/>
            <a:pathLst>
              <a:path h="2768027" w="7241607">
                <a:moveTo>
                  <a:pt x="0" y="0"/>
                </a:moveTo>
                <a:lnTo>
                  <a:pt x="7241607" y="0"/>
                </a:lnTo>
                <a:lnTo>
                  <a:pt x="7241607" y="2768027"/>
                </a:lnTo>
                <a:lnTo>
                  <a:pt x="0" y="2768027"/>
                </a:lnTo>
                <a:lnTo>
                  <a:pt x="0" y="0"/>
                </a:lnTo>
                <a:close/>
              </a:path>
            </a:pathLst>
          </a:custGeom>
          <a:blipFill>
            <a:blip r:embed="rId6"/>
            <a:stretch>
              <a:fillRect l="0" t="0" r="0" b="0"/>
            </a:stretch>
          </a:blipFill>
        </p:spPr>
      </p:sp>
      <p:sp>
        <p:nvSpPr>
          <p:cNvPr name="TextBox 15" id="15"/>
          <p:cNvSpPr txBox="true"/>
          <p:nvPr/>
        </p:nvSpPr>
        <p:spPr>
          <a:xfrm rot="0">
            <a:off x="1340076" y="1036423"/>
            <a:ext cx="5814882" cy="739798"/>
          </a:xfrm>
          <a:prstGeom prst="rect">
            <a:avLst/>
          </a:prstGeom>
        </p:spPr>
        <p:txBody>
          <a:bodyPr anchor="t" rtlCol="false" tIns="0" lIns="0" bIns="0" rIns="0">
            <a:spAutoFit/>
          </a:bodyPr>
          <a:lstStyle/>
          <a:p>
            <a:pPr algn="l">
              <a:lnSpc>
                <a:spcPts val="5948"/>
              </a:lnSpc>
            </a:pPr>
            <a:r>
              <a:rPr lang="en-US" sz="4249" b="true">
                <a:solidFill>
                  <a:srgbClr val="0B1B45"/>
                </a:solidFill>
                <a:latin typeface="Arial Bold"/>
                <a:ea typeface="Arial Bold"/>
                <a:cs typeface="Arial Bold"/>
                <a:sym typeface="Arial Bold"/>
              </a:rPr>
              <a:t>Primera comparación</a:t>
            </a:r>
          </a:p>
        </p:txBody>
      </p:sp>
      <p:sp>
        <p:nvSpPr>
          <p:cNvPr name="TextBox 16" id="16"/>
          <p:cNvSpPr txBox="true"/>
          <p:nvPr/>
        </p:nvSpPr>
        <p:spPr>
          <a:xfrm rot="0">
            <a:off x="1306079" y="2968329"/>
            <a:ext cx="6011494" cy="1746323"/>
          </a:xfrm>
          <a:prstGeom prst="rect">
            <a:avLst/>
          </a:prstGeom>
        </p:spPr>
        <p:txBody>
          <a:bodyPr anchor="t" rtlCol="false" tIns="0" lIns="0" bIns="0" rIns="0">
            <a:spAutoFit/>
          </a:bodyPr>
          <a:lstStyle/>
          <a:p>
            <a:pPr algn="l" marL="0" indent="0" lvl="0">
              <a:lnSpc>
                <a:spcPts val="3495"/>
              </a:lnSpc>
              <a:spcBef>
                <a:spcPct val="0"/>
              </a:spcBef>
            </a:pPr>
            <a:r>
              <a:rPr lang="en-US" sz="2497">
                <a:solidFill>
                  <a:srgbClr val="0B1B45"/>
                </a:solidFill>
                <a:latin typeface="Arial"/>
                <a:ea typeface="Arial"/>
                <a:cs typeface="Arial"/>
                <a:sym typeface="Arial"/>
              </a:rPr>
              <a:t>La primera comparación y más basica, permite observar la disponibilidad de alimentos saludables, unicamente por comuna</a:t>
            </a:r>
          </a:p>
        </p:txBody>
      </p:sp>
      <p:sp>
        <p:nvSpPr>
          <p:cNvPr name="TextBox 17" id="17"/>
          <p:cNvSpPr txBox="true"/>
          <p:nvPr/>
        </p:nvSpPr>
        <p:spPr>
          <a:xfrm rot="0">
            <a:off x="1435326" y="1933180"/>
            <a:ext cx="5313359" cy="763891"/>
          </a:xfrm>
          <a:prstGeom prst="rect">
            <a:avLst/>
          </a:prstGeom>
        </p:spPr>
        <p:txBody>
          <a:bodyPr anchor="t" rtlCol="false" tIns="0" lIns="0" bIns="0" rIns="0">
            <a:spAutoFit/>
          </a:bodyPr>
          <a:lstStyle/>
          <a:p>
            <a:pPr algn="l">
              <a:lnSpc>
                <a:spcPts val="3045"/>
              </a:lnSpc>
            </a:pPr>
            <a:r>
              <a:rPr lang="en-US" sz="2175" spc="108">
                <a:solidFill>
                  <a:srgbClr val="FFFFFF"/>
                </a:solidFill>
                <a:latin typeface="Arial"/>
                <a:ea typeface="Arial"/>
                <a:cs typeface="Arial"/>
                <a:sym typeface="Arial"/>
              </a:rPr>
              <a:t>MEDIA DE ALIMENTOS SALUDABLES POR COMUNA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15440351" y="283224"/>
            <a:ext cx="2724332" cy="1490953"/>
          </a:xfrm>
          <a:custGeom>
            <a:avLst/>
            <a:gdLst/>
            <a:ahLst/>
            <a:cxnLst/>
            <a:rect r="r" b="b" t="t" l="l"/>
            <a:pathLst>
              <a:path h="1490953" w="2724332">
                <a:moveTo>
                  <a:pt x="0" y="0"/>
                </a:moveTo>
                <a:lnTo>
                  <a:pt x="2724332" y="0"/>
                </a:lnTo>
                <a:lnTo>
                  <a:pt x="2724332" y="1490952"/>
                </a:lnTo>
                <a:lnTo>
                  <a:pt x="0" y="14909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70595" y="211465"/>
            <a:ext cx="9450551" cy="1926778"/>
            <a:chOff x="0" y="0"/>
            <a:chExt cx="12600735" cy="2569038"/>
          </a:xfrm>
        </p:grpSpPr>
        <p:grpSp>
          <p:nvGrpSpPr>
            <p:cNvPr name="Group 5" id="5"/>
            <p:cNvGrpSpPr/>
            <p:nvPr/>
          </p:nvGrpSpPr>
          <p:grpSpPr>
            <a:xfrm rot="-10800000">
              <a:off x="92221" y="2156855"/>
              <a:ext cx="12393238" cy="412183"/>
              <a:chOff x="0" y="0"/>
              <a:chExt cx="10208732" cy="339529"/>
            </a:xfrm>
          </p:grpSpPr>
          <p:sp>
            <p:nvSpPr>
              <p:cNvPr name="Freeform 6" id="6"/>
              <p:cNvSpPr/>
              <p:nvPr/>
            </p:nvSpPr>
            <p:spPr>
              <a:xfrm flipH="false" flipV="false" rot="0">
                <a:off x="0" y="0"/>
                <a:ext cx="10208732" cy="339529"/>
              </a:xfrm>
              <a:custGeom>
                <a:avLst/>
                <a:gdLst/>
                <a:ahLst/>
                <a:cxnLst/>
                <a:rect r="r" b="b" t="t" l="l"/>
                <a:pathLst>
                  <a:path h="339529" w="10208732">
                    <a:moveTo>
                      <a:pt x="9094" y="0"/>
                    </a:moveTo>
                    <a:lnTo>
                      <a:pt x="10199638" y="0"/>
                    </a:lnTo>
                    <a:cubicBezTo>
                      <a:pt x="10202050" y="0"/>
                      <a:pt x="10204363" y="958"/>
                      <a:pt x="10206069" y="2664"/>
                    </a:cubicBezTo>
                    <a:cubicBezTo>
                      <a:pt x="10207774" y="4369"/>
                      <a:pt x="10208732" y="6682"/>
                      <a:pt x="10208732" y="9094"/>
                    </a:cubicBezTo>
                    <a:lnTo>
                      <a:pt x="10208732" y="330435"/>
                    </a:lnTo>
                    <a:cubicBezTo>
                      <a:pt x="10208732" y="332847"/>
                      <a:pt x="10207774" y="335160"/>
                      <a:pt x="10206069" y="336865"/>
                    </a:cubicBezTo>
                    <a:cubicBezTo>
                      <a:pt x="10204363" y="338571"/>
                      <a:pt x="10202050" y="339529"/>
                      <a:pt x="10199638" y="339529"/>
                    </a:cubicBezTo>
                    <a:lnTo>
                      <a:pt x="9094" y="339529"/>
                    </a:lnTo>
                    <a:cubicBezTo>
                      <a:pt x="6682" y="339529"/>
                      <a:pt x="4369" y="338571"/>
                      <a:pt x="2664" y="336865"/>
                    </a:cubicBezTo>
                    <a:cubicBezTo>
                      <a:pt x="958" y="335160"/>
                      <a:pt x="0" y="332847"/>
                      <a:pt x="0" y="330435"/>
                    </a:cubicBezTo>
                    <a:lnTo>
                      <a:pt x="0" y="9094"/>
                    </a:lnTo>
                    <a:cubicBezTo>
                      <a:pt x="0" y="6682"/>
                      <a:pt x="958" y="4369"/>
                      <a:pt x="2664" y="2664"/>
                    </a:cubicBezTo>
                    <a:cubicBezTo>
                      <a:pt x="4369" y="958"/>
                      <a:pt x="6682" y="0"/>
                      <a:pt x="9094"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7" id="7"/>
              <p:cNvSpPr txBox="true"/>
              <p:nvPr/>
            </p:nvSpPr>
            <p:spPr>
              <a:xfrm>
                <a:off x="0" y="-38100"/>
                <a:ext cx="10208732" cy="377629"/>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8" id="8"/>
            <p:cNvGrpSpPr/>
            <p:nvPr/>
          </p:nvGrpSpPr>
          <p:grpSpPr>
            <a:xfrm rot="0">
              <a:off x="0" y="0"/>
              <a:ext cx="12600735" cy="2433480"/>
              <a:chOff x="0" y="0"/>
              <a:chExt cx="10379654" cy="2004541"/>
            </a:xfrm>
          </p:grpSpPr>
          <p:sp>
            <p:nvSpPr>
              <p:cNvPr name="Freeform 9" id="9"/>
              <p:cNvSpPr/>
              <p:nvPr/>
            </p:nvSpPr>
            <p:spPr>
              <a:xfrm flipH="false" flipV="false" rot="0">
                <a:off x="0" y="0"/>
                <a:ext cx="10379654" cy="2004541"/>
              </a:xfrm>
              <a:custGeom>
                <a:avLst/>
                <a:gdLst/>
                <a:ahLst/>
                <a:cxnLst/>
                <a:rect r="r" b="b" t="t" l="l"/>
                <a:pathLst>
                  <a:path h="2004541" w="10379654">
                    <a:moveTo>
                      <a:pt x="8944" y="0"/>
                    </a:moveTo>
                    <a:lnTo>
                      <a:pt x="10370710" y="0"/>
                    </a:lnTo>
                    <a:cubicBezTo>
                      <a:pt x="10375650" y="0"/>
                      <a:pt x="10379654" y="4004"/>
                      <a:pt x="10379654" y="8944"/>
                    </a:cubicBezTo>
                    <a:lnTo>
                      <a:pt x="10379654" y="1995597"/>
                    </a:lnTo>
                    <a:cubicBezTo>
                      <a:pt x="10379654" y="2000536"/>
                      <a:pt x="10375650" y="2004541"/>
                      <a:pt x="10370710" y="2004541"/>
                    </a:cubicBezTo>
                    <a:lnTo>
                      <a:pt x="8944" y="2004541"/>
                    </a:lnTo>
                    <a:cubicBezTo>
                      <a:pt x="4004" y="2004541"/>
                      <a:pt x="0" y="2000536"/>
                      <a:pt x="0" y="1995597"/>
                    </a:cubicBezTo>
                    <a:lnTo>
                      <a:pt x="0" y="8944"/>
                    </a:lnTo>
                    <a:cubicBezTo>
                      <a:pt x="0" y="4004"/>
                      <a:pt x="4004" y="0"/>
                      <a:pt x="8944" y="0"/>
                    </a:cubicBezTo>
                    <a:close/>
                  </a:path>
                </a:pathLst>
              </a:custGeom>
              <a:solidFill>
                <a:srgbClr val="FFFFFF"/>
              </a:solidFill>
              <a:ln cap="rnd">
                <a:noFill/>
                <a:prstDash val="solid"/>
                <a:round/>
              </a:ln>
            </p:spPr>
          </p:sp>
          <p:sp>
            <p:nvSpPr>
              <p:cNvPr name="TextBox 10" id="10"/>
              <p:cNvSpPr txBox="true"/>
              <p:nvPr/>
            </p:nvSpPr>
            <p:spPr>
              <a:xfrm>
                <a:off x="0" y="-38100"/>
                <a:ext cx="10379654" cy="2042641"/>
              </a:xfrm>
              <a:prstGeom prst="rect">
                <a:avLst/>
              </a:prstGeom>
            </p:spPr>
            <p:txBody>
              <a:bodyPr anchor="ctr" rtlCol="false" tIns="50800" lIns="50800" bIns="50800" rIns="50800"/>
              <a:lstStyle/>
              <a:p>
                <a:pPr algn="ctr">
                  <a:lnSpc>
                    <a:spcPts val="2940"/>
                  </a:lnSpc>
                </a:pPr>
              </a:p>
            </p:txBody>
          </p:sp>
        </p:grpSp>
      </p:grpSp>
      <p:grpSp>
        <p:nvGrpSpPr>
          <p:cNvPr name="Group 11" id="11"/>
          <p:cNvGrpSpPr/>
          <p:nvPr/>
        </p:nvGrpSpPr>
        <p:grpSpPr>
          <a:xfrm rot="0">
            <a:off x="-314691" y="9987522"/>
            <a:ext cx="18917381" cy="617085"/>
            <a:chOff x="0" y="0"/>
            <a:chExt cx="2788263" cy="90953"/>
          </a:xfrm>
        </p:grpSpPr>
        <p:sp>
          <p:nvSpPr>
            <p:cNvPr name="Freeform 12" id="12"/>
            <p:cNvSpPr/>
            <p:nvPr/>
          </p:nvSpPr>
          <p:spPr>
            <a:xfrm flipH="false" flipV="false" rot="0">
              <a:off x="0" y="0"/>
              <a:ext cx="2788263" cy="90953"/>
            </a:xfrm>
            <a:custGeom>
              <a:avLst/>
              <a:gdLst/>
              <a:ahLst/>
              <a:cxnLst/>
              <a:rect r="r" b="b" t="t" l="l"/>
              <a:pathLst>
                <a:path h="90953" w="2788263">
                  <a:moveTo>
                    <a:pt x="15551" y="0"/>
                  </a:moveTo>
                  <a:lnTo>
                    <a:pt x="2772711" y="0"/>
                  </a:lnTo>
                  <a:cubicBezTo>
                    <a:pt x="2776836" y="0"/>
                    <a:pt x="2780791" y="1638"/>
                    <a:pt x="2783708" y="4555"/>
                  </a:cubicBezTo>
                  <a:cubicBezTo>
                    <a:pt x="2786624" y="7471"/>
                    <a:pt x="2788263" y="11427"/>
                    <a:pt x="2788263" y="15551"/>
                  </a:cubicBezTo>
                  <a:lnTo>
                    <a:pt x="2788263" y="75402"/>
                  </a:lnTo>
                  <a:cubicBezTo>
                    <a:pt x="2788263" y="79526"/>
                    <a:pt x="2786624" y="83482"/>
                    <a:pt x="2783708" y="86398"/>
                  </a:cubicBezTo>
                  <a:cubicBezTo>
                    <a:pt x="2780791" y="89315"/>
                    <a:pt x="2776836" y="90953"/>
                    <a:pt x="2772711" y="90953"/>
                  </a:cubicBezTo>
                  <a:lnTo>
                    <a:pt x="15551" y="90953"/>
                  </a:lnTo>
                  <a:cubicBezTo>
                    <a:pt x="11427" y="90953"/>
                    <a:pt x="7471" y="89315"/>
                    <a:pt x="4555" y="86398"/>
                  </a:cubicBezTo>
                  <a:cubicBezTo>
                    <a:pt x="1638" y="83482"/>
                    <a:pt x="0" y="79526"/>
                    <a:pt x="0" y="75402"/>
                  </a:cubicBezTo>
                  <a:lnTo>
                    <a:pt x="0" y="15551"/>
                  </a:lnTo>
                  <a:cubicBezTo>
                    <a:pt x="0" y="11427"/>
                    <a:pt x="1638" y="7471"/>
                    <a:pt x="4555" y="4555"/>
                  </a:cubicBezTo>
                  <a:cubicBezTo>
                    <a:pt x="7471" y="1638"/>
                    <a:pt x="11427" y="0"/>
                    <a:pt x="15551"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grpSp>
      <p:sp>
        <p:nvSpPr>
          <p:cNvPr name="TextBox 13" id="13"/>
          <p:cNvSpPr txBox="true"/>
          <p:nvPr/>
        </p:nvSpPr>
        <p:spPr>
          <a:xfrm rot="0">
            <a:off x="327692" y="2662270"/>
            <a:ext cx="2585655" cy="462868"/>
          </a:xfrm>
          <a:prstGeom prst="rect">
            <a:avLst/>
          </a:prstGeom>
        </p:spPr>
        <p:txBody>
          <a:bodyPr anchor="t" rtlCol="false" tIns="0" lIns="0" bIns="0" rIns="0">
            <a:spAutoFit/>
          </a:bodyPr>
          <a:lstStyle/>
          <a:p>
            <a:pPr algn="l" marL="0" indent="0" lvl="0">
              <a:lnSpc>
                <a:spcPts val="1262"/>
              </a:lnSpc>
              <a:spcBef>
                <a:spcPct val="0"/>
              </a:spcBef>
            </a:pPr>
            <a:r>
              <a:rPr lang="en-US" sz="901">
                <a:solidFill>
                  <a:srgbClr val="0B1B45"/>
                </a:solidFill>
                <a:latin typeface="Times New Roman"/>
                <a:ea typeface="Times New Roman"/>
                <a:cs typeface="Times New Roman"/>
                <a:sym typeface="Times New Roman"/>
              </a:rPr>
              <a:t>La primera comparación y más basica, es ver la disponibilidad de alimentos saludables, unicamente por comuna</a:t>
            </a:r>
          </a:p>
        </p:txBody>
      </p:sp>
      <p:grpSp>
        <p:nvGrpSpPr>
          <p:cNvPr name="Group 14" id="14"/>
          <p:cNvGrpSpPr/>
          <p:nvPr/>
        </p:nvGrpSpPr>
        <p:grpSpPr>
          <a:xfrm rot="0">
            <a:off x="170595" y="2639743"/>
            <a:ext cx="5074878" cy="6705904"/>
            <a:chOff x="0" y="0"/>
            <a:chExt cx="6766503" cy="8941205"/>
          </a:xfrm>
        </p:grpSpPr>
        <p:grpSp>
          <p:nvGrpSpPr>
            <p:cNvPr name="Group 15" id="15"/>
            <p:cNvGrpSpPr/>
            <p:nvPr/>
          </p:nvGrpSpPr>
          <p:grpSpPr>
            <a:xfrm rot="-10800000">
              <a:off x="30738" y="7506656"/>
              <a:ext cx="6735766" cy="1434549"/>
              <a:chOff x="0" y="0"/>
              <a:chExt cx="5548480" cy="1181687"/>
            </a:xfrm>
          </p:grpSpPr>
          <p:sp>
            <p:nvSpPr>
              <p:cNvPr name="Freeform 16" id="16"/>
              <p:cNvSpPr/>
              <p:nvPr/>
            </p:nvSpPr>
            <p:spPr>
              <a:xfrm flipH="false" flipV="false" rot="0">
                <a:off x="0" y="0"/>
                <a:ext cx="5548480" cy="1181687"/>
              </a:xfrm>
              <a:custGeom>
                <a:avLst/>
                <a:gdLst/>
                <a:ahLst/>
                <a:cxnLst/>
                <a:rect r="r" b="b" t="t" l="l"/>
                <a:pathLst>
                  <a:path h="1181687" w="5548480">
                    <a:moveTo>
                      <a:pt x="16732" y="0"/>
                    </a:moveTo>
                    <a:lnTo>
                      <a:pt x="5531747" y="0"/>
                    </a:lnTo>
                    <a:cubicBezTo>
                      <a:pt x="5536185" y="0"/>
                      <a:pt x="5540441" y="1763"/>
                      <a:pt x="5543579" y="4901"/>
                    </a:cubicBezTo>
                    <a:cubicBezTo>
                      <a:pt x="5546717" y="8039"/>
                      <a:pt x="5548480" y="12295"/>
                      <a:pt x="5548480" y="16732"/>
                    </a:cubicBezTo>
                    <a:lnTo>
                      <a:pt x="5548480" y="1164954"/>
                    </a:lnTo>
                    <a:cubicBezTo>
                      <a:pt x="5548480" y="1169392"/>
                      <a:pt x="5546717" y="1173648"/>
                      <a:pt x="5543579" y="1176786"/>
                    </a:cubicBezTo>
                    <a:cubicBezTo>
                      <a:pt x="5540441" y="1179924"/>
                      <a:pt x="5536185" y="1181687"/>
                      <a:pt x="5531747" y="1181687"/>
                    </a:cubicBezTo>
                    <a:lnTo>
                      <a:pt x="16732" y="1181687"/>
                    </a:lnTo>
                    <a:cubicBezTo>
                      <a:pt x="12295" y="1181687"/>
                      <a:pt x="8039" y="1179924"/>
                      <a:pt x="4901" y="1176786"/>
                    </a:cubicBezTo>
                    <a:cubicBezTo>
                      <a:pt x="1763" y="1173648"/>
                      <a:pt x="0" y="1169392"/>
                      <a:pt x="0" y="1164954"/>
                    </a:cubicBezTo>
                    <a:lnTo>
                      <a:pt x="0" y="16732"/>
                    </a:lnTo>
                    <a:cubicBezTo>
                      <a:pt x="0" y="12295"/>
                      <a:pt x="1763" y="8039"/>
                      <a:pt x="4901" y="4901"/>
                    </a:cubicBezTo>
                    <a:cubicBezTo>
                      <a:pt x="8039" y="1763"/>
                      <a:pt x="12295" y="0"/>
                      <a:pt x="16732"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17" id="17"/>
              <p:cNvSpPr txBox="true"/>
              <p:nvPr/>
            </p:nvSpPr>
            <p:spPr>
              <a:xfrm>
                <a:off x="0" y="-38100"/>
                <a:ext cx="5548480" cy="1219787"/>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18" id="18"/>
            <p:cNvGrpSpPr/>
            <p:nvPr/>
          </p:nvGrpSpPr>
          <p:grpSpPr>
            <a:xfrm rot="0">
              <a:off x="0" y="0"/>
              <a:ext cx="6735766" cy="8469416"/>
              <a:chOff x="0" y="0"/>
              <a:chExt cx="5548480" cy="6976546"/>
            </a:xfrm>
          </p:grpSpPr>
          <p:sp>
            <p:nvSpPr>
              <p:cNvPr name="Freeform 19" id="19"/>
              <p:cNvSpPr/>
              <p:nvPr/>
            </p:nvSpPr>
            <p:spPr>
              <a:xfrm flipH="false" flipV="false" rot="0">
                <a:off x="0" y="0"/>
                <a:ext cx="5548480" cy="6976546"/>
              </a:xfrm>
              <a:custGeom>
                <a:avLst/>
                <a:gdLst/>
                <a:ahLst/>
                <a:cxnLst/>
                <a:rect r="r" b="b" t="t" l="l"/>
                <a:pathLst>
                  <a:path h="6976546" w="5548480">
                    <a:moveTo>
                      <a:pt x="16732" y="0"/>
                    </a:moveTo>
                    <a:lnTo>
                      <a:pt x="5531747" y="0"/>
                    </a:lnTo>
                    <a:cubicBezTo>
                      <a:pt x="5536185" y="0"/>
                      <a:pt x="5540441" y="1763"/>
                      <a:pt x="5543579" y="4901"/>
                    </a:cubicBezTo>
                    <a:cubicBezTo>
                      <a:pt x="5546717" y="8039"/>
                      <a:pt x="5548480" y="12295"/>
                      <a:pt x="5548480" y="16732"/>
                    </a:cubicBezTo>
                    <a:lnTo>
                      <a:pt x="5548480" y="6959814"/>
                    </a:lnTo>
                    <a:cubicBezTo>
                      <a:pt x="5548480" y="6964252"/>
                      <a:pt x="5546717" y="6968508"/>
                      <a:pt x="5543579" y="6971646"/>
                    </a:cubicBezTo>
                    <a:cubicBezTo>
                      <a:pt x="5540441" y="6974784"/>
                      <a:pt x="5536185" y="6976546"/>
                      <a:pt x="5531747" y="6976546"/>
                    </a:cubicBezTo>
                    <a:lnTo>
                      <a:pt x="16732" y="6976546"/>
                    </a:lnTo>
                    <a:cubicBezTo>
                      <a:pt x="12295" y="6976546"/>
                      <a:pt x="8039" y="6974784"/>
                      <a:pt x="4901" y="6971646"/>
                    </a:cubicBezTo>
                    <a:cubicBezTo>
                      <a:pt x="1763" y="6968508"/>
                      <a:pt x="0" y="6964252"/>
                      <a:pt x="0" y="6959814"/>
                    </a:cubicBezTo>
                    <a:lnTo>
                      <a:pt x="0" y="16732"/>
                    </a:lnTo>
                    <a:cubicBezTo>
                      <a:pt x="0" y="12295"/>
                      <a:pt x="1763" y="8039"/>
                      <a:pt x="4901" y="4901"/>
                    </a:cubicBezTo>
                    <a:cubicBezTo>
                      <a:pt x="8039" y="1763"/>
                      <a:pt x="12295" y="0"/>
                      <a:pt x="16732" y="0"/>
                    </a:cubicBezTo>
                    <a:close/>
                  </a:path>
                </a:pathLst>
              </a:custGeom>
              <a:solidFill>
                <a:srgbClr val="FFFFFF"/>
              </a:solidFill>
              <a:ln cap="rnd">
                <a:noFill/>
                <a:prstDash val="solid"/>
                <a:round/>
              </a:ln>
            </p:spPr>
          </p:sp>
          <p:sp>
            <p:nvSpPr>
              <p:cNvPr name="TextBox 20" id="20"/>
              <p:cNvSpPr txBox="true"/>
              <p:nvPr/>
            </p:nvSpPr>
            <p:spPr>
              <a:xfrm>
                <a:off x="0" y="-38100"/>
                <a:ext cx="5548480" cy="7014646"/>
              </a:xfrm>
              <a:prstGeom prst="rect">
                <a:avLst/>
              </a:prstGeom>
            </p:spPr>
            <p:txBody>
              <a:bodyPr anchor="ctr" rtlCol="false" tIns="50800" lIns="50800" bIns="50800" rIns="50800"/>
              <a:lstStyle/>
              <a:p>
                <a:pPr algn="ctr">
                  <a:lnSpc>
                    <a:spcPts val="2940"/>
                  </a:lnSpc>
                </a:pPr>
              </a:p>
            </p:txBody>
          </p:sp>
        </p:grpSp>
      </p:grpSp>
      <p:sp>
        <p:nvSpPr>
          <p:cNvPr name="Freeform 21" id="21"/>
          <p:cNvSpPr/>
          <p:nvPr/>
        </p:nvSpPr>
        <p:spPr>
          <a:xfrm flipH="false" flipV="false" rot="0">
            <a:off x="5621451" y="2639743"/>
            <a:ext cx="12248226" cy="6705904"/>
          </a:xfrm>
          <a:custGeom>
            <a:avLst/>
            <a:gdLst/>
            <a:ahLst/>
            <a:cxnLst/>
            <a:rect r="r" b="b" t="t" l="l"/>
            <a:pathLst>
              <a:path h="6705904" w="12248226">
                <a:moveTo>
                  <a:pt x="0" y="0"/>
                </a:moveTo>
                <a:lnTo>
                  <a:pt x="12248226" y="0"/>
                </a:lnTo>
                <a:lnTo>
                  <a:pt x="12248226" y="6705904"/>
                </a:lnTo>
                <a:lnTo>
                  <a:pt x="0" y="6705904"/>
                </a:lnTo>
                <a:lnTo>
                  <a:pt x="0" y="0"/>
                </a:lnTo>
                <a:close/>
              </a:path>
            </a:pathLst>
          </a:custGeom>
          <a:blipFill>
            <a:blip r:embed="rId5"/>
            <a:stretch>
              <a:fillRect l="0" t="0" r="0" b="0"/>
            </a:stretch>
          </a:blipFill>
        </p:spPr>
      </p:sp>
      <p:sp>
        <p:nvSpPr>
          <p:cNvPr name="TextBox 22" id="22"/>
          <p:cNvSpPr txBox="true"/>
          <p:nvPr/>
        </p:nvSpPr>
        <p:spPr>
          <a:xfrm rot="0">
            <a:off x="499769" y="363268"/>
            <a:ext cx="6405764" cy="514350"/>
          </a:xfrm>
          <a:prstGeom prst="rect">
            <a:avLst/>
          </a:prstGeom>
        </p:spPr>
        <p:txBody>
          <a:bodyPr anchor="t" rtlCol="false" tIns="0" lIns="0" bIns="0" rIns="0">
            <a:spAutoFit/>
          </a:bodyPr>
          <a:lstStyle/>
          <a:p>
            <a:pPr algn="l">
              <a:lnSpc>
                <a:spcPts val="4199"/>
              </a:lnSpc>
            </a:pPr>
            <a:r>
              <a:rPr lang="en-US" sz="2999" b="true">
                <a:solidFill>
                  <a:srgbClr val="0B1B45"/>
                </a:solidFill>
                <a:latin typeface="Arial Bold"/>
                <a:ea typeface="Arial Bold"/>
                <a:cs typeface="Arial Bold"/>
                <a:sym typeface="Arial Bold"/>
              </a:rPr>
              <a:t>Segunda Comparación</a:t>
            </a:r>
          </a:p>
        </p:txBody>
      </p:sp>
      <p:sp>
        <p:nvSpPr>
          <p:cNvPr name="TextBox 23" id="23"/>
          <p:cNvSpPr txBox="true"/>
          <p:nvPr/>
        </p:nvSpPr>
        <p:spPr>
          <a:xfrm rot="0">
            <a:off x="630623" y="1000293"/>
            <a:ext cx="8513377" cy="869950"/>
          </a:xfrm>
          <a:prstGeom prst="rect">
            <a:avLst/>
          </a:prstGeom>
        </p:spPr>
        <p:txBody>
          <a:bodyPr anchor="t" rtlCol="false" tIns="0" lIns="0" bIns="0" rIns="0">
            <a:spAutoFit/>
          </a:bodyPr>
          <a:lstStyle/>
          <a:p>
            <a:pPr algn="l">
              <a:lnSpc>
                <a:spcPts val="3499"/>
              </a:lnSpc>
            </a:pPr>
            <a:r>
              <a:rPr lang="en-US" sz="2499" spc="124">
                <a:solidFill>
                  <a:srgbClr val="FFFFFF"/>
                </a:solidFill>
                <a:latin typeface="Arial"/>
                <a:ea typeface="Arial"/>
                <a:cs typeface="Arial"/>
                <a:sym typeface="Arial"/>
              </a:rPr>
              <a:t>MEDIA DE ALIMENTOS SALUDABLES POR COMUNA E INDICE DE POBREZA</a:t>
            </a:r>
          </a:p>
        </p:txBody>
      </p:sp>
      <p:sp>
        <p:nvSpPr>
          <p:cNvPr name="TextBox 24" id="24"/>
          <p:cNvSpPr txBox="true"/>
          <p:nvPr/>
        </p:nvSpPr>
        <p:spPr>
          <a:xfrm rot="0">
            <a:off x="499769" y="2860367"/>
            <a:ext cx="4396101" cy="5968538"/>
          </a:xfrm>
          <a:prstGeom prst="rect">
            <a:avLst/>
          </a:prstGeom>
        </p:spPr>
        <p:txBody>
          <a:bodyPr anchor="t" rtlCol="false" tIns="0" lIns="0" bIns="0" rIns="0">
            <a:spAutoFit/>
          </a:bodyPr>
          <a:lstStyle/>
          <a:p>
            <a:pPr algn="l">
              <a:lnSpc>
                <a:spcPts val="2941"/>
              </a:lnSpc>
            </a:pPr>
            <a:r>
              <a:rPr lang="en-US" sz="2100">
                <a:solidFill>
                  <a:srgbClr val="0B1B45"/>
                </a:solidFill>
                <a:latin typeface="Arial"/>
                <a:ea typeface="Arial"/>
                <a:cs typeface="Arial"/>
                <a:sym typeface="Arial"/>
              </a:rPr>
              <a:t>La segunda comparación permite observar la frecuencia de los alimentos saludables en cada comuna, acorde a su indice de pobreza, como podemos observar, sorpresivamente la comuna La Granja tiene la mayor cantidad de alimentos saludables disponibes y el indice de pobreza más alto al mismo tiempo.</a:t>
            </a:r>
          </a:p>
          <a:p>
            <a:pPr algn="l">
              <a:lnSpc>
                <a:spcPts val="2941"/>
              </a:lnSpc>
            </a:pPr>
          </a:p>
          <a:p>
            <a:pPr algn="l" marL="0" indent="0" lvl="0">
              <a:lnSpc>
                <a:spcPts val="2941"/>
              </a:lnSpc>
              <a:spcBef>
                <a:spcPct val="0"/>
              </a:spcBef>
            </a:pPr>
            <a:r>
              <a:rPr lang="en-US" sz="2100">
                <a:solidFill>
                  <a:srgbClr val="0B1B45"/>
                </a:solidFill>
                <a:latin typeface="Arial"/>
                <a:ea typeface="Arial"/>
                <a:cs typeface="Arial"/>
                <a:sym typeface="Arial"/>
              </a:rPr>
              <a:t>Sin embargo, esto puede deberse a una gran cantidad de variables, como la cantidad de colegios y/o estudiantes registrados en esta comuna, vamos a revisarlo.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15440351" y="283224"/>
            <a:ext cx="2724332" cy="1490953"/>
          </a:xfrm>
          <a:custGeom>
            <a:avLst/>
            <a:gdLst/>
            <a:ahLst/>
            <a:cxnLst/>
            <a:rect r="r" b="b" t="t" l="l"/>
            <a:pathLst>
              <a:path h="1490953" w="2724332">
                <a:moveTo>
                  <a:pt x="0" y="0"/>
                </a:moveTo>
                <a:lnTo>
                  <a:pt x="2724332" y="0"/>
                </a:lnTo>
                <a:lnTo>
                  <a:pt x="2724332" y="1490952"/>
                </a:lnTo>
                <a:lnTo>
                  <a:pt x="0" y="14909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70595" y="211465"/>
            <a:ext cx="11888631" cy="1926778"/>
            <a:chOff x="0" y="0"/>
            <a:chExt cx="15851508" cy="2569038"/>
          </a:xfrm>
        </p:grpSpPr>
        <p:grpSp>
          <p:nvGrpSpPr>
            <p:cNvPr name="Group 5" id="5"/>
            <p:cNvGrpSpPr/>
            <p:nvPr/>
          </p:nvGrpSpPr>
          <p:grpSpPr>
            <a:xfrm rot="-10800000">
              <a:off x="116012" y="2156855"/>
              <a:ext cx="15590481" cy="412183"/>
              <a:chOff x="0" y="0"/>
              <a:chExt cx="12842410" cy="339529"/>
            </a:xfrm>
          </p:grpSpPr>
          <p:sp>
            <p:nvSpPr>
              <p:cNvPr name="Freeform 6" id="6"/>
              <p:cNvSpPr/>
              <p:nvPr/>
            </p:nvSpPr>
            <p:spPr>
              <a:xfrm flipH="false" flipV="false" rot="0">
                <a:off x="0" y="0"/>
                <a:ext cx="12842411" cy="339529"/>
              </a:xfrm>
              <a:custGeom>
                <a:avLst/>
                <a:gdLst/>
                <a:ahLst/>
                <a:cxnLst/>
                <a:rect r="r" b="b" t="t" l="l"/>
                <a:pathLst>
                  <a:path h="339529" w="12842411">
                    <a:moveTo>
                      <a:pt x="7229" y="0"/>
                    </a:moveTo>
                    <a:lnTo>
                      <a:pt x="12835182" y="0"/>
                    </a:lnTo>
                    <a:cubicBezTo>
                      <a:pt x="12839174" y="0"/>
                      <a:pt x="12842411" y="3237"/>
                      <a:pt x="12842411" y="7229"/>
                    </a:cubicBezTo>
                    <a:lnTo>
                      <a:pt x="12842411" y="332300"/>
                    </a:lnTo>
                    <a:cubicBezTo>
                      <a:pt x="12842411" y="334217"/>
                      <a:pt x="12841649" y="336056"/>
                      <a:pt x="12840294" y="337412"/>
                    </a:cubicBezTo>
                    <a:cubicBezTo>
                      <a:pt x="12838938" y="338767"/>
                      <a:pt x="12837099" y="339529"/>
                      <a:pt x="12835182" y="339529"/>
                    </a:cubicBezTo>
                    <a:lnTo>
                      <a:pt x="7229" y="339529"/>
                    </a:lnTo>
                    <a:cubicBezTo>
                      <a:pt x="3237" y="339529"/>
                      <a:pt x="0" y="336292"/>
                      <a:pt x="0" y="332300"/>
                    </a:cubicBezTo>
                    <a:lnTo>
                      <a:pt x="0" y="7229"/>
                    </a:lnTo>
                    <a:cubicBezTo>
                      <a:pt x="0" y="3237"/>
                      <a:pt x="3237" y="0"/>
                      <a:pt x="7229"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7" id="7"/>
              <p:cNvSpPr txBox="true"/>
              <p:nvPr/>
            </p:nvSpPr>
            <p:spPr>
              <a:xfrm>
                <a:off x="0" y="-38100"/>
                <a:ext cx="12842410" cy="377629"/>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8" id="8"/>
            <p:cNvGrpSpPr/>
            <p:nvPr/>
          </p:nvGrpSpPr>
          <p:grpSpPr>
            <a:xfrm rot="0">
              <a:off x="0" y="0"/>
              <a:ext cx="15851508" cy="2433480"/>
              <a:chOff x="0" y="0"/>
              <a:chExt cx="13057428" cy="2004541"/>
            </a:xfrm>
          </p:grpSpPr>
          <p:sp>
            <p:nvSpPr>
              <p:cNvPr name="Freeform 9" id="9"/>
              <p:cNvSpPr/>
              <p:nvPr/>
            </p:nvSpPr>
            <p:spPr>
              <a:xfrm flipH="false" flipV="false" rot="0">
                <a:off x="0" y="0"/>
                <a:ext cx="13057428" cy="2004541"/>
              </a:xfrm>
              <a:custGeom>
                <a:avLst/>
                <a:gdLst/>
                <a:ahLst/>
                <a:cxnLst/>
                <a:rect r="r" b="b" t="t" l="l"/>
                <a:pathLst>
                  <a:path h="2004541" w="13057428">
                    <a:moveTo>
                      <a:pt x="7110" y="0"/>
                    </a:moveTo>
                    <a:lnTo>
                      <a:pt x="13050318" y="0"/>
                    </a:lnTo>
                    <a:cubicBezTo>
                      <a:pt x="13054245" y="0"/>
                      <a:pt x="13057428" y="3183"/>
                      <a:pt x="13057428" y="7110"/>
                    </a:cubicBezTo>
                    <a:lnTo>
                      <a:pt x="13057428" y="1997431"/>
                    </a:lnTo>
                    <a:cubicBezTo>
                      <a:pt x="13057428" y="2001357"/>
                      <a:pt x="13054245" y="2004541"/>
                      <a:pt x="13050318" y="2004541"/>
                    </a:cubicBezTo>
                    <a:lnTo>
                      <a:pt x="7110" y="2004541"/>
                    </a:lnTo>
                    <a:cubicBezTo>
                      <a:pt x="3183" y="2004541"/>
                      <a:pt x="0" y="2001357"/>
                      <a:pt x="0" y="1997431"/>
                    </a:cubicBezTo>
                    <a:lnTo>
                      <a:pt x="0" y="7110"/>
                    </a:lnTo>
                    <a:cubicBezTo>
                      <a:pt x="0" y="3183"/>
                      <a:pt x="3183" y="0"/>
                      <a:pt x="7110" y="0"/>
                    </a:cubicBezTo>
                    <a:close/>
                  </a:path>
                </a:pathLst>
              </a:custGeom>
              <a:solidFill>
                <a:srgbClr val="FFFFFF"/>
              </a:solidFill>
              <a:ln cap="rnd">
                <a:noFill/>
                <a:prstDash val="solid"/>
                <a:round/>
              </a:ln>
            </p:spPr>
          </p:sp>
          <p:sp>
            <p:nvSpPr>
              <p:cNvPr name="TextBox 10" id="10"/>
              <p:cNvSpPr txBox="true"/>
              <p:nvPr/>
            </p:nvSpPr>
            <p:spPr>
              <a:xfrm>
                <a:off x="0" y="-38100"/>
                <a:ext cx="13057428" cy="2042641"/>
              </a:xfrm>
              <a:prstGeom prst="rect">
                <a:avLst/>
              </a:prstGeom>
            </p:spPr>
            <p:txBody>
              <a:bodyPr anchor="ctr" rtlCol="false" tIns="50800" lIns="50800" bIns="50800" rIns="50800"/>
              <a:lstStyle/>
              <a:p>
                <a:pPr algn="ctr">
                  <a:lnSpc>
                    <a:spcPts val="2940"/>
                  </a:lnSpc>
                </a:pPr>
              </a:p>
            </p:txBody>
          </p:sp>
        </p:grpSp>
      </p:grpSp>
      <p:grpSp>
        <p:nvGrpSpPr>
          <p:cNvPr name="Group 11" id="11"/>
          <p:cNvGrpSpPr/>
          <p:nvPr/>
        </p:nvGrpSpPr>
        <p:grpSpPr>
          <a:xfrm rot="0">
            <a:off x="-314691" y="9987522"/>
            <a:ext cx="18917381" cy="617085"/>
            <a:chOff x="0" y="0"/>
            <a:chExt cx="2788263" cy="90953"/>
          </a:xfrm>
        </p:grpSpPr>
        <p:sp>
          <p:nvSpPr>
            <p:cNvPr name="Freeform 12" id="12"/>
            <p:cNvSpPr/>
            <p:nvPr/>
          </p:nvSpPr>
          <p:spPr>
            <a:xfrm flipH="false" flipV="false" rot="0">
              <a:off x="0" y="0"/>
              <a:ext cx="2788263" cy="90953"/>
            </a:xfrm>
            <a:custGeom>
              <a:avLst/>
              <a:gdLst/>
              <a:ahLst/>
              <a:cxnLst/>
              <a:rect r="r" b="b" t="t" l="l"/>
              <a:pathLst>
                <a:path h="90953" w="2788263">
                  <a:moveTo>
                    <a:pt x="15551" y="0"/>
                  </a:moveTo>
                  <a:lnTo>
                    <a:pt x="2772711" y="0"/>
                  </a:lnTo>
                  <a:cubicBezTo>
                    <a:pt x="2776836" y="0"/>
                    <a:pt x="2780791" y="1638"/>
                    <a:pt x="2783708" y="4555"/>
                  </a:cubicBezTo>
                  <a:cubicBezTo>
                    <a:pt x="2786624" y="7471"/>
                    <a:pt x="2788263" y="11427"/>
                    <a:pt x="2788263" y="15551"/>
                  </a:cubicBezTo>
                  <a:lnTo>
                    <a:pt x="2788263" y="75402"/>
                  </a:lnTo>
                  <a:cubicBezTo>
                    <a:pt x="2788263" y="79526"/>
                    <a:pt x="2786624" y="83482"/>
                    <a:pt x="2783708" y="86398"/>
                  </a:cubicBezTo>
                  <a:cubicBezTo>
                    <a:pt x="2780791" y="89315"/>
                    <a:pt x="2776836" y="90953"/>
                    <a:pt x="2772711" y="90953"/>
                  </a:cubicBezTo>
                  <a:lnTo>
                    <a:pt x="15551" y="90953"/>
                  </a:lnTo>
                  <a:cubicBezTo>
                    <a:pt x="11427" y="90953"/>
                    <a:pt x="7471" y="89315"/>
                    <a:pt x="4555" y="86398"/>
                  </a:cubicBezTo>
                  <a:cubicBezTo>
                    <a:pt x="1638" y="83482"/>
                    <a:pt x="0" y="79526"/>
                    <a:pt x="0" y="75402"/>
                  </a:cubicBezTo>
                  <a:lnTo>
                    <a:pt x="0" y="15551"/>
                  </a:lnTo>
                  <a:cubicBezTo>
                    <a:pt x="0" y="11427"/>
                    <a:pt x="1638" y="7471"/>
                    <a:pt x="4555" y="4555"/>
                  </a:cubicBezTo>
                  <a:cubicBezTo>
                    <a:pt x="7471" y="1638"/>
                    <a:pt x="11427" y="0"/>
                    <a:pt x="15551"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grpSp>
      <p:sp>
        <p:nvSpPr>
          <p:cNvPr name="TextBox 13" id="13"/>
          <p:cNvSpPr txBox="true"/>
          <p:nvPr/>
        </p:nvSpPr>
        <p:spPr>
          <a:xfrm rot="0">
            <a:off x="327692" y="2662270"/>
            <a:ext cx="2585655" cy="462868"/>
          </a:xfrm>
          <a:prstGeom prst="rect">
            <a:avLst/>
          </a:prstGeom>
        </p:spPr>
        <p:txBody>
          <a:bodyPr anchor="t" rtlCol="false" tIns="0" lIns="0" bIns="0" rIns="0">
            <a:spAutoFit/>
          </a:bodyPr>
          <a:lstStyle/>
          <a:p>
            <a:pPr algn="l" marL="0" indent="0" lvl="0">
              <a:lnSpc>
                <a:spcPts val="1262"/>
              </a:lnSpc>
              <a:spcBef>
                <a:spcPct val="0"/>
              </a:spcBef>
            </a:pPr>
            <a:r>
              <a:rPr lang="en-US" sz="901">
                <a:solidFill>
                  <a:srgbClr val="0B1B45"/>
                </a:solidFill>
                <a:latin typeface="Times New Roman"/>
                <a:ea typeface="Times New Roman"/>
                <a:cs typeface="Times New Roman"/>
                <a:sym typeface="Times New Roman"/>
              </a:rPr>
              <a:t>La primera comparación y más basica, es ver la disponibilidad de alimentos saludables, unicamente por comuna</a:t>
            </a:r>
          </a:p>
        </p:txBody>
      </p:sp>
      <p:grpSp>
        <p:nvGrpSpPr>
          <p:cNvPr name="Group 14" id="14"/>
          <p:cNvGrpSpPr/>
          <p:nvPr/>
        </p:nvGrpSpPr>
        <p:grpSpPr>
          <a:xfrm rot="0">
            <a:off x="170595" y="2639743"/>
            <a:ext cx="5074878" cy="6889690"/>
            <a:chOff x="0" y="0"/>
            <a:chExt cx="6766503" cy="9186253"/>
          </a:xfrm>
        </p:grpSpPr>
        <p:grpSp>
          <p:nvGrpSpPr>
            <p:cNvPr name="Group 15" id="15"/>
            <p:cNvGrpSpPr/>
            <p:nvPr/>
          </p:nvGrpSpPr>
          <p:grpSpPr>
            <a:xfrm rot="-10800000">
              <a:off x="30738" y="7712388"/>
              <a:ext cx="6735766" cy="1473865"/>
              <a:chOff x="0" y="0"/>
              <a:chExt cx="5548480" cy="1214073"/>
            </a:xfrm>
          </p:grpSpPr>
          <p:sp>
            <p:nvSpPr>
              <p:cNvPr name="Freeform 16" id="16"/>
              <p:cNvSpPr/>
              <p:nvPr/>
            </p:nvSpPr>
            <p:spPr>
              <a:xfrm flipH="false" flipV="false" rot="0">
                <a:off x="0" y="0"/>
                <a:ext cx="5548480" cy="1214073"/>
              </a:xfrm>
              <a:custGeom>
                <a:avLst/>
                <a:gdLst/>
                <a:ahLst/>
                <a:cxnLst/>
                <a:rect r="r" b="b" t="t" l="l"/>
                <a:pathLst>
                  <a:path h="1214073" w="5548480">
                    <a:moveTo>
                      <a:pt x="16732" y="0"/>
                    </a:moveTo>
                    <a:lnTo>
                      <a:pt x="5531747" y="0"/>
                    </a:lnTo>
                    <a:cubicBezTo>
                      <a:pt x="5536185" y="0"/>
                      <a:pt x="5540441" y="1763"/>
                      <a:pt x="5543579" y="4901"/>
                    </a:cubicBezTo>
                    <a:cubicBezTo>
                      <a:pt x="5546717" y="8039"/>
                      <a:pt x="5548480" y="12295"/>
                      <a:pt x="5548480" y="16732"/>
                    </a:cubicBezTo>
                    <a:lnTo>
                      <a:pt x="5548480" y="1197340"/>
                    </a:lnTo>
                    <a:cubicBezTo>
                      <a:pt x="5548480" y="1201778"/>
                      <a:pt x="5546717" y="1206034"/>
                      <a:pt x="5543579" y="1209172"/>
                    </a:cubicBezTo>
                    <a:cubicBezTo>
                      <a:pt x="5540441" y="1212310"/>
                      <a:pt x="5536185" y="1214073"/>
                      <a:pt x="5531747" y="1214073"/>
                    </a:cubicBezTo>
                    <a:lnTo>
                      <a:pt x="16732" y="1214073"/>
                    </a:lnTo>
                    <a:cubicBezTo>
                      <a:pt x="12295" y="1214073"/>
                      <a:pt x="8039" y="1212310"/>
                      <a:pt x="4901" y="1209172"/>
                    </a:cubicBezTo>
                    <a:cubicBezTo>
                      <a:pt x="1763" y="1206034"/>
                      <a:pt x="0" y="1201778"/>
                      <a:pt x="0" y="1197340"/>
                    </a:cubicBezTo>
                    <a:lnTo>
                      <a:pt x="0" y="16732"/>
                    </a:lnTo>
                    <a:cubicBezTo>
                      <a:pt x="0" y="12295"/>
                      <a:pt x="1763" y="8039"/>
                      <a:pt x="4901" y="4901"/>
                    </a:cubicBezTo>
                    <a:cubicBezTo>
                      <a:pt x="8039" y="1763"/>
                      <a:pt x="12295" y="0"/>
                      <a:pt x="16732"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17" id="17"/>
              <p:cNvSpPr txBox="true"/>
              <p:nvPr/>
            </p:nvSpPr>
            <p:spPr>
              <a:xfrm>
                <a:off x="0" y="-38100"/>
                <a:ext cx="5548480" cy="1252173"/>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18" id="18"/>
            <p:cNvGrpSpPr/>
            <p:nvPr/>
          </p:nvGrpSpPr>
          <p:grpSpPr>
            <a:xfrm rot="0">
              <a:off x="0" y="0"/>
              <a:ext cx="6735766" cy="8701534"/>
              <a:chOff x="0" y="0"/>
              <a:chExt cx="5548480" cy="7167750"/>
            </a:xfrm>
          </p:grpSpPr>
          <p:sp>
            <p:nvSpPr>
              <p:cNvPr name="Freeform 19" id="19"/>
              <p:cNvSpPr/>
              <p:nvPr/>
            </p:nvSpPr>
            <p:spPr>
              <a:xfrm flipH="false" flipV="false" rot="0">
                <a:off x="0" y="0"/>
                <a:ext cx="5548480" cy="7167750"/>
              </a:xfrm>
              <a:custGeom>
                <a:avLst/>
                <a:gdLst/>
                <a:ahLst/>
                <a:cxnLst/>
                <a:rect r="r" b="b" t="t" l="l"/>
                <a:pathLst>
                  <a:path h="7167750" w="5548480">
                    <a:moveTo>
                      <a:pt x="16732" y="0"/>
                    </a:moveTo>
                    <a:lnTo>
                      <a:pt x="5531747" y="0"/>
                    </a:lnTo>
                    <a:cubicBezTo>
                      <a:pt x="5536185" y="0"/>
                      <a:pt x="5540441" y="1763"/>
                      <a:pt x="5543579" y="4901"/>
                    </a:cubicBezTo>
                    <a:cubicBezTo>
                      <a:pt x="5546717" y="8039"/>
                      <a:pt x="5548480" y="12295"/>
                      <a:pt x="5548480" y="16732"/>
                    </a:cubicBezTo>
                    <a:lnTo>
                      <a:pt x="5548480" y="7151018"/>
                    </a:lnTo>
                    <a:cubicBezTo>
                      <a:pt x="5548480" y="7155455"/>
                      <a:pt x="5546717" y="7159712"/>
                      <a:pt x="5543579" y="7162850"/>
                    </a:cubicBezTo>
                    <a:cubicBezTo>
                      <a:pt x="5540441" y="7165987"/>
                      <a:pt x="5536185" y="7167750"/>
                      <a:pt x="5531747" y="7167750"/>
                    </a:cubicBezTo>
                    <a:lnTo>
                      <a:pt x="16732" y="7167750"/>
                    </a:lnTo>
                    <a:cubicBezTo>
                      <a:pt x="7491" y="7167750"/>
                      <a:pt x="0" y="7160259"/>
                      <a:pt x="0" y="7151018"/>
                    </a:cubicBezTo>
                    <a:lnTo>
                      <a:pt x="0" y="16732"/>
                    </a:lnTo>
                    <a:cubicBezTo>
                      <a:pt x="0" y="12295"/>
                      <a:pt x="1763" y="8039"/>
                      <a:pt x="4901" y="4901"/>
                    </a:cubicBezTo>
                    <a:cubicBezTo>
                      <a:pt x="8039" y="1763"/>
                      <a:pt x="12295" y="0"/>
                      <a:pt x="16732" y="0"/>
                    </a:cubicBezTo>
                    <a:close/>
                  </a:path>
                </a:pathLst>
              </a:custGeom>
              <a:solidFill>
                <a:srgbClr val="FFFFFF"/>
              </a:solidFill>
              <a:ln cap="rnd">
                <a:noFill/>
                <a:prstDash val="solid"/>
                <a:round/>
              </a:ln>
            </p:spPr>
          </p:sp>
          <p:sp>
            <p:nvSpPr>
              <p:cNvPr name="TextBox 20" id="20"/>
              <p:cNvSpPr txBox="true"/>
              <p:nvPr/>
            </p:nvSpPr>
            <p:spPr>
              <a:xfrm>
                <a:off x="0" y="-38100"/>
                <a:ext cx="5548480" cy="7205850"/>
              </a:xfrm>
              <a:prstGeom prst="rect">
                <a:avLst/>
              </a:prstGeom>
            </p:spPr>
            <p:txBody>
              <a:bodyPr anchor="ctr" rtlCol="false" tIns="50800" lIns="50800" bIns="50800" rIns="50800"/>
              <a:lstStyle/>
              <a:p>
                <a:pPr algn="ctr">
                  <a:lnSpc>
                    <a:spcPts val="2940"/>
                  </a:lnSpc>
                </a:pPr>
              </a:p>
            </p:txBody>
          </p:sp>
        </p:grpSp>
      </p:grpSp>
      <p:sp>
        <p:nvSpPr>
          <p:cNvPr name="Freeform 21" id="21"/>
          <p:cNvSpPr/>
          <p:nvPr/>
        </p:nvSpPr>
        <p:spPr>
          <a:xfrm flipH="false" flipV="false" rot="0">
            <a:off x="5681207" y="2639743"/>
            <a:ext cx="12182902" cy="6670139"/>
          </a:xfrm>
          <a:custGeom>
            <a:avLst/>
            <a:gdLst/>
            <a:ahLst/>
            <a:cxnLst/>
            <a:rect r="r" b="b" t="t" l="l"/>
            <a:pathLst>
              <a:path h="6670139" w="12182902">
                <a:moveTo>
                  <a:pt x="0" y="0"/>
                </a:moveTo>
                <a:lnTo>
                  <a:pt x="12182903" y="0"/>
                </a:lnTo>
                <a:lnTo>
                  <a:pt x="12182903" y="6670139"/>
                </a:lnTo>
                <a:lnTo>
                  <a:pt x="0" y="6670139"/>
                </a:lnTo>
                <a:lnTo>
                  <a:pt x="0" y="0"/>
                </a:lnTo>
                <a:close/>
              </a:path>
            </a:pathLst>
          </a:custGeom>
          <a:blipFill>
            <a:blip r:embed="rId5"/>
            <a:stretch>
              <a:fillRect l="0" t="0" r="0" b="0"/>
            </a:stretch>
          </a:blipFill>
        </p:spPr>
      </p:sp>
      <p:sp>
        <p:nvSpPr>
          <p:cNvPr name="TextBox 22" id="22"/>
          <p:cNvSpPr txBox="true"/>
          <p:nvPr/>
        </p:nvSpPr>
        <p:spPr>
          <a:xfrm rot="0">
            <a:off x="519602" y="369516"/>
            <a:ext cx="4144218" cy="514350"/>
          </a:xfrm>
          <a:prstGeom prst="rect">
            <a:avLst/>
          </a:prstGeom>
        </p:spPr>
        <p:txBody>
          <a:bodyPr anchor="t" rtlCol="false" tIns="0" lIns="0" bIns="0" rIns="0">
            <a:spAutoFit/>
          </a:bodyPr>
          <a:lstStyle/>
          <a:p>
            <a:pPr algn="l">
              <a:lnSpc>
                <a:spcPts val="4199"/>
              </a:lnSpc>
            </a:pPr>
            <a:r>
              <a:rPr lang="en-US" sz="2999" b="true">
                <a:solidFill>
                  <a:srgbClr val="0B1B45"/>
                </a:solidFill>
                <a:latin typeface="Arial Bold"/>
                <a:ea typeface="Arial Bold"/>
                <a:cs typeface="Arial Bold"/>
                <a:sym typeface="Arial Bold"/>
              </a:rPr>
              <a:t>Tercera comparación</a:t>
            </a:r>
          </a:p>
        </p:txBody>
      </p:sp>
      <p:sp>
        <p:nvSpPr>
          <p:cNvPr name="TextBox 23" id="23"/>
          <p:cNvSpPr txBox="true"/>
          <p:nvPr/>
        </p:nvSpPr>
        <p:spPr>
          <a:xfrm rot="0">
            <a:off x="630623" y="988743"/>
            <a:ext cx="11428603" cy="869950"/>
          </a:xfrm>
          <a:prstGeom prst="rect">
            <a:avLst/>
          </a:prstGeom>
        </p:spPr>
        <p:txBody>
          <a:bodyPr anchor="t" rtlCol="false" tIns="0" lIns="0" bIns="0" rIns="0">
            <a:spAutoFit/>
          </a:bodyPr>
          <a:lstStyle/>
          <a:p>
            <a:pPr algn="l">
              <a:lnSpc>
                <a:spcPts val="3499"/>
              </a:lnSpc>
            </a:pPr>
            <a:r>
              <a:rPr lang="en-US" sz="2499" spc="124">
                <a:solidFill>
                  <a:srgbClr val="FFFFFF"/>
                </a:solidFill>
                <a:latin typeface="Arial"/>
                <a:ea typeface="Arial"/>
                <a:cs typeface="Arial"/>
                <a:sym typeface="Arial"/>
              </a:rPr>
              <a:t>MEDIA DE ALIMENTOS SALUDABLES POR REGISTRO DE MATRICULA</a:t>
            </a:r>
          </a:p>
        </p:txBody>
      </p:sp>
      <p:sp>
        <p:nvSpPr>
          <p:cNvPr name="TextBox 24" id="24"/>
          <p:cNvSpPr txBox="true"/>
          <p:nvPr/>
        </p:nvSpPr>
        <p:spPr>
          <a:xfrm rot="0">
            <a:off x="499769" y="2860367"/>
            <a:ext cx="4396101" cy="1861226"/>
          </a:xfrm>
          <a:prstGeom prst="rect">
            <a:avLst/>
          </a:prstGeom>
        </p:spPr>
        <p:txBody>
          <a:bodyPr anchor="t" rtlCol="false" tIns="0" lIns="0" bIns="0" rIns="0">
            <a:spAutoFit/>
          </a:bodyPr>
          <a:lstStyle/>
          <a:p>
            <a:pPr algn="l" marL="0" indent="0" lvl="0">
              <a:lnSpc>
                <a:spcPts val="2941"/>
              </a:lnSpc>
              <a:spcBef>
                <a:spcPct val="0"/>
              </a:spcBef>
            </a:pPr>
            <a:r>
              <a:rPr lang="en-US" sz="2100">
                <a:solidFill>
                  <a:srgbClr val="0B1B45"/>
                </a:solidFill>
                <a:latin typeface="Arial"/>
                <a:ea typeface="Arial"/>
                <a:cs typeface="Arial"/>
                <a:sym typeface="Arial"/>
              </a:rPr>
              <a:t>Como se puede observar, este grafico representa la cantidad de alimentos saludables disponibles por comuna, según su cantidad de estudiantes matriculados.</a:t>
            </a:r>
          </a:p>
        </p:txBody>
      </p:sp>
      <p:sp>
        <p:nvSpPr>
          <p:cNvPr name="TextBox 25" id="25"/>
          <p:cNvSpPr txBox="true"/>
          <p:nvPr/>
        </p:nvSpPr>
        <p:spPr>
          <a:xfrm rot="0">
            <a:off x="8293274" y="7707339"/>
            <a:ext cx="624364" cy="431799"/>
          </a:xfrm>
          <a:prstGeom prst="rect">
            <a:avLst/>
          </a:prstGeom>
        </p:spPr>
        <p:txBody>
          <a:bodyPr anchor="t" rtlCol="false" tIns="0" lIns="0" bIns="0" rIns="0">
            <a:spAutoFit/>
          </a:bodyPr>
          <a:lstStyle/>
          <a:p>
            <a:pPr algn="ctr">
              <a:lnSpc>
                <a:spcPts val="3500"/>
              </a:lnSpc>
            </a:pPr>
            <a:r>
              <a:rPr lang="en-US" sz="2500">
                <a:solidFill>
                  <a:srgbClr val="FF3131"/>
                </a:solidFill>
                <a:latin typeface="Open Sans"/>
                <a:ea typeface="Open Sans"/>
                <a:cs typeface="Open Sans"/>
                <a:sym typeface="Open Sans"/>
              </a:rPr>
              <a:t>21%</a:t>
            </a:r>
          </a:p>
        </p:txBody>
      </p:sp>
      <p:sp>
        <p:nvSpPr>
          <p:cNvPr name="TextBox 26" id="26"/>
          <p:cNvSpPr txBox="true"/>
          <p:nvPr/>
        </p:nvSpPr>
        <p:spPr>
          <a:xfrm rot="0">
            <a:off x="11832645" y="7707339"/>
            <a:ext cx="890349" cy="431799"/>
          </a:xfrm>
          <a:prstGeom prst="rect">
            <a:avLst/>
          </a:prstGeom>
        </p:spPr>
        <p:txBody>
          <a:bodyPr anchor="t" rtlCol="false" tIns="0" lIns="0" bIns="0" rIns="0">
            <a:spAutoFit/>
          </a:bodyPr>
          <a:lstStyle/>
          <a:p>
            <a:pPr algn="ctr">
              <a:lnSpc>
                <a:spcPts val="3500"/>
              </a:lnSpc>
            </a:pPr>
            <a:r>
              <a:rPr lang="en-US" sz="2500">
                <a:solidFill>
                  <a:srgbClr val="FF3131"/>
                </a:solidFill>
                <a:latin typeface="Open Sans"/>
                <a:ea typeface="Open Sans"/>
                <a:cs typeface="Open Sans"/>
                <a:sym typeface="Open Sans"/>
              </a:rPr>
              <a:t>29.8%</a:t>
            </a:r>
          </a:p>
        </p:txBody>
      </p:sp>
      <p:sp>
        <p:nvSpPr>
          <p:cNvPr name="TextBox 27" id="27"/>
          <p:cNvSpPr txBox="true"/>
          <p:nvPr/>
        </p:nvSpPr>
        <p:spPr>
          <a:xfrm rot="0">
            <a:off x="15419283" y="7707339"/>
            <a:ext cx="890349" cy="431799"/>
          </a:xfrm>
          <a:prstGeom prst="rect">
            <a:avLst/>
          </a:prstGeom>
        </p:spPr>
        <p:txBody>
          <a:bodyPr anchor="t" rtlCol="false" tIns="0" lIns="0" bIns="0" rIns="0">
            <a:spAutoFit/>
          </a:bodyPr>
          <a:lstStyle/>
          <a:p>
            <a:pPr algn="ctr">
              <a:lnSpc>
                <a:spcPts val="3500"/>
              </a:lnSpc>
            </a:pPr>
            <a:r>
              <a:rPr lang="en-US" sz="2500">
                <a:solidFill>
                  <a:srgbClr val="FF3131"/>
                </a:solidFill>
                <a:latin typeface="Open Sans"/>
                <a:ea typeface="Open Sans"/>
                <a:cs typeface="Open Sans"/>
                <a:sym typeface="Open Sans"/>
              </a:rPr>
              <a:t>10.6%</a:t>
            </a:r>
          </a:p>
        </p:txBody>
      </p:sp>
      <p:sp>
        <p:nvSpPr>
          <p:cNvPr name="TextBox 28" id="28"/>
          <p:cNvSpPr txBox="true"/>
          <p:nvPr/>
        </p:nvSpPr>
        <p:spPr>
          <a:xfrm rot="0">
            <a:off x="499769" y="5020387"/>
            <a:ext cx="4396101" cy="2981402"/>
          </a:xfrm>
          <a:prstGeom prst="rect">
            <a:avLst/>
          </a:prstGeom>
        </p:spPr>
        <p:txBody>
          <a:bodyPr anchor="t" rtlCol="false" tIns="0" lIns="0" bIns="0" rIns="0">
            <a:spAutoFit/>
          </a:bodyPr>
          <a:lstStyle/>
          <a:p>
            <a:pPr algn="l" marL="0" indent="0" lvl="0">
              <a:lnSpc>
                <a:spcPts val="2941"/>
              </a:lnSpc>
              <a:spcBef>
                <a:spcPct val="0"/>
              </a:spcBef>
            </a:pPr>
            <a:r>
              <a:rPr lang="en-US" sz="2100">
                <a:solidFill>
                  <a:srgbClr val="0B1B45"/>
                </a:solidFill>
                <a:latin typeface="Arial"/>
                <a:ea typeface="Arial"/>
                <a:cs typeface="Arial"/>
                <a:sym typeface="Arial"/>
              </a:rPr>
              <a:t>Se presentan multiples diferencias respecto a los otros graficos, como que La Granja haya perdido su liderazgo en disponibilidad, siendo superado por San Joaquin, comuna la cual tiene 182 registros de alimentos saludables menos que esta.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400274" y="2738026"/>
            <a:ext cx="18688274" cy="4511186"/>
            <a:chOff x="0" y="0"/>
            <a:chExt cx="7905245" cy="1908257"/>
          </a:xfrm>
        </p:grpSpPr>
        <p:sp>
          <p:nvSpPr>
            <p:cNvPr name="Freeform 4" id="4"/>
            <p:cNvSpPr/>
            <p:nvPr/>
          </p:nvSpPr>
          <p:spPr>
            <a:xfrm flipH="false" flipV="false" rot="0">
              <a:off x="0" y="0"/>
              <a:ext cx="7905245" cy="1908257"/>
            </a:xfrm>
            <a:custGeom>
              <a:avLst/>
              <a:gdLst/>
              <a:ahLst/>
              <a:cxnLst/>
              <a:rect r="r" b="b" t="t" l="l"/>
              <a:pathLst>
                <a:path h="1908257" w="7905245">
                  <a:moveTo>
                    <a:pt x="8285" y="0"/>
                  </a:moveTo>
                  <a:lnTo>
                    <a:pt x="7896959" y="0"/>
                  </a:lnTo>
                  <a:cubicBezTo>
                    <a:pt x="7899157" y="0"/>
                    <a:pt x="7901264" y="873"/>
                    <a:pt x="7902818" y="2427"/>
                  </a:cubicBezTo>
                  <a:cubicBezTo>
                    <a:pt x="7904372" y="3981"/>
                    <a:pt x="7905245" y="6088"/>
                    <a:pt x="7905245" y="8285"/>
                  </a:cubicBezTo>
                  <a:lnTo>
                    <a:pt x="7905245" y="1899972"/>
                  </a:lnTo>
                  <a:cubicBezTo>
                    <a:pt x="7905245" y="1902169"/>
                    <a:pt x="7904372" y="1904277"/>
                    <a:pt x="7902818" y="1905830"/>
                  </a:cubicBezTo>
                  <a:cubicBezTo>
                    <a:pt x="7901264" y="1907384"/>
                    <a:pt x="7899157" y="1908257"/>
                    <a:pt x="7896959" y="1908257"/>
                  </a:cubicBezTo>
                  <a:lnTo>
                    <a:pt x="8285" y="1908257"/>
                  </a:lnTo>
                  <a:cubicBezTo>
                    <a:pt x="3709" y="1908257"/>
                    <a:pt x="0" y="1904548"/>
                    <a:pt x="0" y="1899972"/>
                  </a:cubicBezTo>
                  <a:lnTo>
                    <a:pt x="0" y="8285"/>
                  </a:lnTo>
                  <a:cubicBezTo>
                    <a:pt x="0" y="3709"/>
                    <a:pt x="3709" y="0"/>
                    <a:pt x="8285"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5" id="5"/>
            <p:cNvSpPr txBox="true"/>
            <p:nvPr/>
          </p:nvSpPr>
          <p:spPr>
            <a:xfrm>
              <a:off x="0" y="-47625"/>
              <a:ext cx="7905245" cy="1955882"/>
            </a:xfrm>
            <a:prstGeom prst="rect">
              <a:avLst/>
            </a:prstGeom>
          </p:spPr>
          <p:txBody>
            <a:bodyPr anchor="ctr" rtlCol="false" tIns="47543" lIns="47543" bIns="47543" rIns="47543"/>
            <a:lstStyle/>
            <a:p>
              <a:pPr algn="ctr">
                <a:lnSpc>
                  <a:spcPts val="3418"/>
                </a:lnSpc>
              </a:pPr>
            </a:p>
          </p:txBody>
        </p:sp>
      </p:grpSp>
      <p:grpSp>
        <p:nvGrpSpPr>
          <p:cNvPr name="Group 6" id="6"/>
          <p:cNvGrpSpPr/>
          <p:nvPr/>
        </p:nvGrpSpPr>
        <p:grpSpPr>
          <a:xfrm rot="0">
            <a:off x="1718035" y="1654981"/>
            <a:ext cx="6663869" cy="2166090"/>
            <a:chOff x="0" y="0"/>
            <a:chExt cx="7049211" cy="2291345"/>
          </a:xfrm>
        </p:grpSpPr>
        <p:sp>
          <p:nvSpPr>
            <p:cNvPr name="Freeform 7" id="7"/>
            <p:cNvSpPr/>
            <p:nvPr/>
          </p:nvSpPr>
          <p:spPr>
            <a:xfrm flipH="false" flipV="false" rot="0">
              <a:off x="0" y="0"/>
              <a:ext cx="7049211" cy="2291345"/>
            </a:xfrm>
            <a:custGeom>
              <a:avLst/>
              <a:gdLst/>
              <a:ahLst/>
              <a:cxnLst/>
              <a:rect r="r" b="b" t="t" l="l"/>
              <a:pathLst>
                <a:path h="2291345" w="7049211">
                  <a:moveTo>
                    <a:pt x="34853" y="0"/>
                  </a:moveTo>
                  <a:lnTo>
                    <a:pt x="7014358" y="0"/>
                  </a:lnTo>
                  <a:cubicBezTo>
                    <a:pt x="7033606" y="0"/>
                    <a:pt x="7049211" y="15604"/>
                    <a:pt x="7049211" y="34853"/>
                  </a:cubicBezTo>
                  <a:lnTo>
                    <a:pt x="7049211" y="2256491"/>
                  </a:lnTo>
                  <a:cubicBezTo>
                    <a:pt x="7049211" y="2275740"/>
                    <a:pt x="7033606" y="2291345"/>
                    <a:pt x="7014358" y="2291345"/>
                  </a:cubicBezTo>
                  <a:lnTo>
                    <a:pt x="34853" y="2291345"/>
                  </a:lnTo>
                  <a:cubicBezTo>
                    <a:pt x="15604" y="2291345"/>
                    <a:pt x="0" y="2275740"/>
                    <a:pt x="0" y="2256491"/>
                  </a:cubicBezTo>
                  <a:lnTo>
                    <a:pt x="0" y="34853"/>
                  </a:lnTo>
                  <a:cubicBezTo>
                    <a:pt x="0" y="15604"/>
                    <a:pt x="15604" y="0"/>
                    <a:pt x="34853" y="0"/>
                  </a:cubicBezTo>
                  <a:close/>
                </a:path>
              </a:pathLst>
            </a:custGeom>
            <a:solidFill>
              <a:srgbClr val="FFFFFF"/>
            </a:solidFill>
            <a:ln cap="rnd">
              <a:noFill/>
              <a:prstDash val="solid"/>
              <a:round/>
            </a:ln>
          </p:spPr>
        </p:sp>
        <p:sp>
          <p:nvSpPr>
            <p:cNvPr name="TextBox 8" id="8"/>
            <p:cNvSpPr txBox="true"/>
            <p:nvPr/>
          </p:nvSpPr>
          <p:spPr>
            <a:xfrm>
              <a:off x="0" y="-57150"/>
              <a:ext cx="7049211" cy="2348495"/>
            </a:xfrm>
            <a:prstGeom prst="rect">
              <a:avLst/>
            </a:prstGeom>
          </p:spPr>
          <p:txBody>
            <a:bodyPr anchor="ctr" rtlCol="false" tIns="12648" lIns="12648" bIns="12648" rIns="12648"/>
            <a:lstStyle/>
            <a:p>
              <a:pPr algn="l">
                <a:lnSpc>
                  <a:spcPts val="2939"/>
                </a:lnSpc>
              </a:pPr>
            </a:p>
          </p:txBody>
        </p:sp>
      </p:grpSp>
      <p:sp>
        <p:nvSpPr>
          <p:cNvPr name="Freeform 9" id="9"/>
          <p:cNvSpPr/>
          <p:nvPr/>
        </p:nvSpPr>
        <p:spPr>
          <a:xfrm flipH="false" flipV="false" rot="0">
            <a:off x="1156076" y="5324792"/>
            <a:ext cx="7787787" cy="4807766"/>
          </a:xfrm>
          <a:custGeom>
            <a:avLst/>
            <a:gdLst/>
            <a:ahLst/>
            <a:cxnLst/>
            <a:rect r="r" b="b" t="t" l="l"/>
            <a:pathLst>
              <a:path h="4807766" w="7787787">
                <a:moveTo>
                  <a:pt x="0" y="0"/>
                </a:moveTo>
                <a:lnTo>
                  <a:pt x="7787787" y="0"/>
                </a:lnTo>
                <a:lnTo>
                  <a:pt x="7787787" y="4807766"/>
                </a:lnTo>
                <a:lnTo>
                  <a:pt x="0" y="4807766"/>
                </a:lnTo>
                <a:lnTo>
                  <a:pt x="0" y="0"/>
                </a:lnTo>
                <a:close/>
              </a:path>
            </a:pathLst>
          </a:custGeom>
          <a:blipFill>
            <a:blip r:embed="rId3"/>
            <a:stretch>
              <a:fillRect l="0" t="0" r="0" b="0"/>
            </a:stretch>
          </a:blipFill>
        </p:spPr>
      </p:sp>
      <p:sp>
        <p:nvSpPr>
          <p:cNvPr name="Freeform 10" id="10"/>
          <p:cNvSpPr/>
          <p:nvPr/>
        </p:nvSpPr>
        <p:spPr>
          <a:xfrm flipH="false" flipV="false" rot="0">
            <a:off x="9469620" y="5323623"/>
            <a:ext cx="7789680" cy="4808935"/>
          </a:xfrm>
          <a:custGeom>
            <a:avLst/>
            <a:gdLst/>
            <a:ahLst/>
            <a:cxnLst/>
            <a:rect r="r" b="b" t="t" l="l"/>
            <a:pathLst>
              <a:path h="4808935" w="7789680">
                <a:moveTo>
                  <a:pt x="0" y="0"/>
                </a:moveTo>
                <a:lnTo>
                  <a:pt x="7789680" y="0"/>
                </a:lnTo>
                <a:lnTo>
                  <a:pt x="7789680" y="4808935"/>
                </a:lnTo>
                <a:lnTo>
                  <a:pt x="0" y="4808935"/>
                </a:lnTo>
                <a:lnTo>
                  <a:pt x="0" y="0"/>
                </a:lnTo>
                <a:close/>
              </a:path>
            </a:pathLst>
          </a:custGeom>
          <a:blipFill>
            <a:blip r:embed="rId4"/>
            <a:stretch>
              <a:fillRect l="0" t="0" r="0" b="0"/>
            </a:stretch>
          </a:blipFill>
        </p:spPr>
      </p:sp>
      <p:sp>
        <p:nvSpPr>
          <p:cNvPr name="Freeform 11" id="11"/>
          <p:cNvSpPr/>
          <p:nvPr/>
        </p:nvSpPr>
        <p:spPr>
          <a:xfrm flipH="false" flipV="false" rot="0">
            <a:off x="9471513" y="278584"/>
            <a:ext cx="7787787" cy="4807766"/>
          </a:xfrm>
          <a:custGeom>
            <a:avLst/>
            <a:gdLst/>
            <a:ahLst/>
            <a:cxnLst/>
            <a:rect r="r" b="b" t="t" l="l"/>
            <a:pathLst>
              <a:path h="4807766" w="7787787">
                <a:moveTo>
                  <a:pt x="0" y="0"/>
                </a:moveTo>
                <a:lnTo>
                  <a:pt x="7787787" y="0"/>
                </a:lnTo>
                <a:lnTo>
                  <a:pt x="7787787" y="4807766"/>
                </a:lnTo>
                <a:lnTo>
                  <a:pt x="0" y="4807766"/>
                </a:lnTo>
                <a:lnTo>
                  <a:pt x="0" y="0"/>
                </a:lnTo>
                <a:close/>
              </a:path>
            </a:pathLst>
          </a:custGeom>
          <a:blipFill>
            <a:blip r:embed="rId5"/>
            <a:stretch>
              <a:fillRect l="0" t="0" r="0" b="0"/>
            </a:stretch>
          </a:blipFill>
        </p:spPr>
      </p:sp>
      <p:sp>
        <p:nvSpPr>
          <p:cNvPr name="TextBox 12" id="12"/>
          <p:cNvSpPr txBox="true"/>
          <p:nvPr/>
        </p:nvSpPr>
        <p:spPr>
          <a:xfrm rot="0">
            <a:off x="2039272" y="2077062"/>
            <a:ext cx="5761217" cy="1226678"/>
          </a:xfrm>
          <a:prstGeom prst="rect">
            <a:avLst/>
          </a:prstGeom>
        </p:spPr>
        <p:txBody>
          <a:bodyPr anchor="t" rtlCol="false" tIns="0" lIns="0" bIns="0" rIns="0">
            <a:spAutoFit/>
          </a:bodyPr>
          <a:lstStyle/>
          <a:p>
            <a:pPr algn="ctr">
              <a:lnSpc>
                <a:spcPts val="4837"/>
              </a:lnSpc>
            </a:pPr>
            <a:r>
              <a:rPr lang="en-US" b="true" sz="3455">
                <a:solidFill>
                  <a:srgbClr val="000000"/>
                </a:solidFill>
                <a:latin typeface="Times New Roman Bold"/>
                <a:ea typeface="Times New Roman Bold"/>
                <a:cs typeface="Times New Roman Bold"/>
                <a:sym typeface="Times New Roman Bold"/>
              </a:rPr>
              <a:t>CORRELACIONES ENTRE VARIABLES - COLEGIOS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400274" y="2738026"/>
            <a:ext cx="18688274" cy="4511186"/>
            <a:chOff x="0" y="0"/>
            <a:chExt cx="7905245" cy="1908257"/>
          </a:xfrm>
        </p:grpSpPr>
        <p:sp>
          <p:nvSpPr>
            <p:cNvPr name="Freeform 4" id="4"/>
            <p:cNvSpPr/>
            <p:nvPr/>
          </p:nvSpPr>
          <p:spPr>
            <a:xfrm flipH="false" flipV="false" rot="0">
              <a:off x="0" y="0"/>
              <a:ext cx="7905245" cy="1908257"/>
            </a:xfrm>
            <a:custGeom>
              <a:avLst/>
              <a:gdLst/>
              <a:ahLst/>
              <a:cxnLst/>
              <a:rect r="r" b="b" t="t" l="l"/>
              <a:pathLst>
                <a:path h="1908257" w="7905245">
                  <a:moveTo>
                    <a:pt x="8285" y="0"/>
                  </a:moveTo>
                  <a:lnTo>
                    <a:pt x="7896959" y="0"/>
                  </a:lnTo>
                  <a:cubicBezTo>
                    <a:pt x="7899157" y="0"/>
                    <a:pt x="7901264" y="873"/>
                    <a:pt x="7902818" y="2427"/>
                  </a:cubicBezTo>
                  <a:cubicBezTo>
                    <a:pt x="7904372" y="3981"/>
                    <a:pt x="7905245" y="6088"/>
                    <a:pt x="7905245" y="8285"/>
                  </a:cubicBezTo>
                  <a:lnTo>
                    <a:pt x="7905245" y="1899972"/>
                  </a:lnTo>
                  <a:cubicBezTo>
                    <a:pt x="7905245" y="1902169"/>
                    <a:pt x="7904372" y="1904277"/>
                    <a:pt x="7902818" y="1905830"/>
                  </a:cubicBezTo>
                  <a:cubicBezTo>
                    <a:pt x="7901264" y="1907384"/>
                    <a:pt x="7899157" y="1908257"/>
                    <a:pt x="7896959" y="1908257"/>
                  </a:cubicBezTo>
                  <a:lnTo>
                    <a:pt x="8285" y="1908257"/>
                  </a:lnTo>
                  <a:cubicBezTo>
                    <a:pt x="3709" y="1908257"/>
                    <a:pt x="0" y="1904548"/>
                    <a:pt x="0" y="1899972"/>
                  </a:cubicBezTo>
                  <a:lnTo>
                    <a:pt x="0" y="8285"/>
                  </a:lnTo>
                  <a:cubicBezTo>
                    <a:pt x="0" y="3709"/>
                    <a:pt x="3709" y="0"/>
                    <a:pt x="8285"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5" id="5"/>
            <p:cNvSpPr txBox="true"/>
            <p:nvPr/>
          </p:nvSpPr>
          <p:spPr>
            <a:xfrm>
              <a:off x="0" y="-47625"/>
              <a:ext cx="7905245" cy="1955882"/>
            </a:xfrm>
            <a:prstGeom prst="rect">
              <a:avLst/>
            </a:prstGeom>
          </p:spPr>
          <p:txBody>
            <a:bodyPr anchor="ctr" rtlCol="false" tIns="47543" lIns="47543" bIns="47543" rIns="47543"/>
            <a:lstStyle/>
            <a:p>
              <a:pPr algn="ctr">
                <a:lnSpc>
                  <a:spcPts val="3418"/>
                </a:lnSpc>
              </a:pPr>
            </a:p>
          </p:txBody>
        </p:sp>
      </p:grpSp>
      <p:grpSp>
        <p:nvGrpSpPr>
          <p:cNvPr name="Group 6" id="6"/>
          <p:cNvGrpSpPr/>
          <p:nvPr/>
        </p:nvGrpSpPr>
        <p:grpSpPr>
          <a:xfrm rot="0">
            <a:off x="1718035" y="1654981"/>
            <a:ext cx="6663869" cy="2166090"/>
            <a:chOff x="0" y="0"/>
            <a:chExt cx="7049211" cy="2291345"/>
          </a:xfrm>
        </p:grpSpPr>
        <p:sp>
          <p:nvSpPr>
            <p:cNvPr name="Freeform 7" id="7"/>
            <p:cNvSpPr/>
            <p:nvPr/>
          </p:nvSpPr>
          <p:spPr>
            <a:xfrm flipH="false" flipV="false" rot="0">
              <a:off x="0" y="0"/>
              <a:ext cx="7049211" cy="2291345"/>
            </a:xfrm>
            <a:custGeom>
              <a:avLst/>
              <a:gdLst/>
              <a:ahLst/>
              <a:cxnLst/>
              <a:rect r="r" b="b" t="t" l="l"/>
              <a:pathLst>
                <a:path h="2291345" w="7049211">
                  <a:moveTo>
                    <a:pt x="34853" y="0"/>
                  </a:moveTo>
                  <a:lnTo>
                    <a:pt x="7014358" y="0"/>
                  </a:lnTo>
                  <a:cubicBezTo>
                    <a:pt x="7033606" y="0"/>
                    <a:pt x="7049211" y="15604"/>
                    <a:pt x="7049211" y="34853"/>
                  </a:cubicBezTo>
                  <a:lnTo>
                    <a:pt x="7049211" y="2256491"/>
                  </a:lnTo>
                  <a:cubicBezTo>
                    <a:pt x="7049211" y="2275740"/>
                    <a:pt x="7033606" y="2291345"/>
                    <a:pt x="7014358" y="2291345"/>
                  </a:cubicBezTo>
                  <a:lnTo>
                    <a:pt x="34853" y="2291345"/>
                  </a:lnTo>
                  <a:cubicBezTo>
                    <a:pt x="15604" y="2291345"/>
                    <a:pt x="0" y="2275740"/>
                    <a:pt x="0" y="2256491"/>
                  </a:cubicBezTo>
                  <a:lnTo>
                    <a:pt x="0" y="34853"/>
                  </a:lnTo>
                  <a:cubicBezTo>
                    <a:pt x="0" y="15604"/>
                    <a:pt x="15604" y="0"/>
                    <a:pt x="34853" y="0"/>
                  </a:cubicBezTo>
                  <a:close/>
                </a:path>
              </a:pathLst>
            </a:custGeom>
            <a:solidFill>
              <a:srgbClr val="FFFFFF"/>
            </a:solidFill>
            <a:ln cap="rnd">
              <a:noFill/>
              <a:prstDash val="solid"/>
              <a:round/>
            </a:ln>
          </p:spPr>
        </p:sp>
        <p:sp>
          <p:nvSpPr>
            <p:cNvPr name="TextBox 8" id="8"/>
            <p:cNvSpPr txBox="true"/>
            <p:nvPr/>
          </p:nvSpPr>
          <p:spPr>
            <a:xfrm>
              <a:off x="0" y="-57150"/>
              <a:ext cx="7049211" cy="2348495"/>
            </a:xfrm>
            <a:prstGeom prst="rect">
              <a:avLst/>
            </a:prstGeom>
          </p:spPr>
          <p:txBody>
            <a:bodyPr anchor="ctr" rtlCol="false" tIns="12648" lIns="12648" bIns="12648" rIns="12648"/>
            <a:lstStyle/>
            <a:p>
              <a:pPr algn="l">
                <a:lnSpc>
                  <a:spcPts val="2939"/>
                </a:lnSpc>
              </a:pPr>
            </a:p>
          </p:txBody>
        </p:sp>
      </p:grpSp>
      <p:sp>
        <p:nvSpPr>
          <p:cNvPr name="Freeform 9" id="9"/>
          <p:cNvSpPr/>
          <p:nvPr/>
        </p:nvSpPr>
        <p:spPr>
          <a:xfrm flipH="false" flipV="false" rot="0">
            <a:off x="961226" y="5284227"/>
            <a:ext cx="7917310" cy="4887727"/>
          </a:xfrm>
          <a:custGeom>
            <a:avLst/>
            <a:gdLst/>
            <a:ahLst/>
            <a:cxnLst/>
            <a:rect r="r" b="b" t="t" l="l"/>
            <a:pathLst>
              <a:path h="4887727" w="7917310">
                <a:moveTo>
                  <a:pt x="0" y="0"/>
                </a:moveTo>
                <a:lnTo>
                  <a:pt x="7917310" y="0"/>
                </a:lnTo>
                <a:lnTo>
                  <a:pt x="7917310" y="4887727"/>
                </a:lnTo>
                <a:lnTo>
                  <a:pt x="0" y="4887727"/>
                </a:lnTo>
                <a:lnTo>
                  <a:pt x="0" y="0"/>
                </a:lnTo>
                <a:close/>
              </a:path>
            </a:pathLst>
          </a:custGeom>
          <a:blipFill>
            <a:blip r:embed="rId3"/>
            <a:stretch>
              <a:fillRect l="0" t="0" r="0" b="0"/>
            </a:stretch>
          </a:blipFill>
        </p:spPr>
      </p:sp>
      <p:sp>
        <p:nvSpPr>
          <p:cNvPr name="Freeform 10" id="10"/>
          <p:cNvSpPr/>
          <p:nvPr/>
        </p:nvSpPr>
        <p:spPr>
          <a:xfrm flipH="false" flipV="false" rot="0">
            <a:off x="9471513" y="5284227"/>
            <a:ext cx="7917310" cy="4887727"/>
          </a:xfrm>
          <a:custGeom>
            <a:avLst/>
            <a:gdLst/>
            <a:ahLst/>
            <a:cxnLst/>
            <a:rect r="r" b="b" t="t" l="l"/>
            <a:pathLst>
              <a:path h="4887727" w="7917310">
                <a:moveTo>
                  <a:pt x="0" y="0"/>
                </a:moveTo>
                <a:lnTo>
                  <a:pt x="7917310" y="0"/>
                </a:lnTo>
                <a:lnTo>
                  <a:pt x="7917310" y="4887727"/>
                </a:lnTo>
                <a:lnTo>
                  <a:pt x="0" y="4887727"/>
                </a:lnTo>
                <a:lnTo>
                  <a:pt x="0" y="0"/>
                </a:lnTo>
                <a:close/>
              </a:path>
            </a:pathLst>
          </a:custGeom>
          <a:blipFill>
            <a:blip r:embed="rId4"/>
            <a:stretch>
              <a:fillRect l="0" t="0" r="0" b="0"/>
            </a:stretch>
          </a:blipFill>
        </p:spPr>
      </p:sp>
      <p:sp>
        <p:nvSpPr>
          <p:cNvPr name="Freeform 11" id="11"/>
          <p:cNvSpPr/>
          <p:nvPr/>
        </p:nvSpPr>
        <p:spPr>
          <a:xfrm flipH="false" flipV="false" rot="0">
            <a:off x="9471513" y="255773"/>
            <a:ext cx="7917310" cy="4887727"/>
          </a:xfrm>
          <a:custGeom>
            <a:avLst/>
            <a:gdLst/>
            <a:ahLst/>
            <a:cxnLst/>
            <a:rect r="r" b="b" t="t" l="l"/>
            <a:pathLst>
              <a:path h="4887727" w="7917310">
                <a:moveTo>
                  <a:pt x="0" y="0"/>
                </a:moveTo>
                <a:lnTo>
                  <a:pt x="7917310" y="0"/>
                </a:lnTo>
                <a:lnTo>
                  <a:pt x="7917310" y="4887727"/>
                </a:lnTo>
                <a:lnTo>
                  <a:pt x="0" y="4887727"/>
                </a:lnTo>
                <a:lnTo>
                  <a:pt x="0" y="0"/>
                </a:lnTo>
                <a:close/>
              </a:path>
            </a:pathLst>
          </a:custGeom>
          <a:blipFill>
            <a:blip r:embed="rId5"/>
            <a:stretch>
              <a:fillRect l="0" t="0" r="0" b="0"/>
            </a:stretch>
          </a:blipFill>
        </p:spPr>
      </p:sp>
      <p:sp>
        <p:nvSpPr>
          <p:cNvPr name="TextBox 12" id="12"/>
          <p:cNvSpPr txBox="true"/>
          <p:nvPr/>
        </p:nvSpPr>
        <p:spPr>
          <a:xfrm rot="0">
            <a:off x="2039272" y="2077062"/>
            <a:ext cx="5761217" cy="1226678"/>
          </a:xfrm>
          <a:prstGeom prst="rect">
            <a:avLst/>
          </a:prstGeom>
        </p:spPr>
        <p:txBody>
          <a:bodyPr anchor="t" rtlCol="false" tIns="0" lIns="0" bIns="0" rIns="0">
            <a:spAutoFit/>
          </a:bodyPr>
          <a:lstStyle/>
          <a:p>
            <a:pPr algn="ctr">
              <a:lnSpc>
                <a:spcPts val="4837"/>
              </a:lnSpc>
            </a:pPr>
            <a:r>
              <a:rPr lang="en-US" b="true" sz="3455">
                <a:solidFill>
                  <a:srgbClr val="000000"/>
                </a:solidFill>
                <a:latin typeface="Times New Roman Bold"/>
                <a:ea typeface="Times New Roman Bold"/>
                <a:cs typeface="Times New Roman Bold"/>
                <a:sym typeface="Times New Roman Bold"/>
              </a:rPr>
              <a:t>CORRELACIONES ENTRE VARIABLES - POBLACIÓN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814" r="0" b="-814"/>
            </a:stretch>
          </a:blipFill>
        </p:spPr>
      </p:sp>
      <p:grpSp>
        <p:nvGrpSpPr>
          <p:cNvPr name="Group 3" id="3"/>
          <p:cNvGrpSpPr/>
          <p:nvPr/>
        </p:nvGrpSpPr>
        <p:grpSpPr>
          <a:xfrm rot="0">
            <a:off x="4243422" y="327772"/>
            <a:ext cx="9801155" cy="1401856"/>
            <a:chOff x="0" y="0"/>
            <a:chExt cx="3871319" cy="553713"/>
          </a:xfrm>
        </p:grpSpPr>
        <p:sp>
          <p:nvSpPr>
            <p:cNvPr name="Freeform 4" id="4"/>
            <p:cNvSpPr/>
            <p:nvPr/>
          </p:nvSpPr>
          <p:spPr>
            <a:xfrm flipH="false" flipV="false" rot="0">
              <a:off x="0" y="0"/>
              <a:ext cx="3871319" cy="553713"/>
            </a:xfrm>
            <a:custGeom>
              <a:avLst/>
              <a:gdLst/>
              <a:ahLst/>
              <a:cxnLst/>
              <a:rect r="r" b="b" t="t" l="l"/>
              <a:pathLst>
                <a:path h="553713" w="3871319">
                  <a:moveTo>
                    <a:pt x="15798" y="0"/>
                  </a:moveTo>
                  <a:lnTo>
                    <a:pt x="3855521" y="0"/>
                  </a:lnTo>
                  <a:cubicBezTo>
                    <a:pt x="3859711" y="0"/>
                    <a:pt x="3863729" y="1664"/>
                    <a:pt x="3866692" y="4627"/>
                  </a:cubicBezTo>
                  <a:cubicBezTo>
                    <a:pt x="3869655" y="7590"/>
                    <a:pt x="3871319" y="11608"/>
                    <a:pt x="3871319" y="15798"/>
                  </a:cubicBezTo>
                  <a:lnTo>
                    <a:pt x="3871319" y="537915"/>
                  </a:lnTo>
                  <a:cubicBezTo>
                    <a:pt x="3871319" y="542105"/>
                    <a:pt x="3869655" y="546123"/>
                    <a:pt x="3866692" y="549086"/>
                  </a:cubicBezTo>
                  <a:cubicBezTo>
                    <a:pt x="3863729" y="552049"/>
                    <a:pt x="3859711" y="553713"/>
                    <a:pt x="3855521" y="553713"/>
                  </a:cubicBezTo>
                  <a:lnTo>
                    <a:pt x="15798" y="553713"/>
                  </a:lnTo>
                  <a:cubicBezTo>
                    <a:pt x="11608" y="553713"/>
                    <a:pt x="7590" y="552049"/>
                    <a:pt x="4627" y="549086"/>
                  </a:cubicBezTo>
                  <a:cubicBezTo>
                    <a:pt x="1664" y="546123"/>
                    <a:pt x="0" y="542105"/>
                    <a:pt x="0" y="537915"/>
                  </a:cubicBezTo>
                  <a:lnTo>
                    <a:pt x="0" y="15798"/>
                  </a:lnTo>
                  <a:cubicBezTo>
                    <a:pt x="0" y="11608"/>
                    <a:pt x="1664" y="7590"/>
                    <a:pt x="4627" y="4627"/>
                  </a:cubicBezTo>
                  <a:cubicBezTo>
                    <a:pt x="7590" y="1664"/>
                    <a:pt x="11608" y="0"/>
                    <a:pt x="15798"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5" id="5"/>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AutoShape 6" id="6"/>
          <p:cNvSpPr/>
          <p:nvPr/>
        </p:nvSpPr>
        <p:spPr>
          <a:xfrm flipV="true">
            <a:off x="1028694" y="10018820"/>
            <a:ext cx="16464787" cy="9525"/>
          </a:xfrm>
          <a:prstGeom prst="line">
            <a:avLst/>
          </a:prstGeom>
          <a:ln cap="flat" w="19050">
            <a:solidFill>
              <a:srgbClr val="FFFFFF"/>
            </a:solidFill>
            <a:prstDash val="solid"/>
            <a:headEnd type="none" len="sm" w="sm"/>
            <a:tailEnd type="none" len="sm" w="sm"/>
          </a:ln>
        </p:spPr>
      </p:sp>
      <p:sp>
        <p:nvSpPr>
          <p:cNvPr name="Freeform 7" id="7"/>
          <p:cNvSpPr/>
          <p:nvPr/>
        </p:nvSpPr>
        <p:spPr>
          <a:xfrm flipH="false" flipV="false" rot="0">
            <a:off x="1737736" y="1881432"/>
            <a:ext cx="14568142" cy="7976058"/>
          </a:xfrm>
          <a:custGeom>
            <a:avLst/>
            <a:gdLst/>
            <a:ahLst/>
            <a:cxnLst/>
            <a:rect r="r" b="b" t="t" l="l"/>
            <a:pathLst>
              <a:path h="7976058" w="14568142">
                <a:moveTo>
                  <a:pt x="0" y="0"/>
                </a:moveTo>
                <a:lnTo>
                  <a:pt x="14568142" y="0"/>
                </a:lnTo>
                <a:lnTo>
                  <a:pt x="14568142" y="7976058"/>
                </a:lnTo>
                <a:lnTo>
                  <a:pt x="0" y="7976058"/>
                </a:lnTo>
                <a:lnTo>
                  <a:pt x="0" y="0"/>
                </a:lnTo>
                <a:close/>
              </a:path>
            </a:pathLst>
          </a:custGeom>
          <a:blipFill>
            <a:blip r:embed="rId4"/>
            <a:stretch>
              <a:fillRect l="0" t="0" r="0" b="0"/>
            </a:stretch>
          </a:blipFill>
        </p:spPr>
      </p:sp>
      <p:sp>
        <p:nvSpPr>
          <p:cNvPr name="TextBox 8" id="8"/>
          <p:cNvSpPr txBox="true"/>
          <p:nvPr/>
        </p:nvSpPr>
        <p:spPr>
          <a:xfrm rot="0">
            <a:off x="4558346" y="641975"/>
            <a:ext cx="8926922" cy="707217"/>
          </a:xfrm>
          <a:prstGeom prst="rect">
            <a:avLst/>
          </a:prstGeom>
        </p:spPr>
        <p:txBody>
          <a:bodyPr anchor="t" rtlCol="false" tIns="0" lIns="0" bIns="0" rIns="0">
            <a:spAutoFit/>
          </a:bodyPr>
          <a:lstStyle/>
          <a:p>
            <a:pPr algn="ctr">
              <a:lnSpc>
                <a:spcPts val="5557"/>
              </a:lnSpc>
            </a:pPr>
            <a:r>
              <a:rPr lang="en-US" sz="3969" b="true">
                <a:solidFill>
                  <a:srgbClr val="FFFFFF"/>
                </a:solidFill>
                <a:latin typeface="Arial Bold"/>
                <a:ea typeface="Arial Bold"/>
                <a:cs typeface="Arial Bold"/>
                <a:sym typeface="Arial Bold"/>
              </a:rPr>
              <a:t>Boxplot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814" r="0" b="-814"/>
            </a:stretch>
          </a:blipFill>
        </p:spPr>
      </p:sp>
      <p:grpSp>
        <p:nvGrpSpPr>
          <p:cNvPr name="Group 3" id="3"/>
          <p:cNvGrpSpPr/>
          <p:nvPr/>
        </p:nvGrpSpPr>
        <p:grpSpPr>
          <a:xfrm rot="0">
            <a:off x="2728944" y="3063505"/>
            <a:ext cx="3812560" cy="5529429"/>
            <a:chOff x="0" y="0"/>
            <a:chExt cx="1004131" cy="1456311"/>
          </a:xfrm>
        </p:grpSpPr>
        <p:sp>
          <p:nvSpPr>
            <p:cNvPr name="Freeform 4" id="4"/>
            <p:cNvSpPr/>
            <p:nvPr/>
          </p:nvSpPr>
          <p:spPr>
            <a:xfrm flipH="false" flipV="false" rot="0">
              <a:off x="0" y="0"/>
              <a:ext cx="1004131" cy="1456311"/>
            </a:xfrm>
            <a:custGeom>
              <a:avLst/>
              <a:gdLst/>
              <a:ahLst/>
              <a:cxnLst/>
              <a:rect r="r" b="b" t="t" l="l"/>
              <a:pathLst>
                <a:path h="1456311" w="1004131">
                  <a:moveTo>
                    <a:pt x="73103" y="0"/>
                  </a:moveTo>
                  <a:lnTo>
                    <a:pt x="931028" y="0"/>
                  </a:lnTo>
                  <a:cubicBezTo>
                    <a:pt x="971402" y="0"/>
                    <a:pt x="1004131" y="32729"/>
                    <a:pt x="1004131" y="73103"/>
                  </a:cubicBezTo>
                  <a:lnTo>
                    <a:pt x="1004131" y="1383208"/>
                  </a:lnTo>
                  <a:cubicBezTo>
                    <a:pt x="1004131" y="1423581"/>
                    <a:pt x="971402" y="1456311"/>
                    <a:pt x="931028" y="1456311"/>
                  </a:cubicBezTo>
                  <a:lnTo>
                    <a:pt x="73103" y="1456311"/>
                  </a:lnTo>
                  <a:cubicBezTo>
                    <a:pt x="32729" y="1456311"/>
                    <a:pt x="0" y="1423581"/>
                    <a:pt x="0" y="1383208"/>
                  </a:cubicBezTo>
                  <a:lnTo>
                    <a:pt x="0" y="73103"/>
                  </a:lnTo>
                  <a:cubicBezTo>
                    <a:pt x="0" y="32729"/>
                    <a:pt x="32729" y="0"/>
                    <a:pt x="73103" y="0"/>
                  </a:cubicBezTo>
                  <a:close/>
                </a:path>
              </a:pathLst>
            </a:custGeom>
            <a:gradFill rotWithShape="true">
              <a:gsLst>
                <a:gs pos="0">
                  <a:srgbClr val="08122E">
                    <a:alpha val="100000"/>
                  </a:srgbClr>
                </a:gs>
                <a:gs pos="100000">
                  <a:srgbClr val="2D5297">
                    <a:alpha val="100000"/>
                  </a:srgbClr>
                </a:gs>
              </a:gsLst>
              <a:lin ang="0"/>
            </a:gradFill>
          </p:spPr>
        </p:sp>
        <p:sp>
          <p:nvSpPr>
            <p:cNvPr name="TextBox 5" id="5"/>
            <p:cNvSpPr txBox="true"/>
            <p:nvPr/>
          </p:nvSpPr>
          <p:spPr>
            <a:xfrm>
              <a:off x="0" y="-66675"/>
              <a:ext cx="1004131" cy="1522986"/>
            </a:xfrm>
            <a:prstGeom prst="rect">
              <a:avLst/>
            </a:prstGeom>
          </p:spPr>
          <p:txBody>
            <a:bodyPr anchor="ctr" rtlCol="false" tIns="50800" lIns="50800" bIns="50800" rIns="50800"/>
            <a:lstStyle/>
            <a:p>
              <a:pPr algn="ctr">
                <a:lnSpc>
                  <a:spcPts val="3418"/>
                </a:lnSpc>
              </a:pPr>
            </a:p>
          </p:txBody>
        </p:sp>
      </p:grpSp>
      <p:grpSp>
        <p:nvGrpSpPr>
          <p:cNvPr name="Group 6" id="6"/>
          <p:cNvGrpSpPr/>
          <p:nvPr/>
        </p:nvGrpSpPr>
        <p:grpSpPr>
          <a:xfrm rot="0">
            <a:off x="2728944" y="2862471"/>
            <a:ext cx="3812560" cy="5072593"/>
            <a:chOff x="0" y="0"/>
            <a:chExt cx="5083413" cy="6763457"/>
          </a:xfrm>
        </p:grpSpPr>
        <p:grpSp>
          <p:nvGrpSpPr>
            <p:cNvPr name="Group 7" id="7"/>
            <p:cNvGrpSpPr/>
            <p:nvPr/>
          </p:nvGrpSpPr>
          <p:grpSpPr>
            <a:xfrm rot="0">
              <a:off x="345939" y="294566"/>
              <a:ext cx="322100" cy="5469303"/>
              <a:chOff x="0" y="0"/>
              <a:chExt cx="92979" cy="1578795"/>
            </a:xfrm>
          </p:grpSpPr>
          <p:sp>
            <p:nvSpPr>
              <p:cNvPr name="Freeform 8" id="8"/>
              <p:cNvSpPr/>
              <p:nvPr/>
            </p:nvSpPr>
            <p:spPr>
              <a:xfrm flipH="false" flipV="false" rot="0">
                <a:off x="0" y="0"/>
                <a:ext cx="92979" cy="1578795"/>
              </a:xfrm>
              <a:custGeom>
                <a:avLst/>
                <a:gdLst/>
                <a:ahLst/>
                <a:cxnLst/>
                <a:rect r="r" b="b" t="t" l="l"/>
                <a:pathLst>
                  <a:path h="1578795" w="92979">
                    <a:moveTo>
                      <a:pt x="46489" y="0"/>
                    </a:moveTo>
                    <a:lnTo>
                      <a:pt x="46489" y="0"/>
                    </a:lnTo>
                    <a:cubicBezTo>
                      <a:pt x="58819" y="0"/>
                      <a:pt x="70644" y="4898"/>
                      <a:pt x="79362" y="13616"/>
                    </a:cubicBezTo>
                    <a:cubicBezTo>
                      <a:pt x="88081" y="22335"/>
                      <a:pt x="92979" y="34160"/>
                      <a:pt x="92979" y="46489"/>
                    </a:cubicBezTo>
                    <a:lnTo>
                      <a:pt x="92979" y="1532306"/>
                    </a:lnTo>
                    <a:cubicBezTo>
                      <a:pt x="92979" y="1544635"/>
                      <a:pt x="88081" y="1556460"/>
                      <a:pt x="79362" y="1565179"/>
                    </a:cubicBezTo>
                    <a:cubicBezTo>
                      <a:pt x="70644" y="1573897"/>
                      <a:pt x="58819" y="1578795"/>
                      <a:pt x="46489" y="1578795"/>
                    </a:cubicBezTo>
                    <a:lnTo>
                      <a:pt x="46489" y="1578795"/>
                    </a:lnTo>
                    <a:cubicBezTo>
                      <a:pt x="20814" y="1578795"/>
                      <a:pt x="0" y="1557981"/>
                      <a:pt x="0" y="1532306"/>
                    </a:cubicBezTo>
                    <a:lnTo>
                      <a:pt x="0" y="46489"/>
                    </a:lnTo>
                    <a:cubicBezTo>
                      <a:pt x="0" y="20814"/>
                      <a:pt x="20814" y="0"/>
                      <a:pt x="46489" y="0"/>
                    </a:cubicBezTo>
                    <a:close/>
                  </a:path>
                </a:pathLst>
              </a:custGeom>
              <a:solidFill>
                <a:srgbClr val="3165AA"/>
              </a:solidFill>
              <a:ln cap="rnd">
                <a:noFill/>
                <a:prstDash val="solid"/>
                <a:round/>
              </a:ln>
            </p:spPr>
          </p:sp>
          <p:sp>
            <p:nvSpPr>
              <p:cNvPr name="TextBox 9" id="9"/>
              <p:cNvSpPr txBox="true"/>
              <p:nvPr/>
            </p:nvSpPr>
            <p:spPr>
              <a:xfrm>
                <a:off x="0" y="-38100"/>
                <a:ext cx="92979" cy="1616895"/>
              </a:xfrm>
              <a:prstGeom prst="rect">
                <a:avLst/>
              </a:prstGeom>
            </p:spPr>
            <p:txBody>
              <a:bodyPr anchor="ctr" rtlCol="false" tIns="50800" lIns="50800" bIns="50800" rIns="50800"/>
              <a:lstStyle/>
              <a:p>
                <a:pPr algn="ctr" marL="0" indent="0" lvl="0">
                  <a:lnSpc>
                    <a:spcPts val="2939"/>
                  </a:lnSpc>
                  <a:spcBef>
                    <a:spcPct val="0"/>
                  </a:spcBef>
                </a:pPr>
              </a:p>
            </p:txBody>
          </p:sp>
        </p:grpSp>
        <p:grpSp>
          <p:nvGrpSpPr>
            <p:cNvPr name="Group 10" id="10"/>
            <p:cNvGrpSpPr/>
            <p:nvPr/>
          </p:nvGrpSpPr>
          <p:grpSpPr>
            <a:xfrm rot="0">
              <a:off x="0" y="0"/>
              <a:ext cx="5083413" cy="6763457"/>
              <a:chOff x="0" y="0"/>
              <a:chExt cx="1467402" cy="1952372"/>
            </a:xfrm>
          </p:grpSpPr>
          <p:sp>
            <p:nvSpPr>
              <p:cNvPr name="Freeform 11" id="11"/>
              <p:cNvSpPr/>
              <p:nvPr/>
            </p:nvSpPr>
            <p:spPr>
              <a:xfrm flipH="false" flipV="false" rot="0">
                <a:off x="0" y="0"/>
                <a:ext cx="1467402" cy="1952372"/>
              </a:xfrm>
              <a:custGeom>
                <a:avLst/>
                <a:gdLst/>
                <a:ahLst/>
                <a:cxnLst/>
                <a:rect r="r" b="b" t="t" l="l"/>
                <a:pathLst>
                  <a:path h="1952372" w="1467402">
                    <a:moveTo>
                      <a:pt x="41686" y="0"/>
                    </a:moveTo>
                    <a:lnTo>
                      <a:pt x="1425716" y="0"/>
                    </a:lnTo>
                    <a:cubicBezTo>
                      <a:pt x="1436772" y="0"/>
                      <a:pt x="1447375" y="4392"/>
                      <a:pt x="1455193" y="12210"/>
                    </a:cubicBezTo>
                    <a:cubicBezTo>
                      <a:pt x="1463010" y="20027"/>
                      <a:pt x="1467402" y="30630"/>
                      <a:pt x="1467402" y="41686"/>
                    </a:cubicBezTo>
                    <a:lnTo>
                      <a:pt x="1467402" y="1910685"/>
                    </a:lnTo>
                    <a:cubicBezTo>
                      <a:pt x="1467402" y="1933708"/>
                      <a:pt x="1448739" y="1952372"/>
                      <a:pt x="1425716" y="1952372"/>
                    </a:cubicBezTo>
                    <a:lnTo>
                      <a:pt x="41686" y="1952372"/>
                    </a:lnTo>
                    <a:cubicBezTo>
                      <a:pt x="30630" y="1952372"/>
                      <a:pt x="20027" y="1947980"/>
                      <a:pt x="12210" y="1940162"/>
                    </a:cubicBezTo>
                    <a:cubicBezTo>
                      <a:pt x="4392" y="1932344"/>
                      <a:pt x="0" y="1921741"/>
                      <a:pt x="0" y="1910685"/>
                    </a:cubicBezTo>
                    <a:lnTo>
                      <a:pt x="0" y="41686"/>
                    </a:lnTo>
                    <a:cubicBezTo>
                      <a:pt x="0" y="30630"/>
                      <a:pt x="4392" y="20027"/>
                      <a:pt x="12210" y="12210"/>
                    </a:cubicBezTo>
                    <a:cubicBezTo>
                      <a:pt x="20027" y="4392"/>
                      <a:pt x="30630" y="0"/>
                      <a:pt x="41686" y="0"/>
                    </a:cubicBezTo>
                    <a:close/>
                  </a:path>
                </a:pathLst>
              </a:custGeom>
              <a:solidFill>
                <a:srgbClr val="3165AA"/>
              </a:solidFill>
              <a:ln cap="rnd">
                <a:noFill/>
                <a:prstDash val="solid"/>
                <a:round/>
              </a:ln>
            </p:spPr>
          </p:sp>
          <p:sp>
            <p:nvSpPr>
              <p:cNvPr name="TextBox 12" id="12"/>
              <p:cNvSpPr txBox="true"/>
              <p:nvPr/>
            </p:nvSpPr>
            <p:spPr>
              <a:xfrm>
                <a:off x="0" y="-38100"/>
                <a:ext cx="1467402" cy="1990472"/>
              </a:xfrm>
              <a:prstGeom prst="rect">
                <a:avLst/>
              </a:prstGeom>
            </p:spPr>
            <p:txBody>
              <a:bodyPr anchor="ctr" rtlCol="false" tIns="50800" lIns="50800" bIns="50800" rIns="50800"/>
              <a:lstStyle/>
              <a:p>
                <a:pPr algn="ctr">
                  <a:lnSpc>
                    <a:spcPts val="2939"/>
                  </a:lnSpc>
                </a:pPr>
              </a:p>
            </p:txBody>
          </p:sp>
        </p:grpSp>
        <p:sp>
          <p:nvSpPr>
            <p:cNvPr name="TextBox 13" id="13"/>
            <p:cNvSpPr txBox="true"/>
            <p:nvPr/>
          </p:nvSpPr>
          <p:spPr>
            <a:xfrm rot="0">
              <a:off x="486097" y="280572"/>
              <a:ext cx="4111220" cy="5618692"/>
            </a:xfrm>
            <a:prstGeom prst="rect">
              <a:avLst/>
            </a:prstGeom>
          </p:spPr>
          <p:txBody>
            <a:bodyPr anchor="t" rtlCol="false" tIns="0" lIns="0" bIns="0" rIns="0">
              <a:spAutoFit/>
            </a:bodyPr>
            <a:lstStyle/>
            <a:p>
              <a:pPr algn="ctr">
                <a:lnSpc>
                  <a:spcPts val="2800"/>
                </a:lnSpc>
                <a:spcBef>
                  <a:spcPct val="0"/>
                </a:spcBef>
              </a:pPr>
              <a:r>
                <a:rPr lang="en-US" b="true" sz="2000" spc="20">
                  <a:solidFill>
                    <a:srgbClr val="FFFFFF"/>
                  </a:solidFill>
                  <a:latin typeface="Arial Bold"/>
                  <a:ea typeface="Arial Bold"/>
                  <a:cs typeface="Arial Bold"/>
                  <a:sym typeface="Arial Bold"/>
                </a:rPr>
                <a:t>La comuna con mayor pobreza (La Granja) presenta la mayor media de alimentos saludables en el análisis básico por comuna, lo que contradice la expectativa inicial de que a mayor pobreza correspondería menor disponibilidad.</a:t>
              </a:r>
            </a:p>
            <a:p>
              <a:pPr algn="ctr">
                <a:lnSpc>
                  <a:spcPts val="2800"/>
                </a:lnSpc>
                <a:spcBef>
                  <a:spcPct val="0"/>
                </a:spcBef>
              </a:pPr>
            </a:p>
          </p:txBody>
        </p:sp>
      </p:grpSp>
      <p:grpSp>
        <p:nvGrpSpPr>
          <p:cNvPr name="Group 14" id="14"/>
          <p:cNvGrpSpPr/>
          <p:nvPr/>
        </p:nvGrpSpPr>
        <p:grpSpPr>
          <a:xfrm rot="0">
            <a:off x="2728944" y="347845"/>
            <a:ext cx="12345354" cy="1765751"/>
            <a:chOff x="0" y="0"/>
            <a:chExt cx="3871319" cy="553713"/>
          </a:xfrm>
        </p:grpSpPr>
        <p:sp>
          <p:nvSpPr>
            <p:cNvPr name="Freeform 15" id="15"/>
            <p:cNvSpPr/>
            <p:nvPr/>
          </p:nvSpPr>
          <p:spPr>
            <a:xfrm flipH="false" flipV="false" rot="0">
              <a:off x="0" y="0"/>
              <a:ext cx="3871319" cy="553713"/>
            </a:xfrm>
            <a:custGeom>
              <a:avLst/>
              <a:gdLst/>
              <a:ahLst/>
              <a:cxnLst/>
              <a:rect r="r" b="b" t="t" l="l"/>
              <a:pathLst>
                <a:path h="553713" w="3871319">
                  <a:moveTo>
                    <a:pt x="12542" y="0"/>
                  </a:moveTo>
                  <a:lnTo>
                    <a:pt x="3858777" y="0"/>
                  </a:lnTo>
                  <a:cubicBezTo>
                    <a:pt x="3865704" y="0"/>
                    <a:pt x="3871319" y="5615"/>
                    <a:pt x="3871319" y="12542"/>
                  </a:cubicBezTo>
                  <a:lnTo>
                    <a:pt x="3871319" y="541171"/>
                  </a:lnTo>
                  <a:cubicBezTo>
                    <a:pt x="3871319" y="548098"/>
                    <a:pt x="3865704" y="553713"/>
                    <a:pt x="3858777" y="553713"/>
                  </a:cubicBezTo>
                  <a:lnTo>
                    <a:pt x="12542" y="553713"/>
                  </a:lnTo>
                  <a:cubicBezTo>
                    <a:pt x="5615" y="553713"/>
                    <a:pt x="0" y="548098"/>
                    <a:pt x="0" y="541171"/>
                  </a:cubicBezTo>
                  <a:lnTo>
                    <a:pt x="0" y="12542"/>
                  </a:lnTo>
                  <a:cubicBezTo>
                    <a:pt x="0" y="5615"/>
                    <a:pt x="5615" y="0"/>
                    <a:pt x="1254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6" id="16"/>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AutoShape 17" id="17"/>
          <p:cNvSpPr/>
          <p:nvPr/>
        </p:nvSpPr>
        <p:spPr>
          <a:xfrm flipV="true">
            <a:off x="1028694" y="10018820"/>
            <a:ext cx="16464787" cy="9525"/>
          </a:xfrm>
          <a:prstGeom prst="line">
            <a:avLst/>
          </a:prstGeom>
          <a:ln cap="flat" w="19050">
            <a:solidFill>
              <a:srgbClr val="FFFFFF"/>
            </a:solidFill>
            <a:prstDash val="solid"/>
            <a:headEnd type="none" len="sm" w="sm"/>
            <a:tailEnd type="none" len="sm" w="sm"/>
          </a:ln>
        </p:spPr>
      </p:sp>
      <p:grpSp>
        <p:nvGrpSpPr>
          <p:cNvPr name="Group 18" id="18"/>
          <p:cNvGrpSpPr/>
          <p:nvPr/>
        </p:nvGrpSpPr>
        <p:grpSpPr>
          <a:xfrm rot="0">
            <a:off x="7302720" y="3063505"/>
            <a:ext cx="3812560" cy="5529429"/>
            <a:chOff x="0" y="0"/>
            <a:chExt cx="1004131" cy="1456311"/>
          </a:xfrm>
        </p:grpSpPr>
        <p:sp>
          <p:nvSpPr>
            <p:cNvPr name="Freeform 19" id="19"/>
            <p:cNvSpPr/>
            <p:nvPr/>
          </p:nvSpPr>
          <p:spPr>
            <a:xfrm flipH="false" flipV="false" rot="0">
              <a:off x="0" y="0"/>
              <a:ext cx="1004131" cy="1456311"/>
            </a:xfrm>
            <a:custGeom>
              <a:avLst/>
              <a:gdLst/>
              <a:ahLst/>
              <a:cxnLst/>
              <a:rect r="r" b="b" t="t" l="l"/>
              <a:pathLst>
                <a:path h="1456311" w="1004131">
                  <a:moveTo>
                    <a:pt x="73103" y="0"/>
                  </a:moveTo>
                  <a:lnTo>
                    <a:pt x="931028" y="0"/>
                  </a:lnTo>
                  <a:cubicBezTo>
                    <a:pt x="971402" y="0"/>
                    <a:pt x="1004131" y="32729"/>
                    <a:pt x="1004131" y="73103"/>
                  </a:cubicBezTo>
                  <a:lnTo>
                    <a:pt x="1004131" y="1383208"/>
                  </a:lnTo>
                  <a:cubicBezTo>
                    <a:pt x="1004131" y="1423581"/>
                    <a:pt x="971402" y="1456311"/>
                    <a:pt x="931028" y="1456311"/>
                  </a:cubicBezTo>
                  <a:lnTo>
                    <a:pt x="73103" y="1456311"/>
                  </a:lnTo>
                  <a:cubicBezTo>
                    <a:pt x="32729" y="1456311"/>
                    <a:pt x="0" y="1423581"/>
                    <a:pt x="0" y="1383208"/>
                  </a:cubicBezTo>
                  <a:lnTo>
                    <a:pt x="0" y="73103"/>
                  </a:lnTo>
                  <a:cubicBezTo>
                    <a:pt x="0" y="32729"/>
                    <a:pt x="32729" y="0"/>
                    <a:pt x="73103" y="0"/>
                  </a:cubicBezTo>
                  <a:close/>
                </a:path>
              </a:pathLst>
            </a:custGeom>
            <a:gradFill rotWithShape="true">
              <a:gsLst>
                <a:gs pos="0">
                  <a:srgbClr val="08122E">
                    <a:alpha val="100000"/>
                  </a:srgbClr>
                </a:gs>
                <a:gs pos="100000">
                  <a:srgbClr val="2D5297">
                    <a:alpha val="100000"/>
                  </a:srgbClr>
                </a:gs>
              </a:gsLst>
              <a:lin ang="0"/>
            </a:gradFill>
          </p:spPr>
        </p:sp>
        <p:sp>
          <p:nvSpPr>
            <p:cNvPr name="TextBox 20" id="20"/>
            <p:cNvSpPr txBox="true"/>
            <p:nvPr/>
          </p:nvSpPr>
          <p:spPr>
            <a:xfrm>
              <a:off x="0" y="-66675"/>
              <a:ext cx="1004131" cy="1522986"/>
            </a:xfrm>
            <a:prstGeom prst="rect">
              <a:avLst/>
            </a:prstGeom>
          </p:spPr>
          <p:txBody>
            <a:bodyPr anchor="ctr" rtlCol="false" tIns="50800" lIns="50800" bIns="50800" rIns="50800"/>
            <a:lstStyle/>
            <a:p>
              <a:pPr algn="ctr">
                <a:lnSpc>
                  <a:spcPts val="3418"/>
                </a:lnSpc>
              </a:pPr>
            </a:p>
          </p:txBody>
        </p:sp>
      </p:grpSp>
      <p:grpSp>
        <p:nvGrpSpPr>
          <p:cNvPr name="Group 21" id="21"/>
          <p:cNvGrpSpPr/>
          <p:nvPr/>
        </p:nvGrpSpPr>
        <p:grpSpPr>
          <a:xfrm rot="0">
            <a:off x="7302720" y="2862471"/>
            <a:ext cx="3812560" cy="5078944"/>
            <a:chOff x="0" y="0"/>
            <a:chExt cx="5083413" cy="6771926"/>
          </a:xfrm>
        </p:grpSpPr>
        <p:grpSp>
          <p:nvGrpSpPr>
            <p:cNvPr name="Group 22" id="22"/>
            <p:cNvGrpSpPr/>
            <p:nvPr/>
          </p:nvGrpSpPr>
          <p:grpSpPr>
            <a:xfrm rot="0">
              <a:off x="345939" y="294935"/>
              <a:ext cx="322100" cy="5476151"/>
              <a:chOff x="0" y="0"/>
              <a:chExt cx="85186" cy="1448289"/>
            </a:xfrm>
          </p:grpSpPr>
          <p:sp>
            <p:nvSpPr>
              <p:cNvPr name="Freeform 23" id="23"/>
              <p:cNvSpPr/>
              <p:nvPr/>
            </p:nvSpPr>
            <p:spPr>
              <a:xfrm flipH="false" flipV="false" rot="0">
                <a:off x="0" y="0"/>
                <a:ext cx="85186" cy="1448289"/>
              </a:xfrm>
              <a:custGeom>
                <a:avLst/>
                <a:gdLst/>
                <a:ahLst/>
                <a:cxnLst/>
                <a:rect r="r" b="b" t="t" l="l"/>
                <a:pathLst>
                  <a:path h="1448289" w="85186">
                    <a:moveTo>
                      <a:pt x="42593" y="0"/>
                    </a:moveTo>
                    <a:lnTo>
                      <a:pt x="42593" y="0"/>
                    </a:lnTo>
                    <a:cubicBezTo>
                      <a:pt x="66117" y="0"/>
                      <a:pt x="85186" y="19070"/>
                      <a:pt x="85186" y="42593"/>
                    </a:cubicBezTo>
                    <a:lnTo>
                      <a:pt x="85186" y="1405696"/>
                    </a:lnTo>
                    <a:cubicBezTo>
                      <a:pt x="85186" y="1429219"/>
                      <a:pt x="66117" y="1448289"/>
                      <a:pt x="42593" y="1448289"/>
                    </a:cubicBezTo>
                    <a:lnTo>
                      <a:pt x="42593" y="1448289"/>
                    </a:lnTo>
                    <a:cubicBezTo>
                      <a:pt x="19070" y="1448289"/>
                      <a:pt x="0" y="1429219"/>
                      <a:pt x="0" y="1405696"/>
                    </a:cubicBezTo>
                    <a:lnTo>
                      <a:pt x="0" y="42593"/>
                    </a:lnTo>
                    <a:cubicBezTo>
                      <a:pt x="0" y="19070"/>
                      <a:pt x="19070" y="0"/>
                      <a:pt x="42593" y="0"/>
                    </a:cubicBezTo>
                    <a:close/>
                  </a:path>
                </a:pathLst>
              </a:custGeom>
              <a:solidFill>
                <a:srgbClr val="3165AA"/>
              </a:solidFill>
              <a:ln cap="rnd">
                <a:noFill/>
                <a:prstDash val="solid"/>
                <a:round/>
              </a:ln>
            </p:spPr>
          </p:sp>
          <p:sp>
            <p:nvSpPr>
              <p:cNvPr name="TextBox 24" id="24"/>
              <p:cNvSpPr txBox="true"/>
              <p:nvPr/>
            </p:nvSpPr>
            <p:spPr>
              <a:xfrm>
                <a:off x="0" y="-38100"/>
                <a:ext cx="85186" cy="1486389"/>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25" id="25"/>
            <p:cNvGrpSpPr/>
            <p:nvPr/>
          </p:nvGrpSpPr>
          <p:grpSpPr>
            <a:xfrm rot="0">
              <a:off x="0" y="0"/>
              <a:ext cx="5083413" cy="6771926"/>
              <a:chOff x="0" y="0"/>
              <a:chExt cx="1344421" cy="1790985"/>
            </a:xfrm>
          </p:grpSpPr>
          <p:sp>
            <p:nvSpPr>
              <p:cNvPr name="Freeform 26" id="26"/>
              <p:cNvSpPr/>
              <p:nvPr/>
            </p:nvSpPr>
            <p:spPr>
              <a:xfrm flipH="false" flipV="false" rot="0">
                <a:off x="0" y="0"/>
                <a:ext cx="1344421" cy="1790985"/>
              </a:xfrm>
              <a:custGeom>
                <a:avLst/>
                <a:gdLst/>
                <a:ahLst/>
                <a:cxnLst/>
                <a:rect r="r" b="b" t="t" l="l"/>
                <a:pathLst>
                  <a:path h="1790985" w="1344421">
                    <a:moveTo>
                      <a:pt x="45500" y="0"/>
                    </a:moveTo>
                    <a:lnTo>
                      <a:pt x="1298921" y="0"/>
                    </a:lnTo>
                    <a:cubicBezTo>
                      <a:pt x="1324050" y="0"/>
                      <a:pt x="1344421" y="20371"/>
                      <a:pt x="1344421" y="45500"/>
                    </a:cubicBezTo>
                    <a:lnTo>
                      <a:pt x="1344421" y="1745485"/>
                    </a:lnTo>
                    <a:cubicBezTo>
                      <a:pt x="1344421" y="1770614"/>
                      <a:pt x="1324050" y="1790985"/>
                      <a:pt x="1298921" y="1790985"/>
                    </a:cubicBezTo>
                    <a:lnTo>
                      <a:pt x="45500" y="1790985"/>
                    </a:lnTo>
                    <a:cubicBezTo>
                      <a:pt x="20371" y="1790985"/>
                      <a:pt x="0" y="1770614"/>
                      <a:pt x="0" y="1745485"/>
                    </a:cubicBezTo>
                    <a:lnTo>
                      <a:pt x="0" y="45500"/>
                    </a:lnTo>
                    <a:cubicBezTo>
                      <a:pt x="0" y="20371"/>
                      <a:pt x="20371" y="0"/>
                      <a:pt x="45500" y="0"/>
                    </a:cubicBezTo>
                    <a:close/>
                  </a:path>
                </a:pathLst>
              </a:custGeom>
              <a:solidFill>
                <a:srgbClr val="3165AA"/>
              </a:solidFill>
              <a:ln cap="rnd">
                <a:noFill/>
                <a:prstDash val="solid"/>
                <a:round/>
              </a:ln>
            </p:spPr>
          </p:sp>
          <p:sp>
            <p:nvSpPr>
              <p:cNvPr name="TextBox 27" id="27"/>
              <p:cNvSpPr txBox="true"/>
              <p:nvPr/>
            </p:nvSpPr>
            <p:spPr>
              <a:xfrm>
                <a:off x="0" y="-38100"/>
                <a:ext cx="1344421" cy="1829085"/>
              </a:xfrm>
              <a:prstGeom prst="rect">
                <a:avLst/>
              </a:prstGeom>
            </p:spPr>
            <p:txBody>
              <a:bodyPr anchor="ctr" rtlCol="false" tIns="50800" lIns="50800" bIns="50800" rIns="50800"/>
              <a:lstStyle/>
              <a:p>
                <a:pPr algn="ctr">
                  <a:lnSpc>
                    <a:spcPts val="2940"/>
                  </a:lnSpc>
                </a:pPr>
              </a:p>
            </p:txBody>
          </p:sp>
        </p:grpSp>
        <p:sp>
          <p:nvSpPr>
            <p:cNvPr name="TextBox 28" id="28"/>
            <p:cNvSpPr txBox="true"/>
            <p:nvPr/>
          </p:nvSpPr>
          <p:spPr>
            <a:xfrm rot="0">
              <a:off x="462017" y="280983"/>
              <a:ext cx="4116201" cy="5625667"/>
            </a:xfrm>
            <a:prstGeom prst="rect">
              <a:avLst/>
            </a:prstGeom>
          </p:spPr>
          <p:txBody>
            <a:bodyPr anchor="t" rtlCol="false" tIns="0" lIns="0" bIns="0" rIns="0">
              <a:spAutoFit/>
            </a:bodyPr>
            <a:lstStyle/>
            <a:p>
              <a:pPr algn="ctr">
                <a:lnSpc>
                  <a:spcPts val="2803"/>
                </a:lnSpc>
                <a:spcBef>
                  <a:spcPct val="0"/>
                </a:spcBef>
              </a:pPr>
              <a:r>
                <a:rPr lang="en-US" b="true" sz="2002" spc="20">
                  <a:solidFill>
                    <a:srgbClr val="FFFFFF"/>
                  </a:solidFill>
                  <a:latin typeface="Arial Bold"/>
                  <a:ea typeface="Arial Bold"/>
                  <a:cs typeface="Arial Bold"/>
                  <a:sym typeface="Arial Bold"/>
                </a:rPr>
                <a:t>Al incorporar la matrícula estudiantil, el orden cambia: San Joaquín (menor pobreza frente a la granja) supera a La Granja. Esto sugiere que el tamaño del establecimiento influye en la disponibilidad y debe ser considerado como variable de control.</a:t>
              </a:r>
            </a:p>
          </p:txBody>
        </p:sp>
      </p:grpSp>
      <p:grpSp>
        <p:nvGrpSpPr>
          <p:cNvPr name="Group 29" id="29"/>
          <p:cNvGrpSpPr/>
          <p:nvPr/>
        </p:nvGrpSpPr>
        <p:grpSpPr>
          <a:xfrm rot="0">
            <a:off x="11746496" y="3063505"/>
            <a:ext cx="3812560" cy="5529429"/>
            <a:chOff x="0" y="0"/>
            <a:chExt cx="1004131" cy="1456311"/>
          </a:xfrm>
        </p:grpSpPr>
        <p:sp>
          <p:nvSpPr>
            <p:cNvPr name="Freeform 30" id="30"/>
            <p:cNvSpPr/>
            <p:nvPr/>
          </p:nvSpPr>
          <p:spPr>
            <a:xfrm flipH="false" flipV="false" rot="0">
              <a:off x="0" y="0"/>
              <a:ext cx="1004131" cy="1456311"/>
            </a:xfrm>
            <a:custGeom>
              <a:avLst/>
              <a:gdLst/>
              <a:ahLst/>
              <a:cxnLst/>
              <a:rect r="r" b="b" t="t" l="l"/>
              <a:pathLst>
                <a:path h="1456311" w="1004131">
                  <a:moveTo>
                    <a:pt x="73103" y="0"/>
                  </a:moveTo>
                  <a:lnTo>
                    <a:pt x="931028" y="0"/>
                  </a:lnTo>
                  <a:cubicBezTo>
                    <a:pt x="971402" y="0"/>
                    <a:pt x="1004131" y="32729"/>
                    <a:pt x="1004131" y="73103"/>
                  </a:cubicBezTo>
                  <a:lnTo>
                    <a:pt x="1004131" y="1383208"/>
                  </a:lnTo>
                  <a:cubicBezTo>
                    <a:pt x="1004131" y="1423581"/>
                    <a:pt x="971402" y="1456311"/>
                    <a:pt x="931028" y="1456311"/>
                  </a:cubicBezTo>
                  <a:lnTo>
                    <a:pt x="73103" y="1456311"/>
                  </a:lnTo>
                  <a:cubicBezTo>
                    <a:pt x="32729" y="1456311"/>
                    <a:pt x="0" y="1423581"/>
                    <a:pt x="0" y="1383208"/>
                  </a:cubicBezTo>
                  <a:lnTo>
                    <a:pt x="0" y="73103"/>
                  </a:lnTo>
                  <a:cubicBezTo>
                    <a:pt x="0" y="32729"/>
                    <a:pt x="32729" y="0"/>
                    <a:pt x="73103" y="0"/>
                  </a:cubicBezTo>
                  <a:close/>
                </a:path>
              </a:pathLst>
            </a:custGeom>
            <a:gradFill rotWithShape="true">
              <a:gsLst>
                <a:gs pos="0">
                  <a:srgbClr val="08122E">
                    <a:alpha val="100000"/>
                  </a:srgbClr>
                </a:gs>
                <a:gs pos="100000">
                  <a:srgbClr val="2D5297">
                    <a:alpha val="100000"/>
                  </a:srgbClr>
                </a:gs>
              </a:gsLst>
              <a:lin ang="0"/>
            </a:gradFill>
          </p:spPr>
        </p:sp>
        <p:sp>
          <p:nvSpPr>
            <p:cNvPr name="TextBox 31" id="31"/>
            <p:cNvSpPr txBox="true"/>
            <p:nvPr/>
          </p:nvSpPr>
          <p:spPr>
            <a:xfrm>
              <a:off x="0" y="-66675"/>
              <a:ext cx="1004131" cy="1522986"/>
            </a:xfrm>
            <a:prstGeom prst="rect">
              <a:avLst/>
            </a:prstGeom>
          </p:spPr>
          <p:txBody>
            <a:bodyPr anchor="ctr" rtlCol="false" tIns="50800" lIns="50800" bIns="50800" rIns="50800"/>
            <a:lstStyle/>
            <a:p>
              <a:pPr algn="ctr">
                <a:lnSpc>
                  <a:spcPts val="3418"/>
                </a:lnSpc>
              </a:pPr>
            </a:p>
          </p:txBody>
        </p:sp>
      </p:grpSp>
      <p:grpSp>
        <p:nvGrpSpPr>
          <p:cNvPr name="Group 32" id="32"/>
          <p:cNvGrpSpPr/>
          <p:nvPr/>
        </p:nvGrpSpPr>
        <p:grpSpPr>
          <a:xfrm rot="0">
            <a:off x="11751264" y="2862471"/>
            <a:ext cx="3807792" cy="5323472"/>
            <a:chOff x="0" y="0"/>
            <a:chExt cx="5077056" cy="7097963"/>
          </a:xfrm>
        </p:grpSpPr>
        <p:grpSp>
          <p:nvGrpSpPr>
            <p:cNvPr name="Group 33" id="33"/>
            <p:cNvGrpSpPr/>
            <p:nvPr/>
          </p:nvGrpSpPr>
          <p:grpSpPr>
            <a:xfrm rot="0">
              <a:off x="345506" y="294566"/>
              <a:ext cx="321697" cy="5469303"/>
              <a:chOff x="0" y="0"/>
              <a:chExt cx="85186" cy="1448289"/>
            </a:xfrm>
          </p:grpSpPr>
          <p:sp>
            <p:nvSpPr>
              <p:cNvPr name="Freeform 34" id="34"/>
              <p:cNvSpPr/>
              <p:nvPr/>
            </p:nvSpPr>
            <p:spPr>
              <a:xfrm flipH="false" flipV="false" rot="0">
                <a:off x="0" y="0"/>
                <a:ext cx="85186" cy="1448289"/>
              </a:xfrm>
              <a:custGeom>
                <a:avLst/>
                <a:gdLst/>
                <a:ahLst/>
                <a:cxnLst/>
                <a:rect r="r" b="b" t="t" l="l"/>
                <a:pathLst>
                  <a:path h="1448289" w="85186">
                    <a:moveTo>
                      <a:pt x="42593" y="0"/>
                    </a:moveTo>
                    <a:lnTo>
                      <a:pt x="42593" y="0"/>
                    </a:lnTo>
                    <a:cubicBezTo>
                      <a:pt x="66117" y="0"/>
                      <a:pt x="85186" y="19070"/>
                      <a:pt x="85186" y="42593"/>
                    </a:cubicBezTo>
                    <a:lnTo>
                      <a:pt x="85186" y="1405696"/>
                    </a:lnTo>
                    <a:cubicBezTo>
                      <a:pt x="85186" y="1429219"/>
                      <a:pt x="66117" y="1448289"/>
                      <a:pt x="42593" y="1448289"/>
                    </a:cubicBezTo>
                    <a:lnTo>
                      <a:pt x="42593" y="1448289"/>
                    </a:lnTo>
                    <a:cubicBezTo>
                      <a:pt x="19070" y="1448289"/>
                      <a:pt x="0" y="1429219"/>
                      <a:pt x="0" y="1405696"/>
                    </a:cubicBezTo>
                    <a:lnTo>
                      <a:pt x="0" y="42593"/>
                    </a:lnTo>
                    <a:cubicBezTo>
                      <a:pt x="0" y="19070"/>
                      <a:pt x="19070" y="0"/>
                      <a:pt x="42593" y="0"/>
                    </a:cubicBezTo>
                    <a:close/>
                  </a:path>
                </a:pathLst>
              </a:custGeom>
              <a:solidFill>
                <a:srgbClr val="3165AA"/>
              </a:solidFill>
              <a:ln cap="rnd">
                <a:noFill/>
                <a:prstDash val="solid"/>
                <a:round/>
              </a:ln>
            </p:spPr>
          </p:sp>
          <p:sp>
            <p:nvSpPr>
              <p:cNvPr name="TextBox 35" id="35"/>
              <p:cNvSpPr txBox="true"/>
              <p:nvPr/>
            </p:nvSpPr>
            <p:spPr>
              <a:xfrm>
                <a:off x="0" y="-38100"/>
                <a:ext cx="85186" cy="1486389"/>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36" id="36"/>
            <p:cNvGrpSpPr/>
            <p:nvPr/>
          </p:nvGrpSpPr>
          <p:grpSpPr>
            <a:xfrm rot="0">
              <a:off x="0" y="0"/>
              <a:ext cx="5077056" cy="7097963"/>
              <a:chOff x="0" y="0"/>
              <a:chExt cx="1344421" cy="1879563"/>
            </a:xfrm>
          </p:grpSpPr>
          <p:sp>
            <p:nvSpPr>
              <p:cNvPr name="Freeform 37" id="37"/>
              <p:cNvSpPr/>
              <p:nvPr/>
            </p:nvSpPr>
            <p:spPr>
              <a:xfrm flipH="false" flipV="false" rot="0">
                <a:off x="0" y="0"/>
                <a:ext cx="1344421" cy="1879563"/>
              </a:xfrm>
              <a:custGeom>
                <a:avLst/>
                <a:gdLst/>
                <a:ahLst/>
                <a:cxnLst/>
                <a:rect r="r" b="b" t="t" l="l"/>
                <a:pathLst>
                  <a:path h="1879563" w="1344421">
                    <a:moveTo>
                      <a:pt x="45500" y="0"/>
                    </a:moveTo>
                    <a:lnTo>
                      <a:pt x="1298921" y="0"/>
                    </a:lnTo>
                    <a:cubicBezTo>
                      <a:pt x="1324050" y="0"/>
                      <a:pt x="1344421" y="20371"/>
                      <a:pt x="1344421" y="45500"/>
                    </a:cubicBezTo>
                    <a:lnTo>
                      <a:pt x="1344421" y="1834064"/>
                    </a:lnTo>
                    <a:cubicBezTo>
                      <a:pt x="1344421" y="1859193"/>
                      <a:pt x="1324050" y="1879563"/>
                      <a:pt x="1298921" y="1879563"/>
                    </a:cubicBezTo>
                    <a:lnTo>
                      <a:pt x="45500" y="1879563"/>
                    </a:lnTo>
                    <a:cubicBezTo>
                      <a:pt x="20371" y="1879563"/>
                      <a:pt x="0" y="1859193"/>
                      <a:pt x="0" y="1834064"/>
                    </a:cubicBezTo>
                    <a:lnTo>
                      <a:pt x="0" y="45500"/>
                    </a:lnTo>
                    <a:cubicBezTo>
                      <a:pt x="0" y="20371"/>
                      <a:pt x="20371" y="0"/>
                      <a:pt x="45500" y="0"/>
                    </a:cubicBezTo>
                    <a:close/>
                  </a:path>
                </a:pathLst>
              </a:custGeom>
              <a:solidFill>
                <a:srgbClr val="3165AA"/>
              </a:solidFill>
              <a:ln cap="rnd">
                <a:noFill/>
                <a:prstDash val="solid"/>
                <a:round/>
              </a:ln>
            </p:spPr>
          </p:sp>
          <p:sp>
            <p:nvSpPr>
              <p:cNvPr name="TextBox 38" id="38"/>
              <p:cNvSpPr txBox="true"/>
              <p:nvPr/>
            </p:nvSpPr>
            <p:spPr>
              <a:xfrm>
                <a:off x="0" y="-38100"/>
                <a:ext cx="1344421" cy="1917663"/>
              </a:xfrm>
              <a:prstGeom prst="rect">
                <a:avLst/>
              </a:prstGeom>
            </p:spPr>
            <p:txBody>
              <a:bodyPr anchor="ctr" rtlCol="false" tIns="50800" lIns="50800" bIns="50800" rIns="50800"/>
              <a:lstStyle/>
              <a:p>
                <a:pPr algn="ctr">
                  <a:lnSpc>
                    <a:spcPts val="2940"/>
                  </a:lnSpc>
                </a:pPr>
              </a:p>
            </p:txBody>
          </p:sp>
        </p:grpSp>
        <p:sp>
          <p:nvSpPr>
            <p:cNvPr name="TextBox 39" id="39"/>
            <p:cNvSpPr txBox="true"/>
            <p:nvPr/>
          </p:nvSpPr>
          <p:spPr>
            <a:xfrm rot="0">
              <a:off x="483566" y="280572"/>
              <a:ext cx="4109924" cy="6088592"/>
            </a:xfrm>
            <a:prstGeom prst="rect">
              <a:avLst/>
            </a:prstGeom>
          </p:spPr>
          <p:txBody>
            <a:bodyPr anchor="t" rtlCol="false" tIns="0" lIns="0" bIns="0" rIns="0">
              <a:spAutoFit/>
            </a:bodyPr>
            <a:lstStyle/>
            <a:p>
              <a:pPr algn="ctr">
                <a:lnSpc>
                  <a:spcPts val="2800"/>
                </a:lnSpc>
                <a:spcBef>
                  <a:spcPct val="0"/>
                </a:spcBef>
              </a:pPr>
              <a:r>
                <a:rPr lang="en-US" b="true" sz="2000" spc="20">
                  <a:solidFill>
                    <a:srgbClr val="FFFFFF"/>
                  </a:solidFill>
                  <a:latin typeface="Arial Bold"/>
                  <a:ea typeface="Arial Bold"/>
                  <a:cs typeface="Arial Bold"/>
                  <a:sym typeface="Arial Bold"/>
                </a:rPr>
                <a:t>No se observa una tendencia clara o monótona entre pobreza y disponibilidad saludable. Las diferencias entre comunas parecen explicarse mejor por factores como la cantidad de estudiantes o la densidad de locales que por el nivel socioeconómico.</a:t>
              </a:r>
            </a:p>
          </p:txBody>
        </p:sp>
      </p:grpSp>
      <p:sp>
        <p:nvSpPr>
          <p:cNvPr name="TextBox 40" id="40"/>
          <p:cNvSpPr txBox="true"/>
          <p:nvPr/>
        </p:nvSpPr>
        <p:spPr>
          <a:xfrm rot="0">
            <a:off x="3125616" y="751757"/>
            <a:ext cx="11244186" cy="882650"/>
          </a:xfrm>
          <a:prstGeom prst="rect">
            <a:avLst/>
          </a:prstGeom>
        </p:spPr>
        <p:txBody>
          <a:bodyPr anchor="t" rtlCol="false" tIns="0" lIns="0" bIns="0" rIns="0">
            <a:spAutoFit/>
          </a:bodyPr>
          <a:lstStyle/>
          <a:p>
            <a:pPr algn="ctr">
              <a:lnSpc>
                <a:spcPts val="7000"/>
              </a:lnSpc>
            </a:pPr>
            <a:r>
              <a:rPr lang="en-US" sz="5000" b="true">
                <a:solidFill>
                  <a:srgbClr val="FFFFFF"/>
                </a:solidFill>
                <a:latin typeface="Arial Bold"/>
                <a:ea typeface="Arial Bold"/>
                <a:cs typeface="Arial Bold"/>
                <a:sym typeface="Arial Bold"/>
              </a:rPr>
              <a:t>Analisis De Los Graficos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814" r="0" b="-814"/>
            </a:stretch>
          </a:blipFill>
        </p:spPr>
      </p:sp>
      <p:sp>
        <p:nvSpPr>
          <p:cNvPr name="Freeform 3" id="3"/>
          <p:cNvSpPr/>
          <p:nvPr/>
        </p:nvSpPr>
        <p:spPr>
          <a:xfrm flipH="false" flipV="false" rot="0">
            <a:off x="16580809" y="0"/>
            <a:ext cx="2927694" cy="2235694"/>
          </a:xfrm>
          <a:custGeom>
            <a:avLst/>
            <a:gdLst/>
            <a:ahLst/>
            <a:cxnLst/>
            <a:rect r="r" b="b" t="t" l="l"/>
            <a:pathLst>
              <a:path h="2235694" w="2927694">
                <a:moveTo>
                  <a:pt x="0" y="0"/>
                </a:moveTo>
                <a:lnTo>
                  <a:pt x="2927695" y="0"/>
                </a:lnTo>
                <a:lnTo>
                  <a:pt x="2927695" y="2235694"/>
                </a:lnTo>
                <a:lnTo>
                  <a:pt x="0" y="22356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40040" y="707473"/>
            <a:ext cx="9471960" cy="1258239"/>
            <a:chOff x="0" y="0"/>
            <a:chExt cx="3325316" cy="441729"/>
          </a:xfrm>
        </p:grpSpPr>
        <p:sp>
          <p:nvSpPr>
            <p:cNvPr name="Freeform 5" id="5"/>
            <p:cNvSpPr/>
            <p:nvPr/>
          </p:nvSpPr>
          <p:spPr>
            <a:xfrm flipH="false" flipV="false" rot="0">
              <a:off x="0" y="0"/>
              <a:ext cx="3325316" cy="441729"/>
            </a:xfrm>
            <a:custGeom>
              <a:avLst/>
              <a:gdLst/>
              <a:ahLst/>
              <a:cxnLst/>
              <a:rect r="r" b="b" t="t" l="l"/>
              <a:pathLst>
                <a:path h="441729" w="3325316">
                  <a:moveTo>
                    <a:pt x="16347" y="0"/>
                  </a:moveTo>
                  <a:lnTo>
                    <a:pt x="3308969" y="0"/>
                  </a:lnTo>
                  <a:cubicBezTo>
                    <a:pt x="3317997" y="0"/>
                    <a:pt x="3325316" y="7319"/>
                    <a:pt x="3325316" y="16347"/>
                  </a:cubicBezTo>
                  <a:lnTo>
                    <a:pt x="3325316" y="425382"/>
                  </a:lnTo>
                  <a:cubicBezTo>
                    <a:pt x="3325316" y="434410"/>
                    <a:pt x="3317997" y="441729"/>
                    <a:pt x="3308969" y="441729"/>
                  </a:cubicBezTo>
                  <a:lnTo>
                    <a:pt x="16347" y="441729"/>
                  </a:lnTo>
                  <a:cubicBezTo>
                    <a:pt x="7319" y="441729"/>
                    <a:pt x="0" y="434410"/>
                    <a:pt x="0" y="425382"/>
                  </a:cubicBezTo>
                  <a:lnTo>
                    <a:pt x="0" y="16347"/>
                  </a:lnTo>
                  <a:cubicBezTo>
                    <a:pt x="0" y="7319"/>
                    <a:pt x="7319" y="0"/>
                    <a:pt x="16347" y="0"/>
                  </a:cubicBezTo>
                  <a:close/>
                </a:path>
              </a:pathLst>
            </a:custGeom>
            <a:gradFill rotWithShape="true">
              <a:gsLst>
                <a:gs pos="0">
                  <a:srgbClr val="256AB3">
                    <a:alpha val="50000"/>
                  </a:srgbClr>
                </a:gs>
                <a:gs pos="100000">
                  <a:srgbClr val="CBDFFF">
                    <a:alpha val="50000"/>
                  </a:srgbClr>
                </a:gs>
              </a:gsLst>
              <a:path path="circle">
                <a:fillToRect l="0" r="100000" t="0" b="100000"/>
              </a:path>
              <a:tileRect r="0" l="-100000" b="0" t="-100000"/>
            </a:gradFill>
            <a:ln cap="sq">
              <a:noFill/>
              <a:prstDash val="solid"/>
              <a:miter/>
            </a:ln>
          </p:spPr>
        </p:sp>
        <p:sp>
          <p:nvSpPr>
            <p:cNvPr name="TextBox 6" id="6"/>
            <p:cNvSpPr txBox="true"/>
            <p:nvPr/>
          </p:nvSpPr>
          <p:spPr>
            <a:xfrm>
              <a:off x="0" y="-66675"/>
              <a:ext cx="3325316" cy="508404"/>
            </a:xfrm>
            <a:prstGeom prst="rect">
              <a:avLst/>
            </a:prstGeom>
          </p:spPr>
          <p:txBody>
            <a:bodyPr anchor="ctr" rtlCol="false" tIns="47543" lIns="47543" bIns="47543" rIns="47543"/>
            <a:lstStyle/>
            <a:p>
              <a:pPr algn="ctr">
                <a:lnSpc>
                  <a:spcPts val="3418"/>
                </a:lnSpc>
              </a:pPr>
            </a:p>
          </p:txBody>
        </p:sp>
      </p:grpSp>
      <p:grpSp>
        <p:nvGrpSpPr>
          <p:cNvPr name="Group 7" id="7"/>
          <p:cNvGrpSpPr/>
          <p:nvPr/>
        </p:nvGrpSpPr>
        <p:grpSpPr>
          <a:xfrm rot="0">
            <a:off x="428204" y="592154"/>
            <a:ext cx="9471960" cy="1258239"/>
            <a:chOff x="0" y="0"/>
            <a:chExt cx="3325316" cy="441729"/>
          </a:xfrm>
        </p:grpSpPr>
        <p:sp>
          <p:nvSpPr>
            <p:cNvPr name="Freeform 8" id="8"/>
            <p:cNvSpPr/>
            <p:nvPr/>
          </p:nvSpPr>
          <p:spPr>
            <a:xfrm flipH="false" flipV="false" rot="0">
              <a:off x="0" y="0"/>
              <a:ext cx="3325316" cy="441729"/>
            </a:xfrm>
            <a:custGeom>
              <a:avLst/>
              <a:gdLst/>
              <a:ahLst/>
              <a:cxnLst/>
              <a:rect r="r" b="b" t="t" l="l"/>
              <a:pathLst>
                <a:path h="441729" w="3325316">
                  <a:moveTo>
                    <a:pt x="16347" y="0"/>
                  </a:moveTo>
                  <a:lnTo>
                    <a:pt x="3308969" y="0"/>
                  </a:lnTo>
                  <a:cubicBezTo>
                    <a:pt x="3317997" y="0"/>
                    <a:pt x="3325316" y="7319"/>
                    <a:pt x="3325316" y="16347"/>
                  </a:cubicBezTo>
                  <a:lnTo>
                    <a:pt x="3325316" y="425382"/>
                  </a:lnTo>
                  <a:cubicBezTo>
                    <a:pt x="3325316" y="434410"/>
                    <a:pt x="3317997" y="441729"/>
                    <a:pt x="3308969" y="441729"/>
                  </a:cubicBezTo>
                  <a:lnTo>
                    <a:pt x="16347" y="441729"/>
                  </a:lnTo>
                  <a:cubicBezTo>
                    <a:pt x="7319" y="441729"/>
                    <a:pt x="0" y="434410"/>
                    <a:pt x="0" y="425382"/>
                  </a:cubicBezTo>
                  <a:lnTo>
                    <a:pt x="0" y="16347"/>
                  </a:lnTo>
                  <a:cubicBezTo>
                    <a:pt x="0" y="7319"/>
                    <a:pt x="7319" y="0"/>
                    <a:pt x="16347"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9" id="9"/>
            <p:cNvSpPr txBox="true"/>
            <p:nvPr/>
          </p:nvSpPr>
          <p:spPr>
            <a:xfrm>
              <a:off x="0" y="-66675"/>
              <a:ext cx="3325316" cy="508404"/>
            </a:xfrm>
            <a:prstGeom prst="rect">
              <a:avLst/>
            </a:prstGeom>
          </p:spPr>
          <p:txBody>
            <a:bodyPr anchor="ctr" rtlCol="false" tIns="47543" lIns="47543" bIns="47543" rIns="47543"/>
            <a:lstStyle/>
            <a:p>
              <a:pPr algn="ctr">
                <a:lnSpc>
                  <a:spcPts val="3418"/>
                </a:lnSpc>
              </a:pPr>
            </a:p>
          </p:txBody>
        </p:sp>
      </p:grpSp>
      <p:grpSp>
        <p:nvGrpSpPr>
          <p:cNvPr name="Group 10" id="10"/>
          <p:cNvGrpSpPr/>
          <p:nvPr/>
        </p:nvGrpSpPr>
        <p:grpSpPr>
          <a:xfrm rot="0">
            <a:off x="340040" y="2536199"/>
            <a:ext cx="9256655" cy="6008089"/>
            <a:chOff x="0" y="0"/>
            <a:chExt cx="3249730" cy="2109257"/>
          </a:xfrm>
        </p:grpSpPr>
        <p:sp>
          <p:nvSpPr>
            <p:cNvPr name="Freeform 11" id="11"/>
            <p:cNvSpPr/>
            <p:nvPr/>
          </p:nvSpPr>
          <p:spPr>
            <a:xfrm flipH="false" flipV="false" rot="0">
              <a:off x="0" y="0"/>
              <a:ext cx="3249730" cy="2109257"/>
            </a:xfrm>
            <a:custGeom>
              <a:avLst/>
              <a:gdLst/>
              <a:ahLst/>
              <a:cxnLst/>
              <a:rect r="r" b="b" t="t" l="l"/>
              <a:pathLst>
                <a:path h="2109257" w="3249730">
                  <a:moveTo>
                    <a:pt x="16727" y="0"/>
                  </a:moveTo>
                  <a:lnTo>
                    <a:pt x="3233002" y="0"/>
                  </a:lnTo>
                  <a:cubicBezTo>
                    <a:pt x="3242240" y="0"/>
                    <a:pt x="3249730" y="7489"/>
                    <a:pt x="3249730" y="16727"/>
                  </a:cubicBezTo>
                  <a:lnTo>
                    <a:pt x="3249730" y="2092529"/>
                  </a:lnTo>
                  <a:cubicBezTo>
                    <a:pt x="3249730" y="2101768"/>
                    <a:pt x="3242240" y="2109257"/>
                    <a:pt x="3233002" y="2109257"/>
                  </a:cubicBezTo>
                  <a:lnTo>
                    <a:pt x="16727" y="2109257"/>
                  </a:lnTo>
                  <a:cubicBezTo>
                    <a:pt x="7489" y="2109257"/>
                    <a:pt x="0" y="2101768"/>
                    <a:pt x="0" y="2092529"/>
                  </a:cubicBezTo>
                  <a:lnTo>
                    <a:pt x="0" y="16727"/>
                  </a:lnTo>
                  <a:cubicBezTo>
                    <a:pt x="0" y="7489"/>
                    <a:pt x="7489" y="0"/>
                    <a:pt x="16727" y="0"/>
                  </a:cubicBezTo>
                  <a:close/>
                </a:path>
              </a:pathLst>
            </a:custGeom>
            <a:gradFill rotWithShape="true">
              <a:gsLst>
                <a:gs pos="0">
                  <a:srgbClr val="256AB3">
                    <a:alpha val="50000"/>
                  </a:srgbClr>
                </a:gs>
                <a:gs pos="100000">
                  <a:srgbClr val="CBDFFF">
                    <a:alpha val="50000"/>
                  </a:srgbClr>
                </a:gs>
              </a:gsLst>
              <a:path path="circle">
                <a:fillToRect l="0" r="100000" t="0" b="100000"/>
              </a:path>
              <a:tileRect r="0" l="-100000" b="0" t="-100000"/>
            </a:gradFill>
            <a:ln cap="sq">
              <a:noFill/>
              <a:prstDash val="solid"/>
              <a:miter/>
            </a:ln>
          </p:spPr>
        </p:sp>
        <p:sp>
          <p:nvSpPr>
            <p:cNvPr name="TextBox 12" id="12"/>
            <p:cNvSpPr txBox="true"/>
            <p:nvPr/>
          </p:nvSpPr>
          <p:spPr>
            <a:xfrm>
              <a:off x="0" y="-66675"/>
              <a:ext cx="3249730" cy="2175932"/>
            </a:xfrm>
            <a:prstGeom prst="rect">
              <a:avLst/>
            </a:prstGeom>
          </p:spPr>
          <p:txBody>
            <a:bodyPr anchor="ctr" rtlCol="false" tIns="47543" lIns="47543" bIns="47543" rIns="47543"/>
            <a:lstStyle/>
            <a:p>
              <a:pPr algn="ctr">
                <a:lnSpc>
                  <a:spcPts val="3418"/>
                </a:lnSpc>
              </a:pPr>
            </a:p>
          </p:txBody>
        </p:sp>
      </p:grpSp>
      <p:grpSp>
        <p:nvGrpSpPr>
          <p:cNvPr name="Group 13" id="13"/>
          <p:cNvGrpSpPr/>
          <p:nvPr/>
        </p:nvGrpSpPr>
        <p:grpSpPr>
          <a:xfrm rot="0">
            <a:off x="428204" y="2393294"/>
            <a:ext cx="9471960" cy="6032537"/>
            <a:chOff x="0" y="0"/>
            <a:chExt cx="3325316" cy="2117840"/>
          </a:xfrm>
        </p:grpSpPr>
        <p:sp>
          <p:nvSpPr>
            <p:cNvPr name="Freeform 14" id="14"/>
            <p:cNvSpPr/>
            <p:nvPr/>
          </p:nvSpPr>
          <p:spPr>
            <a:xfrm flipH="false" flipV="false" rot="0">
              <a:off x="0" y="0"/>
              <a:ext cx="3325316" cy="2117840"/>
            </a:xfrm>
            <a:custGeom>
              <a:avLst/>
              <a:gdLst/>
              <a:ahLst/>
              <a:cxnLst/>
              <a:rect r="r" b="b" t="t" l="l"/>
              <a:pathLst>
                <a:path h="2117840" w="3325316">
                  <a:moveTo>
                    <a:pt x="16347" y="0"/>
                  </a:moveTo>
                  <a:lnTo>
                    <a:pt x="3308969" y="0"/>
                  </a:lnTo>
                  <a:cubicBezTo>
                    <a:pt x="3317997" y="0"/>
                    <a:pt x="3325316" y="7319"/>
                    <a:pt x="3325316" y="16347"/>
                  </a:cubicBezTo>
                  <a:lnTo>
                    <a:pt x="3325316" y="2101493"/>
                  </a:lnTo>
                  <a:cubicBezTo>
                    <a:pt x="3325316" y="2110521"/>
                    <a:pt x="3317997" y="2117840"/>
                    <a:pt x="3308969" y="2117840"/>
                  </a:cubicBezTo>
                  <a:lnTo>
                    <a:pt x="16347" y="2117840"/>
                  </a:lnTo>
                  <a:cubicBezTo>
                    <a:pt x="7319" y="2117840"/>
                    <a:pt x="0" y="2110521"/>
                    <a:pt x="0" y="2101493"/>
                  </a:cubicBezTo>
                  <a:lnTo>
                    <a:pt x="0" y="16347"/>
                  </a:lnTo>
                  <a:cubicBezTo>
                    <a:pt x="0" y="7319"/>
                    <a:pt x="7319" y="0"/>
                    <a:pt x="16347"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0" y="-66675"/>
              <a:ext cx="3325316" cy="2184515"/>
            </a:xfrm>
            <a:prstGeom prst="rect">
              <a:avLst/>
            </a:prstGeom>
          </p:spPr>
          <p:txBody>
            <a:bodyPr anchor="ctr" rtlCol="false" tIns="47543" lIns="47543" bIns="47543" rIns="47543"/>
            <a:lstStyle/>
            <a:p>
              <a:pPr algn="ctr">
                <a:lnSpc>
                  <a:spcPts val="3418"/>
                </a:lnSpc>
              </a:pPr>
            </a:p>
          </p:txBody>
        </p:sp>
      </p:grpSp>
      <p:sp>
        <p:nvSpPr>
          <p:cNvPr name="TextBox 16" id="16"/>
          <p:cNvSpPr txBox="true"/>
          <p:nvPr/>
        </p:nvSpPr>
        <p:spPr>
          <a:xfrm rot="0">
            <a:off x="1881132" y="802664"/>
            <a:ext cx="5682071" cy="732444"/>
          </a:xfrm>
          <a:prstGeom prst="rect">
            <a:avLst/>
          </a:prstGeom>
        </p:spPr>
        <p:txBody>
          <a:bodyPr anchor="t" rtlCol="false" tIns="0" lIns="0" bIns="0" rIns="0">
            <a:spAutoFit/>
          </a:bodyPr>
          <a:lstStyle/>
          <a:p>
            <a:pPr algn="ctr">
              <a:lnSpc>
                <a:spcPts val="5829"/>
              </a:lnSpc>
            </a:pPr>
            <a:r>
              <a:rPr lang="en-US" sz="4163" b="true">
                <a:solidFill>
                  <a:srgbClr val="FFFFFF"/>
                </a:solidFill>
                <a:latin typeface="Arial Bold"/>
                <a:ea typeface="Arial Bold"/>
                <a:cs typeface="Arial Bold"/>
                <a:sym typeface="Arial Bold"/>
              </a:rPr>
              <a:t>Prueba de Hipótesis</a:t>
            </a:r>
          </a:p>
        </p:txBody>
      </p:sp>
      <p:sp>
        <p:nvSpPr>
          <p:cNvPr name="TextBox 17" id="17"/>
          <p:cNvSpPr txBox="true"/>
          <p:nvPr/>
        </p:nvSpPr>
        <p:spPr>
          <a:xfrm rot="0">
            <a:off x="764861" y="2608660"/>
            <a:ext cx="8798645" cy="6400862"/>
          </a:xfrm>
          <a:prstGeom prst="rect">
            <a:avLst/>
          </a:prstGeom>
        </p:spPr>
        <p:txBody>
          <a:bodyPr anchor="t" rtlCol="false" tIns="0" lIns="0" bIns="0" rIns="0">
            <a:spAutoFit/>
          </a:bodyPr>
          <a:lstStyle/>
          <a:p>
            <a:pPr algn="l">
              <a:lnSpc>
                <a:spcPts val="3671"/>
              </a:lnSpc>
            </a:pPr>
            <a:r>
              <a:rPr lang="en-US" sz="2622" b="true">
                <a:solidFill>
                  <a:srgbClr val="FFFFFF"/>
                </a:solidFill>
                <a:latin typeface="Arial Bold"/>
                <a:ea typeface="Arial Bold"/>
                <a:cs typeface="Arial Bold"/>
                <a:sym typeface="Arial Bold"/>
              </a:rPr>
              <a:t>Pregunta de investigación</a:t>
            </a:r>
          </a:p>
          <a:p>
            <a:pPr algn="l">
              <a:lnSpc>
                <a:spcPts val="3671"/>
              </a:lnSpc>
            </a:pPr>
          </a:p>
          <a:p>
            <a:pPr algn="l">
              <a:lnSpc>
                <a:spcPts val="3671"/>
              </a:lnSpc>
            </a:pPr>
            <a:r>
              <a:rPr lang="en-US" sz="2622" b="true">
                <a:solidFill>
                  <a:srgbClr val="FFFFFF"/>
                </a:solidFill>
                <a:latin typeface="Arial Bold"/>
                <a:ea typeface="Arial Bold"/>
                <a:cs typeface="Arial Bold"/>
                <a:sym typeface="Arial Bold"/>
              </a:rPr>
              <a:t>¿Existe asociación entre la disponibilidad de alimentos saludables en el entorno escolar (disp_sal) y la tasa de pobreza por ingresos de la comuna (SAE 2024)?</a:t>
            </a:r>
          </a:p>
          <a:p>
            <a:pPr algn="l">
              <a:lnSpc>
                <a:spcPts val="3671"/>
              </a:lnSpc>
            </a:pPr>
          </a:p>
          <a:p>
            <a:pPr algn="l">
              <a:lnSpc>
                <a:spcPts val="3671"/>
              </a:lnSpc>
            </a:pPr>
            <a:r>
              <a:rPr lang="en-US" sz="2622" b="true">
                <a:solidFill>
                  <a:srgbClr val="FFFFFF"/>
                </a:solidFill>
                <a:latin typeface="Arial Bold"/>
                <a:ea typeface="Arial Bold"/>
                <a:cs typeface="Arial Bold"/>
                <a:sym typeface="Arial Bold"/>
              </a:rPr>
              <a:t>Hipótesis</a:t>
            </a:r>
          </a:p>
          <a:p>
            <a:pPr algn="l" marL="566211" indent="-283106" lvl="1">
              <a:lnSpc>
                <a:spcPts val="3671"/>
              </a:lnSpc>
              <a:buFont typeface="Arial"/>
              <a:buChar char="•"/>
            </a:pPr>
            <a:r>
              <a:rPr lang="en-US" b="true" sz="2622">
                <a:solidFill>
                  <a:srgbClr val="FFFFFF"/>
                </a:solidFill>
                <a:latin typeface="Arial Bold"/>
                <a:ea typeface="Arial Bold"/>
                <a:cs typeface="Arial Bold"/>
                <a:sym typeface="Arial Bold"/>
              </a:rPr>
              <a:t>H₀ (nula): No existe asociación entre disp_sal y pobreza comunal.</a:t>
            </a:r>
          </a:p>
          <a:p>
            <a:pPr algn="l" marL="1132422" indent="-377474" lvl="2">
              <a:lnSpc>
                <a:spcPts val="3671"/>
              </a:lnSpc>
              <a:buFont typeface="Arial"/>
              <a:buChar char="⚬"/>
            </a:pPr>
            <a:r>
              <a:rPr lang="en-US" b="true" sz="2622">
                <a:solidFill>
                  <a:srgbClr val="FFFFFF"/>
                </a:solidFill>
                <a:latin typeface="Arial Bold"/>
                <a:ea typeface="Arial Bold"/>
                <a:cs typeface="Arial Bold"/>
                <a:sym typeface="Arial Bold"/>
              </a:rPr>
              <a:t>Correlación = 0</a:t>
            </a:r>
          </a:p>
          <a:p>
            <a:pPr algn="l" marL="566211" indent="-283106" lvl="1">
              <a:lnSpc>
                <a:spcPts val="3671"/>
              </a:lnSpc>
              <a:buFont typeface="Arial"/>
              <a:buChar char="•"/>
            </a:pPr>
            <a:r>
              <a:rPr lang="en-US" b="true" sz="2622">
                <a:solidFill>
                  <a:srgbClr val="FFFFFF"/>
                </a:solidFill>
                <a:latin typeface="Arial Bold"/>
                <a:ea typeface="Arial Bold"/>
                <a:cs typeface="Arial Bold"/>
                <a:sym typeface="Arial Bold"/>
              </a:rPr>
              <a:t>H₁ (alternativa): Existe asociación.</a:t>
            </a:r>
          </a:p>
          <a:p>
            <a:pPr algn="l" marL="1132422" indent="-377474" lvl="2">
              <a:lnSpc>
                <a:spcPts val="3671"/>
              </a:lnSpc>
              <a:buFont typeface="Arial"/>
              <a:buChar char="⚬"/>
            </a:pPr>
            <a:r>
              <a:rPr lang="en-US" b="true" sz="2622">
                <a:solidFill>
                  <a:srgbClr val="FFFFFF"/>
                </a:solidFill>
                <a:latin typeface="Arial Bold"/>
                <a:ea typeface="Arial Bold"/>
                <a:cs typeface="Arial Bold"/>
                <a:sym typeface="Arial Bold"/>
              </a:rPr>
              <a:t>Correlación ≠ 0</a:t>
            </a:r>
          </a:p>
          <a:p>
            <a:pPr algn="l">
              <a:lnSpc>
                <a:spcPts val="3671"/>
              </a:lnSpc>
            </a:pPr>
          </a:p>
          <a:p>
            <a:pPr algn="l">
              <a:lnSpc>
                <a:spcPts val="3671"/>
              </a:lnSpc>
              <a:spcBef>
                <a:spcPct val="0"/>
              </a:spcBef>
            </a:pPr>
          </a:p>
        </p:txBody>
      </p:sp>
      <p:grpSp>
        <p:nvGrpSpPr>
          <p:cNvPr name="Group 18" id="18"/>
          <p:cNvGrpSpPr/>
          <p:nvPr/>
        </p:nvGrpSpPr>
        <p:grpSpPr>
          <a:xfrm rot="0">
            <a:off x="10760720" y="2503256"/>
            <a:ext cx="6274196" cy="6049131"/>
            <a:chOff x="0" y="0"/>
            <a:chExt cx="2202679" cy="2123666"/>
          </a:xfrm>
        </p:grpSpPr>
        <p:sp>
          <p:nvSpPr>
            <p:cNvPr name="Freeform 19" id="19"/>
            <p:cNvSpPr/>
            <p:nvPr/>
          </p:nvSpPr>
          <p:spPr>
            <a:xfrm flipH="false" flipV="false" rot="0">
              <a:off x="0" y="0"/>
              <a:ext cx="2202679" cy="2123666"/>
            </a:xfrm>
            <a:custGeom>
              <a:avLst/>
              <a:gdLst/>
              <a:ahLst/>
              <a:cxnLst/>
              <a:rect r="r" b="b" t="t" l="l"/>
              <a:pathLst>
                <a:path h="2123666" w="2202679">
                  <a:moveTo>
                    <a:pt x="24679" y="0"/>
                  </a:moveTo>
                  <a:lnTo>
                    <a:pt x="2178000" y="0"/>
                  </a:lnTo>
                  <a:cubicBezTo>
                    <a:pt x="2184546" y="0"/>
                    <a:pt x="2190823" y="2600"/>
                    <a:pt x="2195451" y="7228"/>
                  </a:cubicBezTo>
                  <a:cubicBezTo>
                    <a:pt x="2200079" y="11856"/>
                    <a:pt x="2202679" y="18133"/>
                    <a:pt x="2202679" y="24679"/>
                  </a:cubicBezTo>
                  <a:lnTo>
                    <a:pt x="2202679" y="2098987"/>
                  </a:lnTo>
                  <a:cubicBezTo>
                    <a:pt x="2202679" y="2112617"/>
                    <a:pt x="2191630" y="2123666"/>
                    <a:pt x="2178000" y="2123666"/>
                  </a:cubicBezTo>
                  <a:lnTo>
                    <a:pt x="24679" y="2123666"/>
                  </a:lnTo>
                  <a:cubicBezTo>
                    <a:pt x="11049" y="2123666"/>
                    <a:pt x="0" y="2112617"/>
                    <a:pt x="0" y="2098987"/>
                  </a:cubicBezTo>
                  <a:lnTo>
                    <a:pt x="0" y="24679"/>
                  </a:lnTo>
                  <a:cubicBezTo>
                    <a:pt x="0" y="11049"/>
                    <a:pt x="11049" y="0"/>
                    <a:pt x="24679" y="0"/>
                  </a:cubicBezTo>
                  <a:close/>
                </a:path>
              </a:pathLst>
            </a:custGeom>
            <a:gradFill rotWithShape="true">
              <a:gsLst>
                <a:gs pos="0">
                  <a:srgbClr val="256AB3">
                    <a:alpha val="50000"/>
                  </a:srgbClr>
                </a:gs>
                <a:gs pos="100000">
                  <a:srgbClr val="CBDFFF">
                    <a:alpha val="50000"/>
                  </a:srgbClr>
                </a:gs>
              </a:gsLst>
              <a:path path="circle">
                <a:fillToRect l="0" r="100000" t="0" b="100000"/>
              </a:path>
              <a:tileRect r="0" l="-100000" b="0" t="-100000"/>
            </a:gradFill>
            <a:ln cap="sq">
              <a:noFill/>
              <a:prstDash val="solid"/>
              <a:miter/>
            </a:ln>
          </p:spPr>
        </p:sp>
        <p:sp>
          <p:nvSpPr>
            <p:cNvPr name="TextBox 20" id="20"/>
            <p:cNvSpPr txBox="true"/>
            <p:nvPr/>
          </p:nvSpPr>
          <p:spPr>
            <a:xfrm>
              <a:off x="0" y="-66675"/>
              <a:ext cx="2202679" cy="2190341"/>
            </a:xfrm>
            <a:prstGeom prst="rect">
              <a:avLst/>
            </a:prstGeom>
          </p:spPr>
          <p:txBody>
            <a:bodyPr anchor="ctr" rtlCol="false" tIns="47543" lIns="47543" bIns="47543" rIns="47543"/>
            <a:lstStyle/>
            <a:p>
              <a:pPr algn="ctr">
                <a:lnSpc>
                  <a:spcPts val="3418"/>
                </a:lnSpc>
              </a:pPr>
            </a:p>
          </p:txBody>
        </p:sp>
      </p:grpSp>
      <p:grpSp>
        <p:nvGrpSpPr>
          <p:cNvPr name="Group 21" id="21"/>
          <p:cNvGrpSpPr/>
          <p:nvPr/>
        </p:nvGrpSpPr>
        <p:grpSpPr>
          <a:xfrm rot="0">
            <a:off x="10915544" y="2393294"/>
            <a:ext cx="6343756" cy="6032537"/>
            <a:chOff x="0" y="0"/>
            <a:chExt cx="2227099" cy="2117840"/>
          </a:xfrm>
        </p:grpSpPr>
        <p:sp>
          <p:nvSpPr>
            <p:cNvPr name="Freeform 22" id="22"/>
            <p:cNvSpPr/>
            <p:nvPr/>
          </p:nvSpPr>
          <p:spPr>
            <a:xfrm flipH="false" flipV="false" rot="0">
              <a:off x="0" y="0"/>
              <a:ext cx="2227099" cy="2117840"/>
            </a:xfrm>
            <a:custGeom>
              <a:avLst/>
              <a:gdLst/>
              <a:ahLst/>
              <a:cxnLst/>
              <a:rect r="r" b="b" t="t" l="l"/>
              <a:pathLst>
                <a:path h="2117840" w="2227099">
                  <a:moveTo>
                    <a:pt x="24408" y="0"/>
                  </a:moveTo>
                  <a:lnTo>
                    <a:pt x="2202691" y="0"/>
                  </a:lnTo>
                  <a:cubicBezTo>
                    <a:pt x="2209165" y="0"/>
                    <a:pt x="2215373" y="2572"/>
                    <a:pt x="2219950" y="7149"/>
                  </a:cubicBezTo>
                  <a:cubicBezTo>
                    <a:pt x="2224528" y="11726"/>
                    <a:pt x="2227099" y="17935"/>
                    <a:pt x="2227099" y="24408"/>
                  </a:cubicBezTo>
                  <a:lnTo>
                    <a:pt x="2227099" y="2093432"/>
                  </a:lnTo>
                  <a:cubicBezTo>
                    <a:pt x="2227099" y="2099906"/>
                    <a:pt x="2224528" y="2106114"/>
                    <a:pt x="2219950" y="2110691"/>
                  </a:cubicBezTo>
                  <a:cubicBezTo>
                    <a:pt x="2215373" y="2115269"/>
                    <a:pt x="2209165" y="2117840"/>
                    <a:pt x="2202691" y="2117840"/>
                  </a:cubicBezTo>
                  <a:lnTo>
                    <a:pt x="24408" y="2117840"/>
                  </a:lnTo>
                  <a:cubicBezTo>
                    <a:pt x="17935" y="2117840"/>
                    <a:pt x="11726" y="2115269"/>
                    <a:pt x="7149" y="2110691"/>
                  </a:cubicBezTo>
                  <a:cubicBezTo>
                    <a:pt x="2572" y="2106114"/>
                    <a:pt x="0" y="2099906"/>
                    <a:pt x="0" y="2093432"/>
                  </a:cubicBezTo>
                  <a:lnTo>
                    <a:pt x="0" y="24408"/>
                  </a:lnTo>
                  <a:cubicBezTo>
                    <a:pt x="0" y="17935"/>
                    <a:pt x="2572" y="11726"/>
                    <a:pt x="7149" y="7149"/>
                  </a:cubicBezTo>
                  <a:cubicBezTo>
                    <a:pt x="11726" y="2572"/>
                    <a:pt x="17935" y="0"/>
                    <a:pt x="24408"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23" id="23"/>
            <p:cNvSpPr txBox="true"/>
            <p:nvPr/>
          </p:nvSpPr>
          <p:spPr>
            <a:xfrm>
              <a:off x="0" y="-57150"/>
              <a:ext cx="2227099" cy="2174990"/>
            </a:xfrm>
            <a:prstGeom prst="rect">
              <a:avLst/>
            </a:prstGeom>
          </p:spPr>
          <p:txBody>
            <a:bodyPr anchor="ctr" rtlCol="false" tIns="47543" lIns="47543" bIns="47543" rIns="47543"/>
            <a:lstStyle/>
            <a:p>
              <a:pPr algn="l">
                <a:lnSpc>
                  <a:spcPts val="3418"/>
                </a:lnSpc>
              </a:pPr>
            </a:p>
            <a:p>
              <a:pPr algn="l">
                <a:lnSpc>
                  <a:spcPts val="3418"/>
                </a:lnSpc>
              </a:pPr>
            </a:p>
          </p:txBody>
        </p:sp>
      </p:grpSp>
      <p:sp>
        <p:nvSpPr>
          <p:cNvPr name="TextBox 24" id="24"/>
          <p:cNvSpPr txBox="true"/>
          <p:nvPr/>
        </p:nvSpPr>
        <p:spPr>
          <a:xfrm rot="0">
            <a:off x="11264218" y="2618185"/>
            <a:ext cx="5770697" cy="5689600"/>
          </a:xfrm>
          <a:prstGeom prst="rect">
            <a:avLst/>
          </a:prstGeom>
        </p:spPr>
        <p:txBody>
          <a:bodyPr anchor="t" rtlCol="false" tIns="0" lIns="0" bIns="0" rIns="0">
            <a:spAutoFit/>
          </a:bodyPr>
          <a:lstStyle/>
          <a:p>
            <a:pPr algn="l">
              <a:lnSpc>
                <a:spcPts val="3499"/>
              </a:lnSpc>
              <a:spcBef>
                <a:spcPct val="0"/>
              </a:spcBef>
            </a:pPr>
            <a:r>
              <a:rPr lang="en-US" b="true" sz="2499" spc="24">
                <a:solidFill>
                  <a:srgbClr val="FFFFFF"/>
                </a:solidFill>
                <a:latin typeface="Arial Bold"/>
                <a:ea typeface="Arial Bold"/>
                <a:cs typeface="Arial Bold"/>
                <a:sym typeface="Arial Bold"/>
              </a:rPr>
              <a:t>Método </a:t>
            </a:r>
            <a:r>
              <a:rPr lang="en-US" b="true" sz="2499" spc="24">
                <a:solidFill>
                  <a:srgbClr val="FFFFFF"/>
                </a:solidFill>
                <a:latin typeface="Arial Bold"/>
                <a:ea typeface="Arial Bold"/>
                <a:cs typeface="Arial Bold"/>
                <a:sym typeface="Arial Bold"/>
              </a:rPr>
              <a:t>estadístico</a:t>
            </a:r>
          </a:p>
          <a:p>
            <a:pPr algn="l">
              <a:lnSpc>
                <a:spcPts val="3499"/>
              </a:lnSpc>
              <a:spcBef>
                <a:spcPct val="0"/>
              </a:spcBef>
            </a:pPr>
          </a:p>
          <a:p>
            <a:pPr algn="l" marL="539749" indent="-269875" lvl="1">
              <a:lnSpc>
                <a:spcPts val="3499"/>
              </a:lnSpc>
              <a:spcBef>
                <a:spcPct val="0"/>
              </a:spcBef>
              <a:buFont typeface="Arial"/>
              <a:buChar char="•"/>
            </a:pPr>
            <a:r>
              <a:rPr lang="en-US" b="true" sz="2499" spc="24">
                <a:solidFill>
                  <a:srgbClr val="FFFFFF"/>
                </a:solidFill>
                <a:latin typeface="Arial Bold"/>
                <a:ea typeface="Arial Bold"/>
                <a:cs typeface="Arial Bold"/>
                <a:sym typeface="Arial Bold"/>
              </a:rPr>
              <a:t>Coeficiente de correlación de Spearman (ρ) – no paramétrico</a:t>
            </a:r>
          </a:p>
          <a:p>
            <a:pPr algn="l">
              <a:lnSpc>
                <a:spcPts val="3499"/>
              </a:lnSpc>
              <a:spcBef>
                <a:spcPct val="0"/>
              </a:spcBef>
            </a:pPr>
          </a:p>
          <a:p>
            <a:pPr algn="l">
              <a:lnSpc>
                <a:spcPts val="3499"/>
              </a:lnSpc>
              <a:spcBef>
                <a:spcPct val="0"/>
              </a:spcBef>
            </a:pPr>
            <a:r>
              <a:rPr lang="en-US" b="true" sz="2499" spc="24">
                <a:solidFill>
                  <a:srgbClr val="FFFFFF"/>
                </a:solidFill>
                <a:latin typeface="Arial Bold"/>
                <a:ea typeface="Arial Bold"/>
                <a:cs typeface="Arial Bold"/>
                <a:sym typeface="Arial Bold"/>
              </a:rPr>
              <a:t>Justificación:</a:t>
            </a:r>
          </a:p>
          <a:p>
            <a:pPr algn="l" marL="1079499" indent="-359833" lvl="2">
              <a:lnSpc>
                <a:spcPts val="3499"/>
              </a:lnSpc>
              <a:spcBef>
                <a:spcPct val="0"/>
              </a:spcBef>
              <a:buFont typeface="Arial"/>
              <a:buChar char="⚬"/>
            </a:pPr>
            <a:r>
              <a:rPr lang="en-US" b="true" sz="2499" spc="24">
                <a:solidFill>
                  <a:srgbClr val="FFFFFF"/>
                </a:solidFill>
                <a:latin typeface="Arial Bold"/>
                <a:ea typeface="Arial Bold"/>
                <a:cs typeface="Arial Bold"/>
                <a:sym typeface="Arial Bold"/>
              </a:rPr>
              <a:t>Total_alimentos_saludables no sigue distribución normal (Shapiro‑Wilk p &lt; 0.001)</a:t>
            </a:r>
          </a:p>
          <a:p>
            <a:pPr algn="l" marL="1079499" indent="-359833" lvl="2">
              <a:lnSpc>
                <a:spcPts val="3499"/>
              </a:lnSpc>
              <a:spcBef>
                <a:spcPct val="0"/>
              </a:spcBef>
              <a:buFont typeface="Arial"/>
              <a:buChar char="⚬"/>
            </a:pPr>
            <a:r>
              <a:rPr lang="en-US" b="true" sz="2499" spc="24">
                <a:solidFill>
                  <a:srgbClr val="FFFFFF"/>
                </a:solidFill>
                <a:latin typeface="Arial Bold"/>
                <a:ea typeface="Arial Bold"/>
                <a:cs typeface="Arial Bold"/>
                <a:sym typeface="Arial Bold"/>
              </a:rPr>
              <a:t>Presencia de outliers</a:t>
            </a:r>
          </a:p>
          <a:p>
            <a:pPr algn="l" marL="1079499" indent="-359833" lvl="2">
              <a:lnSpc>
                <a:spcPts val="3499"/>
              </a:lnSpc>
              <a:spcBef>
                <a:spcPct val="0"/>
              </a:spcBef>
              <a:buFont typeface="Arial"/>
              <a:buChar char="⚬"/>
            </a:pPr>
            <a:r>
              <a:rPr lang="en-US" b="true" sz="2499" spc="24">
                <a:solidFill>
                  <a:srgbClr val="FFFFFF"/>
                </a:solidFill>
                <a:latin typeface="Arial Bold"/>
                <a:ea typeface="Arial Bold"/>
                <a:cs typeface="Arial Bold"/>
                <a:sym typeface="Arial Bold"/>
              </a:rPr>
              <a:t>Relación monótona, no necesariamente lineal</a:t>
            </a:r>
          </a:p>
          <a:p>
            <a:pPr algn="l">
              <a:lnSpc>
                <a:spcPts val="349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340040" y="592154"/>
            <a:ext cx="4217215" cy="1373558"/>
            <a:chOff x="0" y="0"/>
            <a:chExt cx="5622953" cy="1831410"/>
          </a:xfrm>
        </p:grpSpPr>
        <p:grpSp>
          <p:nvGrpSpPr>
            <p:cNvPr name="Group 4" id="4"/>
            <p:cNvGrpSpPr/>
            <p:nvPr/>
          </p:nvGrpSpPr>
          <p:grpSpPr>
            <a:xfrm rot="0">
              <a:off x="0" y="153759"/>
              <a:ext cx="5571098" cy="1677652"/>
              <a:chOff x="0" y="0"/>
              <a:chExt cx="1466882" cy="441729"/>
            </a:xfrm>
          </p:grpSpPr>
          <p:sp>
            <p:nvSpPr>
              <p:cNvPr name="Freeform 5" id="5"/>
              <p:cNvSpPr/>
              <p:nvPr/>
            </p:nvSpPr>
            <p:spPr>
              <a:xfrm flipH="false" flipV="false" rot="0">
                <a:off x="0" y="0"/>
                <a:ext cx="1466882" cy="441729"/>
              </a:xfrm>
              <a:custGeom>
                <a:avLst/>
                <a:gdLst/>
                <a:ahLst/>
                <a:cxnLst/>
                <a:rect r="r" b="b" t="t" l="l"/>
                <a:pathLst>
                  <a:path h="441729" w="1466882">
                    <a:moveTo>
                      <a:pt x="37058" y="0"/>
                    </a:moveTo>
                    <a:lnTo>
                      <a:pt x="1429824" y="0"/>
                    </a:lnTo>
                    <a:cubicBezTo>
                      <a:pt x="1450291" y="0"/>
                      <a:pt x="1466882" y="16591"/>
                      <a:pt x="1466882" y="37058"/>
                    </a:cubicBezTo>
                    <a:lnTo>
                      <a:pt x="1466882" y="404672"/>
                    </a:lnTo>
                    <a:cubicBezTo>
                      <a:pt x="1466882" y="425138"/>
                      <a:pt x="1450291" y="441729"/>
                      <a:pt x="1429824" y="441729"/>
                    </a:cubicBezTo>
                    <a:lnTo>
                      <a:pt x="37058" y="441729"/>
                    </a:lnTo>
                    <a:cubicBezTo>
                      <a:pt x="16591" y="441729"/>
                      <a:pt x="0" y="425138"/>
                      <a:pt x="0" y="404672"/>
                    </a:cubicBezTo>
                    <a:lnTo>
                      <a:pt x="0" y="37058"/>
                    </a:lnTo>
                    <a:cubicBezTo>
                      <a:pt x="0" y="16591"/>
                      <a:pt x="16591" y="0"/>
                      <a:pt x="37058" y="0"/>
                    </a:cubicBezTo>
                    <a:close/>
                  </a:path>
                </a:pathLst>
              </a:custGeom>
              <a:gradFill rotWithShape="true">
                <a:gsLst>
                  <a:gs pos="0">
                    <a:srgbClr val="256AB3">
                      <a:alpha val="50000"/>
                    </a:srgbClr>
                  </a:gs>
                  <a:gs pos="100000">
                    <a:srgbClr val="CBDFFF">
                      <a:alpha val="50000"/>
                    </a:srgbClr>
                  </a:gs>
                </a:gsLst>
                <a:path path="circle">
                  <a:fillToRect l="0" r="100000" t="0" b="100000"/>
                </a:path>
                <a:tileRect r="0" l="-100000" b="0" t="-100000"/>
              </a:gradFill>
              <a:ln cap="sq">
                <a:noFill/>
                <a:prstDash val="solid"/>
                <a:miter/>
              </a:ln>
            </p:spPr>
          </p:sp>
          <p:sp>
            <p:nvSpPr>
              <p:cNvPr name="TextBox 6" id="6"/>
              <p:cNvSpPr txBox="true"/>
              <p:nvPr/>
            </p:nvSpPr>
            <p:spPr>
              <a:xfrm>
                <a:off x="0" y="-66675"/>
                <a:ext cx="1466882" cy="508404"/>
              </a:xfrm>
              <a:prstGeom prst="rect">
                <a:avLst/>
              </a:prstGeom>
            </p:spPr>
            <p:txBody>
              <a:bodyPr anchor="ctr" rtlCol="false" tIns="47543" lIns="47543" bIns="47543" rIns="47543"/>
              <a:lstStyle/>
              <a:p>
                <a:pPr algn="ctr">
                  <a:lnSpc>
                    <a:spcPts val="3418"/>
                  </a:lnSpc>
                </a:pPr>
              </a:p>
            </p:txBody>
          </p:sp>
        </p:grpSp>
        <p:grpSp>
          <p:nvGrpSpPr>
            <p:cNvPr name="Group 7" id="7"/>
            <p:cNvGrpSpPr/>
            <p:nvPr/>
          </p:nvGrpSpPr>
          <p:grpSpPr>
            <a:xfrm rot="0">
              <a:off x="51855" y="0"/>
              <a:ext cx="5571098" cy="1677652"/>
              <a:chOff x="0" y="0"/>
              <a:chExt cx="1466882" cy="441729"/>
            </a:xfrm>
          </p:grpSpPr>
          <p:sp>
            <p:nvSpPr>
              <p:cNvPr name="Freeform 8" id="8"/>
              <p:cNvSpPr/>
              <p:nvPr/>
            </p:nvSpPr>
            <p:spPr>
              <a:xfrm flipH="false" flipV="false" rot="0">
                <a:off x="0" y="0"/>
                <a:ext cx="1466882" cy="441729"/>
              </a:xfrm>
              <a:custGeom>
                <a:avLst/>
                <a:gdLst/>
                <a:ahLst/>
                <a:cxnLst/>
                <a:rect r="r" b="b" t="t" l="l"/>
                <a:pathLst>
                  <a:path h="441729" w="1466882">
                    <a:moveTo>
                      <a:pt x="37058" y="0"/>
                    </a:moveTo>
                    <a:lnTo>
                      <a:pt x="1429824" y="0"/>
                    </a:lnTo>
                    <a:cubicBezTo>
                      <a:pt x="1450291" y="0"/>
                      <a:pt x="1466882" y="16591"/>
                      <a:pt x="1466882" y="37058"/>
                    </a:cubicBezTo>
                    <a:lnTo>
                      <a:pt x="1466882" y="404672"/>
                    </a:lnTo>
                    <a:cubicBezTo>
                      <a:pt x="1466882" y="425138"/>
                      <a:pt x="1450291" y="441729"/>
                      <a:pt x="1429824" y="441729"/>
                    </a:cubicBezTo>
                    <a:lnTo>
                      <a:pt x="37058" y="441729"/>
                    </a:lnTo>
                    <a:cubicBezTo>
                      <a:pt x="16591" y="441729"/>
                      <a:pt x="0" y="425138"/>
                      <a:pt x="0" y="404672"/>
                    </a:cubicBezTo>
                    <a:lnTo>
                      <a:pt x="0" y="37058"/>
                    </a:lnTo>
                    <a:cubicBezTo>
                      <a:pt x="0" y="16591"/>
                      <a:pt x="16591" y="0"/>
                      <a:pt x="37058"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9" id="9"/>
              <p:cNvSpPr txBox="true"/>
              <p:nvPr/>
            </p:nvSpPr>
            <p:spPr>
              <a:xfrm>
                <a:off x="0" y="-66675"/>
                <a:ext cx="1466882" cy="508404"/>
              </a:xfrm>
              <a:prstGeom prst="rect">
                <a:avLst/>
              </a:prstGeom>
            </p:spPr>
            <p:txBody>
              <a:bodyPr anchor="ctr" rtlCol="false" tIns="47543" lIns="47543" bIns="47543" rIns="47543"/>
              <a:lstStyle/>
              <a:p>
                <a:pPr algn="ctr">
                  <a:lnSpc>
                    <a:spcPts val="3418"/>
                  </a:lnSpc>
                </a:pPr>
              </a:p>
            </p:txBody>
          </p:sp>
        </p:grpSp>
      </p:grpSp>
      <p:grpSp>
        <p:nvGrpSpPr>
          <p:cNvPr name="Group 10" id="10"/>
          <p:cNvGrpSpPr/>
          <p:nvPr/>
        </p:nvGrpSpPr>
        <p:grpSpPr>
          <a:xfrm rot="0">
            <a:off x="11984544" y="3249572"/>
            <a:ext cx="5593736" cy="2069366"/>
            <a:chOff x="0" y="0"/>
            <a:chExt cx="7458314" cy="2759155"/>
          </a:xfrm>
        </p:grpSpPr>
        <p:grpSp>
          <p:nvGrpSpPr>
            <p:cNvPr name="Group 11" id="11"/>
            <p:cNvGrpSpPr/>
            <p:nvPr/>
          </p:nvGrpSpPr>
          <p:grpSpPr>
            <a:xfrm rot="0">
              <a:off x="394364" y="0"/>
              <a:ext cx="6602841" cy="2759155"/>
              <a:chOff x="0" y="0"/>
              <a:chExt cx="1304265" cy="545018"/>
            </a:xfrm>
          </p:grpSpPr>
          <p:sp>
            <p:nvSpPr>
              <p:cNvPr name="Freeform 12" id="12"/>
              <p:cNvSpPr/>
              <p:nvPr/>
            </p:nvSpPr>
            <p:spPr>
              <a:xfrm flipH="false" flipV="false" rot="0">
                <a:off x="0" y="0"/>
                <a:ext cx="1304265" cy="545018"/>
              </a:xfrm>
              <a:custGeom>
                <a:avLst/>
                <a:gdLst/>
                <a:ahLst/>
                <a:cxnLst/>
                <a:rect r="r" b="b" t="t" l="l"/>
                <a:pathLst>
                  <a:path h="545018" w="1304265">
                    <a:moveTo>
                      <a:pt x="21887" y="0"/>
                    </a:moveTo>
                    <a:lnTo>
                      <a:pt x="1282378" y="0"/>
                    </a:lnTo>
                    <a:cubicBezTo>
                      <a:pt x="1294466" y="0"/>
                      <a:pt x="1304265" y="9799"/>
                      <a:pt x="1304265" y="21887"/>
                    </a:cubicBezTo>
                    <a:lnTo>
                      <a:pt x="1304265" y="523131"/>
                    </a:lnTo>
                    <a:cubicBezTo>
                      <a:pt x="1304265" y="528936"/>
                      <a:pt x="1301959" y="534503"/>
                      <a:pt x="1297854" y="538608"/>
                    </a:cubicBezTo>
                    <a:cubicBezTo>
                      <a:pt x="1293750" y="542712"/>
                      <a:pt x="1288183" y="545018"/>
                      <a:pt x="1282378" y="545018"/>
                    </a:cubicBezTo>
                    <a:lnTo>
                      <a:pt x="21887" y="545018"/>
                    </a:lnTo>
                    <a:cubicBezTo>
                      <a:pt x="16082" y="545018"/>
                      <a:pt x="10515" y="542712"/>
                      <a:pt x="6411" y="538608"/>
                    </a:cubicBezTo>
                    <a:cubicBezTo>
                      <a:pt x="2306" y="534503"/>
                      <a:pt x="0" y="528936"/>
                      <a:pt x="0" y="523131"/>
                    </a:cubicBezTo>
                    <a:lnTo>
                      <a:pt x="0" y="21887"/>
                    </a:lnTo>
                    <a:cubicBezTo>
                      <a:pt x="0" y="16082"/>
                      <a:pt x="2306" y="10515"/>
                      <a:pt x="6411" y="6411"/>
                    </a:cubicBezTo>
                    <a:cubicBezTo>
                      <a:pt x="10515" y="2306"/>
                      <a:pt x="16082" y="0"/>
                      <a:pt x="21887" y="0"/>
                    </a:cubicBezTo>
                    <a:close/>
                  </a:path>
                </a:pathLst>
              </a:custGeom>
              <a:solidFill>
                <a:srgbClr val="3165AA"/>
              </a:solidFill>
            </p:spPr>
          </p:sp>
          <p:sp>
            <p:nvSpPr>
              <p:cNvPr name="TextBox 13" id="13"/>
              <p:cNvSpPr txBox="true"/>
              <p:nvPr/>
            </p:nvSpPr>
            <p:spPr>
              <a:xfrm>
                <a:off x="0" y="-38100"/>
                <a:ext cx="1304265" cy="583118"/>
              </a:xfrm>
              <a:prstGeom prst="rect">
                <a:avLst/>
              </a:prstGeom>
            </p:spPr>
            <p:txBody>
              <a:bodyPr anchor="ctr" rtlCol="false" tIns="50800" lIns="50800" bIns="50800" rIns="50800"/>
              <a:lstStyle/>
              <a:p>
                <a:pPr algn="ctr">
                  <a:lnSpc>
                    <a:spcPts val="2940"/>
                  </a:lnSpc>
                </a:pPr>
              </a:p>
            </p:txBody>
          </p:sp>
        </p:grpSp>
        <p:sp>
          <p:nvSpPr>
            <p:cNvPr name="Freeform 14" id="14"/>
            <p:cNvSpPr/>
            <p:nvPr/>
          </p:nvSpPr>
          <p:spPr>
            <a:xfrm flipH="false" flipV="false" rot="0">
              <a:off x="0" y="354620"/>
              <a:ext cx="7458314" cy="2134899"/>
            </a:xfrm>
            <a:custGeom>
              <a:avLst/>
              <a:gdLst/>
              <a:ahLst/>
              <a:cxnLst/>
              <a:rect r="r" b="b" t="t" l="l"/>
              <a:pathLst>
                <a:path h="2134899" w="7458314">
                  <a:moveTo>
                    <a:pt x="0" y="0"/>
                  </a:moveTo>
                  <a:lnTo>
                    <a:pt x="7458314" y="0"/>
                  </a:lnTo>
                  <a:lnTo>
                    <a:pt x="7458314" y="2134899"/>
                  </a:lnTo>
                  <a:lnTo>
                    <a:pt x="0" y="2134899"/>
                  </a:lnTo>
                  <a:lnTo>
                    <a:pt x="0" y="0"/>
                  </a:lnTo>
                  <a:close/>
                </a:path>
              </a:pathLst>
            </a:custGeom>
            <a:blipFill>
              <a:blip r:embed="rId3"/>
              <a:stretch>
                <a:fillRect l="0" t="0" r="-178628" b="-100762"/>
              </a:stretch>
            </a:blipFill>
            <a:ln w="76200" cap="sq">
              <a:solidFill>
                <a:srgbClr val="3165AA"/>
              </a:solidFill>
              <a:prstDash val="solid"/>
              <a:miter/>
            </a:ln>
          </p:spPr>
        </p:sp>
      </p:grpSp>
      <p:grpSp>
        <p:nvGrpSpPr>
          <p:cNvPr name="Group 15" id="15"/>
          <p:cNvGrpSpPr/>
          <p:nvPr/>
        </p:nvGrpSpPr>
        <p:grpSpPr>
          <a:xfrm rot="-10800000">
            <a:off x="10472975" y="3735134"/>
            <a:ext cx="1224510" cy="1098244"/>
            <a:chOff x="0" y="0"/>
            <a:chExt cx="594726" cy="533400"/>
          </a:xfrm>
        </p:grpSpPr>
        <p:sp>
          <p:nvSpPr>
            <p:cNvPr name="Freeform 16" id="16"/>
            <p:cNvSpPr/>
            <p:nvPr/>
          </p:nvSpPr>
          <p:spPr>
            <a:xfrm flipH="false" flipV="false" rot="0">
              <a:off x="0" y="0"/>
              <a:ext cx="594726" cy="533400"/>
            </a:xfrm>
            <a:custGeom>
              <a:avLst/>
              <a:gdLst/>
              <a:ahLst/>
              <a:cxnLst/>
              <a:rect r="r" b="b" t="t" l="l"/>
              <a:pathLst>
                <a:path h="533400" w="594726">
                  <a:moveTo>
                    <a:pt x="239386" y="166418"/>
                  </a:moveTo>
                  <a:lnTo>
                    <a:pt x="594726" y="166418"/>
                  </a:lnTo>
                  <a:lnTo>
                    <a:pt x="594726" y="366942"/>
                  </a:lnTo>
                  <a:lnTo>
                    <a:pt x="239373" y="366942"/>
                  </a:lnTo>
                  <a:lnTo>
                    <a:pt x="302255" y="533400"/>
                  </a:lnTo>
                  <a:lnTo>
                    <a:pt x="0" y="266700"/>
                  </a:lnTo>
                  <a:lnTo>
                    <a:pt x="302255" y="0"/>
                  </a:lnTo>
                  <a:lnTo>
                    <a:pt x="239386" y="166418"/>
                  </a:lnTo>
                  <a:close/>
                </a:path>
              </a:pathLst>
            </a:custGeom>
            <a:solidFill>
              <a:srgbClr val="3165AA"/>
            </a:solidFill>
          </p:spPr>
        </p:sp>
        <p:sp>
          <p:nvSpPr>
            <p:cNvPr name="TextBox 17" id="17"/>
            <p:cNvSpPr txBox="true"/>
            <p:nvPr/>
          </p:nvSpPr>
          <p:spPr>
            <a:xfrm>
              <a:off x="120650" y="127000"/>
              <a:ext cx="474076" cy="241300"/>
            </a:xfrm>
            <a:prstGeom prst="rect">
              <a:avLst/>
            </a:prstGeom>
          </p:spPr>
          <p:txBody>
            <a:bodyPr anchor="ctr" rtlCol="false" tIns="50800" lIns="50800" bIns="50800" rIns="50800"/>
            <a:lstStyle/>
            <a:p>
              <a:pPr algn="ctr">
                <a:lnSpc>
                  <a:spcPts val="2940"/>
                </a:lnSpc>
              </a:pPr>
            </a:p>
          </p:txBody>
        </p:sp>
      </p:grpSp>
      <p:sp>
        <p:nvSpPr>
          <p:cNvPr name="TextBox 18" id="18"/>
          <p:cNvSpPr txBox="true"/>
          <p:nvPr/>
        </p:nvSpPr>
        <p:spPr>
          <a:xfrm rot="0">
            <a:off x="764298" y="748635"/>
            <a:ext cx="2724299" cy="732536"/>
          </a:xfrm>
          <a:prstGeom prst="rect">
            <a:avLst/>
          </a:prstGeom>
        </p:spPr>
        <p:txBody>
          <a:bodyPr anchor="t" rtlCol="false" tIns="0" lIns="0" bIns="0" rIns="0">
            <a:spAutoFit/>
          </a:bodyPr>
          <a:lstStyle/>
          <a:p>
            <a:pPr algn="ctr">
              <a:lnSpc>
                <a:spcPts val="5824"/>
              </a:lnSpc>
              <a:spcBef>
                <a:spcPct val="0"/>
              </a:spcBef>
            </a:pPr>
            <a:r>
              <a:rPr lang="en-US" b="true" sz="4160" spc="41">
                <a:solidFill>
                  <a:srgbClr val="FFFFFF"/>
                </a:solidFill>
                <a:latin typeface="Arial Bold"/>
                <a:ea typeface="Arial Bold"/>
                <a:cs typeface="Arial Bold"/>
                <a:sym typeface="Arial Bold"/>
              </a:rPr>
              <a:t>resultados</a:t>
            </a:r>
          </a:p>
        </p:txBody>
      </p:sp>
      <p:grpSp>
        <p:nvGrpSpPr>
          <p:cNvPr name="Group 19" id="19"/>
          <p:cNvGrpSpPr/>
          <p:nvPr/>
        </p:nvGrpSpPr>
        <p:grpSpPr>
          <a:xfrm rot="0">
            <a:off x="340040" y="2808315"/>
            <a:ext cx="9701089" cy="4133206"/>
            <a:chOff x="0" y="0"/>
            <a:chExt cx="1466882" cy="624974"/>
          </a:xfrm>
        </p:grpSpPr>
        <p:sp>
          <p:nvSpPr>
            <p:cNvPr name="Freeform 20" id="20"/>
            <p:cNvSpPr/>
            <p:nvPr/>
          </p:nvSpPr>
          <p:spPr>
            <a:xfrm flipH="false" flipV="false" rot="0">
              <a:off x="0" y="0"/>
              <a:ext cx="1466882" cy="624974"/>
            </a:xfrm>
            <a:custGeom>
              <a:avLst/>
              <a:gdLst/>
              <a:ahLst/>
              <a:cxnLst/>
              <a:rect r="r" b="b" t="t" l="l"/>
              <a:pathLst>
                <a:path h="624974" w="1466882">
                  <a:moveTo>
                    <a:pt x="15961" y="0"/>
                  </a:moveTo>
                  <a:lnTo>
                    <a:pt x="1450921" y="0"/>
                  </a:lnTo>
                  <a:cubicBezTo>
                    <a:pt x="1459736" y="0"/>
                    <a:pt x="1466882" y="7146"/>
                    <a:pt x="1466882" y="15961"/>
                  </a:cubicBezTo>
                  <a:lnTo>
                    <a:pt x="1466882" y="609013"/>
                  </a:lnTo>
                  <a:cubicBezTo>
                    <a:pt x="1466882" y="617828"/>
                    <a:pt x="1459736" y="624974"/>
                    <a:pt x="1450921" y="624974"/>
                  </a:cubicBezTo>
                  <a:lnTo>
                    <a:pt x="15961" y="624974"/>
                  </a:lnTo>
                  <a:cubicBezTo>
                    <a:pt x="7146" y="624974"/>
                    <a:pt x="0" y="617828"/>
                    <a:pt x="0" y="609013"/>
                  </a:cubicBezTo>
                  <a:lnTo>
                    <a:pt x="0" y="15961"/>
                  </a:lnTo>
                  <a:cubicBezTo>
                    <a:pt x="0" y="7146"/>
                    <a:pt x="7146" y="0"/>
                    <a:pt x="15961" y="0"/>
                  </a:cubicBezTo>
                  <a:close/>
                </a:path>
              </a:pathLst>
            </a:custGeom>
            <a:gradFill rotWithShape="true">
              <a:gsLst>
                <a:gs pos="0">
                  <a:srgbClr val="256AB3">
                    <a:alpha val="50000"/>
                  </a:srgbClr>
                </a:gs>
                <a:gs pos="100000">
                  <a:srgbClr val="CBDFFF">
                    <a:alpha val="50000"/>
                  </a:srgbClr>
                </a:gs>
              </a:gsLst>
              <a:path path="circle">
                <a:fillToRect l="0" r="100000" t="0" b="100000"/>
              </a:path>
              <a:tileRect r="0" l="-100000" b="0" t="-100000"/>
            </a:gradFill>
            <a:ln cap="sq">
              <a:noFill/>
              <a:prstDash val="solid"/>
              <a:miter/>
            </a:ln>
          </p:spPr>
        </p:sp>
        <p:sp>
          <p:nvSpPr>
            <p:cNvPr name="TextBox 21" id="21"/>
            <p:cNvSpPr txBox="true"/>
            <p:nvPr/>
          </p:nvSpPr>
          <p:spPr>
            <a:xfrm>
              <a:off x="0" y="-66675"/>
              <a:ext cx="1466882" cy="691649"/>
            </a:xfrm>
            <a:prstGeom prst="rect">
              <a:avLst/>
            </a:prstGeom>
          </p:spPr>
          <p:txBody>
            <a:bodyPr anchor="ctr" rtlCol="false" tIns="110384" lIns="110384" bIns="110384" rIns="110384"/>
            <a:lstStyle/>
            <a:p>
              <a:pPr algn="ctr">
                <a:lnSpc>
                  <a:spcPts val="3418"/>
                </a:lnSpc>
              </a:pPr>
            </a:p>
          </p:txBody>
        </p:sp>
      </p:grpSp>
      <p:grpSp>
        <p:nvGrpSpPr>
          <p:cNvPr name="Group 22" id="22"/>
          <p:cNvGrpSpPr/>
          <p:nvPr/>
        </p:nvGrpSpPr>
        <p:grpSpPr>
          <a:xfrm rot="0">
            <a:off x="430337" y="2407576"/>
            <a:ext cx="9701089" cy="4372440"/>
            <a:chOff x="0" y="0"/>
            <a:chExt cx="1466882" cy="661148"/>
          </a:xfrm>
        </p:grpSpPr>
        <p:sp>
          <p:nvSpPr>
            <p:cNvPr name="Freeform 23" id="23"/>
            <p:cNvSpPr/>
            <p:nvPr/>
          </p:nvSpPr>
          <p:spPr>
            <a:xfrm flipH="false" flipV="false" rot="0">
              <a:off x="0" y="0"/>
              <a:ext cx="1466882" cy="661148"/>
            </a:xfrm>
            <a:custGeom>
              <a:avLst/>
              <a:gdLst/>
              <a:ahLst/>
              <a:cxnLst/>
              <a:rect r="r" b="b" t="t" l="l"/>
              <a:pathLst>
                <a:path h="661148" w="1466882">
                  <a:moveTo>
                    <a:pt x="15961" y="0"/>
                  </a:moveTo>
                  <a:lnTo>
                    <a:pt x="1450921" y="0"/>
                  </a:lnTo>
                  <a:cubicBezTo>
                    <a:pt x="1459736" y="0"/>
                    <a:pt x="1466882" y="7146"/>
                    <a:pt x="1466882" y="15961"/>
                  </a:cubicBezTo>
                  <a:lnTo>
                    <a:pt x="1466882" y="645187"/>
                  </a:lnTo>
                  <a:cubicBezTo>
                    <a:pt x="1466882" y="654002"/>
                    <a:pt x="1459736" y="661148"/>
                    <a:pt x="1450921" y="661148"/>
                  </a:cubicBezTo>
                  <a:lnTo>
                    <a:pt x="15961" y="661148"/>
                  </a:lnTo>
                  <a:cubicBezTo>
                    <a:pt x="11728" y="661148"/>
                    <a:pt x="7668" y="659466"/>
                    <a:pt x="4675" y="656473"/>
                  </a:cubicBezTo>
                  <a:cubicBezTo>
                    <a:pt x="1682" y="653480"/>
                    <a:pt x="0" y="649420"/>
                    <a:pt x="0" y="645187"/>
                  </a:cubicBezTo>
                  <a:lnTo>
                    <a:pt x="0" y="15961"/>
                  </a:lnTo>
                  <a:cubicBezTo>
                    <a:pt x="0" y="7146"/>
                    <a:pt x="7146" y="0"/>
                    <a:pt x="15961"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24" id="24"/>
            <p:cNvSpPr txBox="true"/>
            <p:nvPr/>
          </p:nvSpPr>
          <p:spPr>
            <a:xfrm>
              <a:off x="0" y="-66675"/>
              <a:ext cx="1466882" cy="727823"/>
            </a:xfrm>
            <a:prstGeom prst="rect">
              <a:avLst/>
            </a:prstGeom>
          </p:spPr>
          <p:txBody>
            <a:bodyPr anchor="ctr" rtlCol="false" tIns="110384" lIns="110384" bIns="110384" rIns="110384"/>
            <a:lstStyle/>
            <a:p>
              <a:pPr algn="ctr">
                <a:lnSpc>
                  <a:spcPts val="3418"/>
                </a:lnSpc>
              </a:pPr>
            </a:p>
          </p:txBody>
        </p:sp>
      </p:grpSp>
      <p:sp>
        <p:nvSpPr>
          <p:cNvPr name="TextBox 25" id="25"/>
          <p:cNvSpPr txBox="true"/>
          <p:nvPr/>
        </p:nvSpPr>
        <p:spPr>
          <a:xfrm rot="0">
            <a:off x="764298" y="2619257"/>
            <a:ext cx="9421619" cy="4114927"/>
          </a:xfrm>
          <a:prstGeom prst="rect">
            <a:avLst/>
          </a:prstGeom>
        </p:spPr>
        <p:txBody>
          <a:bodyPr anchor="t" rtlCol="false" tIns="0" lIns="0" bIns="0" rIns="0">
            <a:spAutoFit/>
          </a:bodyPr>
          <a:lstStyle/>
          <a:p>
            <a:pPr algn="l">
              <a:lnSpc>
                <a:spcPts val="3667"/>
              </a:lnSpc>
            </a:pPr>
            <a:r>
              <a:rPr lang="en-US" sz="2619" spc="26" b="true">
                <a:solidFill>
                  <a:srgbClr val="FFFFFF"/>
                </a:solidFill>
                <a:latin typeface="Arial Bold"/>
                <a:ea typeface="Arial Bold"/>
                <a:cs typeface="Arial Bold"/>
                <a:sym typeface="Arial Bold"/>
              </a:rPr>
              <a:t>Conclusión</a:t>
            </a:r>
          </a:p>
          <a:p>
            <a:pPr algn="l" marL="565657" indent="-282829" lvl="1">
              <a:lnSpc>
                <a:spcPts val="3667"/>
              </a:lnSpc>
              <a:buFont typeface="Arial"/>
              <a:buChar char="•"/>
            </a:pPr>
            <a:r>
              <a:rPr lang="en-US" b="true" sz="2619" spc="26">
                <a:solidFill>
                  <a:srgbClr val="FFFFFF"/>
                </a:solidFill>
                <a:latin typeface="Arial Bold"/>
                <a:ea typeface="Arial Bold"/>
                <a:cs typeface="Arial Bold"/>
                <a:sym typeface="Arial Bold"/>
              </a:rPr>
              <a:t>No se rechaza la hipótesis nula (p &gt; 0.05).</a:t>
            </a:r>
          </a:p>
          <a:p>
            <a:pPr algn="l" marL="565657" indent="-282829" lvl="1">
              <a:lnSpc>
                <a:spcPts val="3667"/>
              </a:lnSpc>
              <a:buFont typeface="Arial"/>
              <a:buChar char="•"/>
            </a:pPr>
            <a:r>
              <a:rPr lang="en-US" b="true" sz="2619" spc="26">
                <a:solidFill>
                  <a:srgbClr val="FFFFFF"/>
                </a:solidFill>
                <a:latin typeface="Arial Bold"/>
                <a:ea typeface="Arial Bold"/>
                <a:cs typeface="Arial Bold"/>
                <a:sym typeface="Arial Bold"/>
              </a:rPr>
              <a:t>No hay evidencia suficiente para afirmar una asociación entre disponibilidad saludable y pobreza comunal.</a:t>
            </a:r>
          </a:p>
          <a:p>
            <a:pPr algn="l" marL="565657" indent="-282829" lvl="1">
              <a:lnSpc>
                <a:spcPts val="3667"/>
              </a:lnSpc>
              <a:buFont typeface="Arial"/>
              <a:buChar char="•"/>
            </a:pPr>
            <a:r>
              <a:rPr lang="en-US" b="true" sz="2619" spc="26">
                <a:solidFill>
                  <a:srgbClr val="FFFFFF"/>
                </a:solidFill>
                <a:latin typeface="Arial Bold"/>
                <a:ea typeface="Arial Bold"/>
                <a:cs typeface="Arial Bold"/>
                <a:sym typeface="Arial Bold"/>
              </a:rPr>
              <a:t>El coeficiente negativo (rho ≈ -0.03) sugiere una relación inversa extremadamente débil, compatible con la ausencia de relación.</a:t>
            </a:r>
          </a:p>
          <a:p>
            <a:pPr algn="l">
              <a:lnSpc>
                <a:spcPts val="3667"/>
              </a:lnSpc>
              <a:spcBef>
                <a:spcPct val="0"/>
              </a:spcBef>
            </a:pPr>
          </a:p>
        </p:txBody>
      </p:sp>
      <p:grpSp>
        <p:nvGrpSpPr>
          <p:cNvPr name="Group 26" id="26"/>
          <p:cNvGrpSpPr/>
          <p:nvPr/>
        </p:nvGrpSpPr>
        <p:grpSpPr>
          <a:xfrm rot="0">
            <a:off x="340040" y="7528764"/>
            <a:ext cx="15073735" cy="1950201"/>
            <a:chOff x="0" y="0"/>
            <a:chExt cx="2279269" cy="294886"/>
          </a:xfrm>
        </p:grpSpPr>
        <p:sp>
          <p:nvSpPr>
            <p:cNvPr name="Freeform 27" id="27"/>
            <p:cNvSpPr/>
            <p:nvPr/>
          </p:nvSpPr>
          <p:spPr>
            <a:xfrm flipH="false" flipV="false" rot="0">
              <a:off x="0" y="0"/>
              <a:ext cx="2279269" cy="294886"/>
            </a:xfrm>
            <a:custGeom>
              <a:avLst/>
              <a:gdLst/>
              <a:ahLst/>
              <a:cxnLst/>
              <a:rect r="r" b="b" t="t" l="l"/>
              <a:pathLst>
                <a:path h="294886" w="2279269">
                  <a:moveTo>
                    <a:pt x="10272" y="0"/>
                  </a:moveTo>
                  <a:lnTo>
                    <a:pt x="2268997" y="0"/>
                  </a:lnTo>
                  <a:cubicBezTo>
                    <a:pt x="2271721" y="0"/>
                    <a:pt x="2274334" y="1082"/>
                    <a:pt x="2276260" y="3009"/>
                  </a:cubicBezTo>
                  <a:cubicBezTo>
                    <a:pt x="2278187" y="4935"/>
                    <a:pt x="2279269" y="7548"/>
                    <a:pt x="2279269" y="10272"/>
                  </a:cubicBezTo>
                  <a:lnTo>
                    <a:pt x="2279269" y="284614"/>
                  </a:lnTo>
                  <a:cubicBezTo>
                    <a:pt x="2279269" y="287338"/>
                    <a:pt x="2278187" y="289951"/>
                    <a:pt x="2276260" y="291877"/>
                  </a:cubicBezTo>
                  <a:cubicBezTo>
                    <a:pt x="2274334" y="293804"/>
                    <a:pt x="2271721" y="294886"/>
                    <a:pt x="2268997" y="294886"/>
                  </a:cubicBezTo>
                  <a:lnTo>
                    <a:pt x="10272" y="294886"/>
                  </a:lnTo>
                  <a:cubicBezTo>
                    <a:pt x="7548" y="294886"/>
                    <a:pt x="4935" y="293804"/>
                    <a:pt x="3009" y="291877"/>
                  </a:cubicBezTo>
                  <a:cubicBezTo>
                    <a:pt x="1082" y="289951"/>
                    <a:pt x="0" y="287338"/>
                    <a:pt x="0" y="284614"/>
                  </a:cubicBezTo>
                  <a:lnTo>
                    <a:pt x="0" y="10272"/>
                  </a:lnTo>
                  <a:cubicBezTo>
                    <a:pt x="0" y="7548"/>
                    <a:pt x="1082" y="4935"/>
                    <a:pt x="3009" y="3009"/>
                  </a:cubicBezTo>
                  <a:cubicBezTo>
                    <a:pt x="4935" y="1082"/>
                    <a:pt x="7548" y="0"/>
                    <a:pt x="10272" y="0"/>
                  </a:cubicBezTo>
                  <a:close/>
                </a:path>
              </a:pathLst>
            </a:custGeom>
            <a:gradFill rotWithShape="true">
              <a:gsLst>
                <a:gs pos="0">
                  <a:srgbClr val="256AB3">
                    <a:alpha val="50000"/>
                  </a:srgbClr>
                </a:gs>
                <a:gs pos="100000">
                  <a:srgbClr val="CBDFFF">
                    <a:alpha val="50000"/>
                  </a:srgbClr>
                </a:gs>
              </a:gsLst>
              <a:path path="circle">
                <a:fillToRect l="0" r="100000" t="0" b="100000"/>
              </a:path>
              <a:tileRect r="0" l="-100000" b="0" t="-100000"/>
            </a:gradFill>
            <a:ln cap="sq">
              <a:noFill/>
              <a:prstDash val="solid"/>
              <a:miter/>
            </a:ln>
          </p:spPr>
        </p:sp>
        <p:sp>
          <p:nvSpPr>
            <p:cNvPr name="TextBox 28" id="28"/>
            <p:cNvSpPr txBox="true"/>
            <p:nvPr/>
          </p:nvSpPr>
          <p:spPr>
            <a:xfrm>
              <a:off x="0" y="-66675"/>
              <a:ext cx="2279269" cy="361561"/>
            </a:xfrm>
            <a:prstGeom prst="rect">
              <a:avLst/>
            </a:prstGeom>
          </p:spPr>
          <p:txBody>
            <a:bodyPr anchor="ctr" rtlCol="false" tIns="110384" lIns="110384" bIns="110384" rIns="110384"/>
            <a:lstStyle/>
            <a:p>
              <a:pPr algn="ctr">
                <a:lnSpc>
                  <a:spcPts val="3418"/>
                </a:lnSpc>
              </a:pPr>
            </a:p>
          </p:txBody>
        </p:sp>
      </p:grpSp>
      <p:grpSp>
        <p:nvGrpSpPr>
          <p:cNvPr name="Group 29" id="29"/>
          <p:cNvGrpSpPr/>
          <p:nvPr/>
        </p:nvGrpSpPr>
        <p:grpSpPr>
          <a:xfrm rot="0">
            <a:off x="480345" y="7379671"/>
            <a:ext cx="15073735" cy="1927027"/>
            <a:chOff x="0" y="0"/>
            <a:chExt cx="2279269" cy="291382"/>
          </a:xfrm>
        </p:grpSpPr>
        <p:sp>
          <p:nvSpPr>
            <p:cNvPr name="Freeform 30" id="30"/>
            <p:cNvSpPr/>
            <p:nvPr/>
          </p:nvSpPr>
          <p:spPr>
            <a:xfrm flipH="false" flipV="false" rot="0">
              <a:off x="0" y="0"/>
              <a:ext cx="2279269" cy="291382"/>
            </a:xfrm>
            <a:custGeom>
              <a:avLst/>
              <a:gdLst/>
              <a:ahLst/>
              <a:cxnLst/>
              <a:rect r="r" b="b" t="t" l="l"/>
              <a:pathLst>
                <a:path h="291382" w="2279269">
                  <a:moveTo>
                    <a:pt x="10272" y="0"/>
                  </a:moveTo>
                  <a:lnTo>
                    <a:pt x="2268997" y="0"/>
                  </a:lnTo>
                  <a:cubicBezTo>
                    <a:pt x="2271721" y="0"/>
                    <a:pt x="2274334" y="1082"/>
                    <a:pt x="2276260" y="3009"/>
                  </a:cubicBezTo>
                  <a:cubicBezTo>
                    <a:pt x="2278187" y="4935"/>
                    <a:pt x="2279269" y="7548"/>
                    <a:pt x="2279269" y="10272"/>
                  </a:cubicBezTo>
                  <a:lnTo>
                    <a:pt x="2279269" y="281110"/>
                  </a:lnTo>
                  <a:cubicBezTo>
                    <a:pt x="2279269" y="283834"/>
                    <a:pt x="2278187" y="286447"/>
                    <a:pt x="2276260" y="288373"/>
                  </a:cubicBezTo>
                  <a:cubicBezTo>
                    <a:pt x="2274334" y="290300"/>
                    <a:pt x="2271721" y="291382"/>
                    <a:pt x="2268997" y="291382"/>
                  </a:cubicBezTo>
                  <a:lnTo>
                    <a:pt x="10272" y="291382"/>
                  </a:lnTo>
                  <a:cubicBezTo>
                    <a:pt x="7548" y="291382"/>
                    <a:pt x="4935" y="290300"/>
                    <a:pt x="3009" y="288373"/>
                  </a:cubicBezTo>
                  <a:cubicBezTo>
                    <a:pt x="1082" y="286447"/>
                    <a:pt x="0" y="283834"/>
                    <a:pt x="0" y="281110"/>
                  </a:cubicBezTo>
                  <a:lnTo>
                    <a:pt x="0" y="10272"/>
                  </a:lnTo>
                  <a:cubicBezTo>
                    <a:pt x="0" y="7548"/>
                    <a:pt x="1082" y="4935"/>
                    <a:pt x="3009" y="3009"/>
                  </a:cubicBezTo>
                  <a:cubicBezTo>
                    <a:pt x="4935" y="1082"/>
                    <a:pt x="7548" y="0"/>
                    <a:pt x="1027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31" id="31"/>
            <p:cNvSpPr txBox="true"/>
            <p:nvPr/>
          </p:nvSpPr>
          <p:spPr>
            <a:xfrm>
              <a:off x="0" y="-66675"/>
              <a:ext cx="2279269" cy="358057"/>
            </a:xfrm>
            <a:prstGeom prst="rect">
              <a:avLst/>
            </a:prstGeom>
          </p:spPr>
          <p:txBody>
            <a:bodyPr anchor="ctr" rtlCol="false" tIns="110384" lIns="110384" bIns="110384" rIns="110384"/>
            <a:lstStyle/>
            <a:p>
              <a:pPr algn="ctr">
                <a:lnSpc>
                  <a:spcPts val="3418"/>
                </a:lnSpc>
              </a:pPr>
            </a:p>
          </p:txBody>
        </p:sp>
      </p:grpSp>
      <p:sp>
        <p:nvSpPr>
          <p:cNvPr name="TextBox 32" id="32"/>
          <p:cNvSpPr txBox="true"/>
          <p:nvPr/>
        </p:nvSpPr>
        <p:spPr>
          <a:xfrm rot="0">
            <a:off x="805649" y="7598746"/>
            <a:ext cx="14142517" cy="1371727"/>
          </a:xfrm>
          <a:prstGeom prst="rect">
            <a:avLst/>
          </a:prstGeom>
        </p:spPr>
        <p:txBody>
          <a:bodyPr anchor="t" rtlCol="false" tIns="0" lIns="0" bIns="0" rIns="0">
            <a:spAutoFit/>
          </a:bodyPr>
          <a:lstStyle/>
          <a:p>
            <a:pPr algn="l">
              <a:lnSpc>
                <a:spcPts val="3667"/>
              </a:lnSpc>
            </a:pPr>
            <a:r>
              <a:rPr lang="en-US" sz="2619" spc="26" b="true">
                <a:solidFill>
                  <a:srgbClr val="FFFFFF"/>
                </a:solidFill>
                <a:latin typeface="Arial Bold"/>
                <a:ea typeface="Arial Bold"/>
                <a:cs typeface="Arial Bold"/>
                <a:sym typeface="Arial Bold"/>
              </a:rPr>
              <a:t>Implicancia</a:t>
            </a:r>
          </a:p>
          <a:p>
            <a:pPr algn="l">
              <a:lnSpc>
                <a:spcPts val="3667"/>
              </a:lnSpc>
              <a:spcBef>
                <a:spcPct val="0"/>
              </a:spcBef>
            </a:pPr>
            <a:r>
              <a:rPr lang="en-US" b="true" sz="2619" spc="26">
                <a:solidFill>
                  <a:srgbClr val="FFFFFF"/>
                </a:solidFill>
                <a:latin typeface="Arial Bold"/>
                <a:ea typeface="Arial Bold"/>
                <a:cs typeface="Arial Bold"/>
                <a:sym typeface="Arial Bold"/>
              </a:rPr>
              <a:t>Los datos no apoyan la hipótesis de que a mayor pobreza comunal corresponda menor disponibilidad de alimentos saludables en los entornos escolares estudiados.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1028700" y="2893427"/>
            <a:ext cx="16230600" cy="5355181"/>
            <a:chOff x="0" y="0"/>
            <a:chExt cx="6487726" cy="2140583"/>
          </a:xfrm>
        </p:grpSpPr>
        <p:sp>
          <p:nvSpPr>
            <p:cNvPr name="Freeform 4" id="4"/>
            <p:cNvSpPr/>
            <p:nvPr/>
          </p:nvSpPr>
          <p:spPr>
            <a:xfrm flipH="false" flipV="false" rot="0">
              <a:off x="0" y="0"/>
              <a:ext cx="6487726" cy="2140583"/>
            </a:xfrm>
            <a:custGeom>
              <a:avLst/>
              <a:gdLst/>
              <a:ahLst/>
              <a:cxnLst/>
              <a:rect r="r" b="b" t="t" l="l"/>
              <a:pathLst>
                <a:path h="2140583" w="6487726">
                  <a:moveTo>
                    <a:pt x="14310" y="0"/>
                  </a:moveTo>
                  <a:lnTo>
                    <a:pt x="6473416" y="0"/>
                  </a:lnTo>
                  <a:cubicBezTo>
                    <a:pt x="6477212" y="0"/>
                    <a:pt x="6480852" y="1508"/>
                    <a:pt x="6483535" y="4191"/>
                  </a:cubicBezTo>
                  <a:cubicBezTo>
                    <a:pt x="6486219" y="6875"/>
                    <a:pt x="6487726" y="10515"/>
                    <a:pt x="6487726" y="14310"/>
                  </a:cubicBezTo>
                  <a:lnTo>
                    <a:pt x="6487726" y="2126273"/>
                  </a:lnTo>
                  <a:cubicBezTo>
                    <a:pt x="6487726" y="2130068"/>
                    <a:pt x="6486219" y="2133708"/>
                    <a:pt x="6483535" y="2136392"/>
                  </a:cubicBezTo>
                  <a:cubicBezTo>
                    <a:pt x="6480852" y="2139075"/>
                    <a:pt x="6477212" y="2140583"/>
                    <a:pt x="6473416" y="2140583"/>
                  </a:cubicBezTo>
                  <a:lnTo>
                    <a:pt x="14310" y="2140583"/>
                  </a:lnTo>
                  <a:cubicBezTo>
                    <a:pt x="10515" y="2140583"/>
                    <a:pt x="6875" y="2139075"/>
                    <a:pt x="4191" y="2136392"/>
                  </a:cubicBezTo>
                  <a:cubicBezTo>
                    <a:pt x="1508" y="2133708"/>
                    <a:pt x="0" y="2130068"/>
                    <a:pt x="0" y="2126273"/>
                  </a:cubicBezTo>
                  <a:lnTo>
                    <a:pt x="0" y="14310"/>
                  </a:lnTo>
                  <a:cubicBezTo>
                    <a:pt x="0" y="10515"/>
                    <a:pt x="1508" y="6875"/>
                    <a:pt x="4191" y="4191"/>
                  </a:cubicBezTo>
                  <a:cubicBezTo>
                    <a:pt x="6875" y="1508"/>
                    <a:pt x="10515" y="0"/>
                    <a:pt x="14310" y="0"/>
                  </a:cubicBezTo>
                  <a:close/>
                </a:path>
              </a:pathLst>
            </a:custGeom>
            <a:solidFill>
              <a:srgbClr val="FFFFFF"/>
            </a:solidFill>
            <a:ln cap="rnd">
              <a:noFill/>
              <a:prstDash val="solid"/>
              <a:round/>
            </a:ln>
          </p:spPr>
        </p:sp>
        <p:sp>
          <p:nvSpPr>
            <p:cNvPr name="TextBox 5" id="5"/>
            <p:cNvSpPr txBox="true"/>
            <p:nvPr/>
          </p:nvSpPr>
          <p:spPr>
            <a:xfrm>
              <a:off x="0" y="-38100"/>
              <a:ext cx="6487726" cy="2178683"/>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5809682" y="4950895"/>
            <a:ext cx="1271829" cy="635914"/>
            <a:chOff x="0" y="0"/>
            <a:chExt cx="812800" cy="406400"/>
          </a:xfrm>
        </p:grpSpPr>
        <p:sp>
          <p:nvSpPr>
            <p:cNvPr name="Freeform 7" id="7"/>
            <p:cNvSpPr/>
            <p:nvPr/>
          </p:nvSpPr>
          <p:spPr>
            <a:xfrm flipH="false" flipV="false" rot="0">
              <a:off x="14263" y="0"/>
              <a:ext cx="788451" cy="406400"/>
            </a:xfrm>
            <a:custGeom>
              <a:avLst/>
              <a:gdLst/>
              <a:ahLst/>
              <a:cxnLst/>
              <a:rect r="r" b="b" t="t" l="l"/>
              <a:pathLst>
                <a:path h="406400" w="788451">
                  <a:moveTo>
                    <a:pt x="10086" y="0"/>
                  </a:moveTo>
                  <a:lnTo>
                    <a:pt x="570988" y="0"/>
                  </a:lnTo>
                  <a:cubicBezTo>
                    <a:pt x="586578" y="0"/>
                    <a:pt x="601530" y="6193"/>
                    <a:pt x="612554" y="17217"/>
                  </a:cubicBezTo>
                  <a:lnTo>
                    <a:pt x="781320" y="185983"/>
                  </a:lnTo>
                  <a:cubicBezTo>
                    <a:pt x="790829" y="195492"/>
                    <a:pt x="790829" y="210908"/>
                    <a:pt x="781320" y="220417"/>
                  </a:cubicBezTo>
                  <a:lnTo>
                    <a:pt x="612554" y="389183"/>
                  </a:lnTo>
                  <a:cubicBezTo>
                    <a:pt x="601530" y="400207"/>
                    <a:pt x="586578" y="406400"/>
                    <a:pt x="570988" y="406400"/>
                  </a:cubicBezTo>
                  <a:lnTo>
                    <a:pt x="10086" y="406400"/>
                  </a:lnTo>
                  <a:cubicBezTo>
                    <a:pt x="6007" y="406400"/>
                    <a:pt x="2329" y="403943"/>
                    <a:pt x="768" y="400174"/>
                  </a:cubicBezTo>
                  <a:cubicBezTo>
                    <a:pt x="-793" y="396405"/>
                    <a:pt x="70" y="392067"/>
                    <a:pt x="2954" y="389183"/>
                  </a:cubicBezTo>
                  <a:lnTo>
                    <a:pt x="171720" y="220417"/>
                  </a:lnTo>
                  <a:cubicBezTo>
                    <a:pt x="181229" y="210908"/>
                    <a:pt x="181229" y="195492"/>
                    <a:pt x="171720" y="185983"/>
                  </a:cubicBezTo>
                  <a:lnTo>
                    <a:pt x="2954" y="17217"/>
                  </a:lnTo>
                  <a:cubicBezTo>
                    <a:pt x="70" y="14333"/>
                    <a:pt x="-793" y="9995"/>
                    <a:pt x="768" y="6226"/>
                  </a:cubicBezTo>
                  <a:cubicBezTo>
                    <a:pt x="2329" y="2457"/>
                    <a:pt x="6007" y="0"/>
                    <a:pt x="10086"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sq">
              <a:noFill/>
              <a:prstDash val="solid"/>
              <a:miter/>
            </a:ln>
          </p:spPr>
        </p:sp>
        <p:sp>
          <p:nvSpPr>
            <p:cNvPr name="TextBox 8" id="8"/>
            <p:cNvSpPr txBox="true"/>
            <p:nvPr/>
          </p:nvSpPr>
          <p:spPr>
            <a:xfrm>
              <a:off x="177800" y="-38100"/>
              <a:ext cx="558800" cy="444500"/>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9" id="9"/>
          <p:cNvGrpSpPr/>
          <p:nvPr/>
        </p:nvGrpSpPr>
        <p:grpSpPr>
          <a:xfrm rot="0">
            <a:off x="11333790" y="4950895"/>
            <a:ext cx="1271829" cy="635914"/>
            <a:chOff x="0" y="0"/>
            <a:chExt cx="812800" cy="406400"/>
          </a:xfrm>
        </p:grpSpPr>
        <p:sp>
          <p:nvSpPr>
            <p:cNvPr name="Freeform 10" id="10"/>
            <p:cNvSpPr/>
            <p:nvPr/>
          </p:nvSpPr>
          <p:spPr>
            <a:xfrm flipH="false" flipV="false" rot="0">
              <a:off x="14263" y="0"/>
              <a:ext cx="788451" cy="406400"/>
            </a:xfrm>
            <a:custGeom>
              <a:avLst/>
              <a:gdLst/>
              <a:ahLst/>
              <a:cxnLst/>
              <a:rect r="r" b="b" t="t" l="l"/>
              <a:pathLst>
                <a:path h="406400" w="788451">
                  <a:moveTo>
                    <a:pt x="10086" y="0"/>
                  </a:moveTo>
                  <a:lnTo>
                    <a:pt x="570988" y="0"/>
                  </a:lnTo>
                  <a:cubicBezTo>
                    <a:pt x="586578" y="0"/>
                    <a:pt x="601530" y="6193"/>
                    <a:pt x="612554" y="17217"/>
                  </a:cubicBezTo>
                  <a:lnTo>
                    <a:pt x="781320" y="185983"/>
                  </a:lnTo>
                  <a:cubicBezTo>
                    <a:pt x="790829" y="195492"/>
                    <a:pt x="790829" y="210908"/>
                    <a:pt x="781320" y="220417"/>
                  </a:cubicBezTo>
                  <a:lnTo>
                    <a:pt x="612554" y="389183"/>
                  </a:lnTo>
                  <a:cubicBezTo>
                    <a:pt x="601530" y="400207"/>
                    <a:pt x="586578" y="406400"/>
                    <a:pt x="570988" y="406400"/>
                  </a:cubicBezTo>
                  <a:lnTo>
                    <a:pt x="10086" y="406400"/>
                  </a:lnTo>
                  <a:cubicBezTo>
                    <a:pt x="6007" y="406400"/>
                    <a:pt x="2329" y="403943"/>
                    <a:pt x="768" y="400174"/>
                  </a:cubicBezTo>
                  <a:cubicBezTo>
                    <a:pt x="-793" y="396405"/>
                    <a:pt x="70" y="392067"/>
                    <a:pt x="2954" y="389183"/>
                  </a:cubicBezTo>
                  <a:lnTo>
                    <a:pt x="171720" y="220417"/>
                  </a:lnTo>
                  <a:cubicBezTo>
                    <a:pt x="181229" y="210908"/>
                    <a:pt x="181229" y="195492"/>
                    <a:pt x="171720" y="185983"/>
                  </a:cubicBezTo>
                  <a:lnTo>
                    <a:pt x="2954" y="17217"/>
                  </a:lnTo>
                  <a:cubicBezTo>
                    <a:pt x="70" y="14333"/>
                    <a:pt x="-793" y="9995"/>
                    <a:pt x="768" y="6226"/>
                  </a:cubicBezTo>
                  <a:cubicBezTo>
                    <a:pt x="2329" y="2457"/>
                    <a:pt x="6007" y="0"/>
                    <a:pt x="10086"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sq">
              <a:noFill/>
              <a:prstDash val="solid"/>
              <a:miter/>
            </a:ln>
          </p:spPr>
        </p:sp>
        <p:sp>
          <p:nvSpPr>
            <p:cNvPr name="TextBox 11" id="11"/>
            <p:cNvSpPr txBox="true"/>
            <p:nvPr/>
          </p:nvSpPr>
          <p:spPr>
            <a:xfrm>
              <a:off x="177800" y="-38100"/>
              <a:ext cx="558800" cy="444500"/>
            </a:xfrm>
            <a:prstGeom prst="rect">
              <a:avLst/>
            </a:prstGeom>
          </p:spPr>
          <p:txBody>
            <a:bodyPr anchor="ctr" rtlCol="false" tIns="50800" lIns="50800" bIns="50800" rIns="50800"/>
            <a:lstStyle/>
            <a:p>
              <a:pPr algn="ctr" marL="0" indent="0" lvl="0">
                <a:lnSpc>
                  <a:spcPts val="2940"/>
                </a:lnSpc>
                <a:spcBef>
                  <a:spcPct val="0"/>
                </a:spcBef>
              </a:pPr>
            </a:p>
          </p:txBody>
        </p:sp>
      </p:grpSp>
      <p:sp>
        <p:nvSpPr>
          <p:cNvPr name="TextBox 12" id="12"/>
          <p:cNvSpPr txBox="true"/>
          <p:nvPr/>
        </p:nvSpPr>
        <p:spPr>
          <a:xfrm rot="0">
            <a:off x="2022174" y="4314270"/>
            <a:ext cx="3468613" cy="2506980"/>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0B1B45"/>
                </a:solidFill>
                <a:latin typeface="Proxima Nova"/>
                <a:ea typeface="Proxima Nova"/>
                <a:cs typeface="Proxima Nova"/>
                <a:sym typeface="Proxima Nova"/>
              </a:rPr>
              <a:t>Se realizaron búsquedas en un radio de 400 metros alrededor de una escuela de prueba, utilizando Google Places y OpenStreetMap (Overpass API). Los resultados se compararon con un dataset real de establecimientos georreferenciados.</a:t>
            </a:r>
          </a:p>
        </p:txBody>
      </p:sp>
      <p:sp>
        <p:nvSpPr>
          <p:cNvPr name="TextBox 13" id="13"/>
          <p:cNvSpPr txBox="true"/>
          <p:nvPr/>
        </p:nvSpPr>
        <p:spPr>
          <a:xfrm rot="0">
            <a:off x="7210210" y="4314270"/>
            <a:ext cx="3867581" cy="3135630"/>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0B1B45"/>
                </a:solidFill>
                <a:latin typeface="Proxima Nova"/>
                <a:ea typeface="Proxima Nova"/>
                <a:cs typeface="Proxima Nova"/>
                <a:sym typeface="Proxima Nova"/>
              </a:rPr>
              <a:t>Google Places detectó una buena cantidad de locales en el área. OpenStreetMap, en cambio, no encontró ninguno debido a la inestabilidad de sus servidores, que generaron múltiples timeouts y rechazos de consulta. La combinación de ambas APIs no mejoró los resultados por el mal desempeño de OSM.</a:t>
            </a:r>
          </a:p>
        </p:txBody>
      </p:sp>
      <p:sp>
        <p:nvSpPr>
          <p:cNvPr name="TextBox 14" id="14"/>
          <p:cNvSpPr txBox="true"/>
          <p:nvPr/>
        </p:nvSpPr>
        <p:spPr>
          <a:xfrm rot="0">
            <a:off x="2566734" y="3565564"/>
            <a:ext cx="2376380" cy="365258"/>
          </a:xfrm>
          <a:prstGeom prst="rect">
            <a:avLst/>
          </a:prstGeom>
        </p:spPr>
        <p:txBody>
          <a:bodyPr anchor="t" rtlCol="false" tIns="0" lIns="0" bIns="0" rIns="0">
            <a:spAutoFit/>
          </a:bodyPr>
          <a:lstStyle/>
          <a:p>
            <a:pPr algn="ctr">
              <a:lnSpc>
                <a:spcPts val="2967"/>
              </a:lnSpc>
            </a:pPr>
            <a:r>
              <a:rPr lang="en-US" b="true" sz="2119">
                <a:solidFill>
                  <a:srgbClr val="0B1B45"/>
                </a:solidFill>
                <a:latin typeface="IBM Plex Sans Bold"/>
                <a:ea typeface="IBM Plex Sans Bold"/>
                <a:cs typeface="IBM Plex Sans Bold"/>
                <a:sym typeface="IBM Plex Sans Bold"/>
              </a:rPr>
              <a:t>METODOLOGÍA</a:t>
            </a:r>
          </a:p>
        </p:txBody>
      </p:sp>
      <p:sp>
        <p:nvSpPr>
          <p:cNvPr name="TextBox 15" id="15"/>
          <p:cNvSpPr txBox="true"/>
          <p:nvPr/>
        </p:nvSpPr>
        <p:spPr>
          <a:xfrm rot="0">
            <a:off x="7955810" y="3565564"/>
            <a:ext cx="2376380" cy="365258"/>
          </a:xfrm>
          <a:prstGeom prst="rect">
            <a:avLst/>
          </a:prstGeom>
        </p:spPr>
        <p:txBody>
          <a:bodyPr anchor="t" rtlCol="false" tIns="0" lIns="0" bIns="0" rIns="0">
            <a:spAutoFit/>
          </a:bodyPr>
          <a:lstStyle/>
          <a:p>
            <a:pPr algn="ctr">
              <a:lnSpc>
                <a:spcPts val="2967"/>
              </a:lnSpc>
            </a:pPr>
            <a:r>
              <a:rPr lang="en-US" b="true" sz="2119">
                <a:solidFill>
                  <a:srgbClr val="0B1B45"/>
                </a:solidFill>
                <a:latin typeface="IBM Plex Sans Bold"/>
                <a:ea typeface="IBM Plex Sans Bold"/>
                <a:cs typeface="IBM Plex Sans Bold"/>
                <a:sym typeface="IBM Plex Sans Bold"/>
              </a:rPr>
              <a:t>RESULTADOS</a:t>
            </a:r>
          </a:p>
        </p:txBody>
      </p:sp>
      <p:sp>
        <p:nvSpPr>
          <p:cNvPr name="TextBox 16" id="16"/>
          <p:cNvSpPr txBox="true"/>
          <p:nvPr/>
        </p:nvSpPr>
        <p:spPr>
          <a:xfrm rot="0">
            <a:off x="13492880" y="3565564"/>
            <a:ext cx="2376380" cy="365258"/>
          </a:xfrm>
          <a:prstGeom prst="rect">
            <a:avLst/>
          </a:prstGeom>
        </p:spPr>
        <p:txBody>
          <a:bodyPr anchor="t" rtlCol="false" tIns="0" lIns="0" bIns="0" rIns="0">
            <a:spAutoFit/>
          </a:bodyPr>
          <a:lstStyle/>
          <a:p>
            <a:pPr algn="ctr">
              <a:lnSpc>
                <a:spcPts val="2967"/>
              </a:lnSpc>
            </a:pPr>
            <a:r>
              <a:rPr lang="en-US" b="true" sz="2119">
                <a:solidFill>
                  <a:srgbClr val="0B1B45"/>
                </a:solidFill>
                <a:latin typeface="IBM Plex Sans Bold"/>
                <a:ea typeface="IBM Plex Sans Bold"/>
                <a:cs typeface="IBM Plex Sans Bold"/>
                <a:sym typeface="IBM Plex Sans Bold"/>
              </a:rPr>
              <a:t>LIMITACIONES</a:t>
            </a:r>
          </a:p>
        </p:txBody>
      </p:sp>
      <p:sp>
        <p:nvSpPr>
          <p:cNvPr name="TextBox 17" id="17"/>
          <p:cNvSpPr txBox="true"/>
          <p:nvPr/>
        </p:nvSpPr>
        <p:spPr>
          <a:xfrm rot="0">
            <a:off x="13129494" y="4314270"/>
            <a:ext cx="3103152" cy="2506980"/>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0B1B45"/>
                </a:solidFill>
                <a:latin typeface="Proxima Nova"/>
                <a:ea typeface="Proxima Nova"/>
                <a:cs typeface="Proxima Nova"/>
                <a:sym typeface="Proxima Nova"/>
              </a:rPr>
              <a:t>OpenStreetMap mostró una alta inestabilidad y baja cobertura en la zona de estudio. Google Places, aunque funcional, requiere una clave API que puede generar costos asociados a su uso intensivo.</a:t>
            </a:r>
          </a:p>
        </p:txBody>
      </p:sp>
      <p:sp>
        <p:nvSpPr>
          <p:cNvPr name="TextBox 18" id="18"/>
          <p:cNvSpPr txBox="true"/>
          <p:nvPr/>
        </p:nvSpPr>
        <p:spPr>
          <a:xfrm rot="0">
            <a:off x="984445" y="514043"/>
            <a:ext cx="4188883" cy="2262199"/>
          </a:xfrm>
          <a:prstGeom prst="rect">
            <a:avLst/>
          </a:prstGeom>
        </p:spPr>
        <p:txBody>
          <a:bodyPr anchor="t" rtlCol="false" tIns="0" lIns="0" bIns="0" rIns="0">
            <a:spAutoFit/>
          </a:bodyPr>
          <a:lstStyle/>
          <a:p>
            <a:pPr algn="l">
              <a:lnSpc>
                <a:spcPts val="6005"/>
              </a:lnSpc>
            </a:pPr>
            <a:r>
              <a:rPr lang="en-US" sz="4289" b="true">
                <a:solidFill>
                  <a:srgbClr val="000000"/>
                </a:solidFill>
                <a:latin typeface="IBM Plex Sans Bold"/>
                <a:ea typeface="IBM Plex Sans Bold"/>
                <a:cs typeface="IBM Plex Sans Bold"/>
                <a:sym typeface="IBM Plex Sans Bold"/>
              </a:rPr>
              <a:t>Automatización con APIs</a:t>
            </a:r>
          </a:p>
          <a:p>
            <a:pPr algn="l">
              <a:lnSpc>
                <a:spcPts val="6005"/>
              </a:lnSpc>
            </a:pPr>
          </a:p>
        </p:txBody>
      </p:sp>
      <p:sp>
        <p:nvSpPr>
          <p:cNvPr name="TextBox 19" id="19"/>
          <p:cNvSpPr txBox="true"/>
          <p:nvPr/>
        </p:nvSpPr>
        <p:spPr>
          <a:xfrm rot="0">
            <a:off x="1028700" y="468548"/>
            <a:ext cx="4188883" cy="2281810"/>
          </a:xfrm>
          <a:prstGeom prst="rect">
            <a:avLst/>
          </a:prstGeom>
        </p:spPr>
        <p:txBody>
          <a:bodyPr anchor="t" rtlCol="false" tIns="0" lIns="0" bIns="0" rIns="0">
            <a:spAutoFit/>
          </a:bodyPr>
          <a:lstStyle/>
          <a:p>
            <a:pPr algn="l">
              <a:lnSpc>
                <a:spcPts val="6005"/>
              </a:lnSpc>
            </a:pPr>
            <a:r>
              <a:rPr lang="en-US" sz="4289" b="true">
                <a:solidFill>
                  <a:srgbClr val="FFFFFF"/>
                </a:solidFill>
                <a:latin typeface="Arial Bold"/>
                <a:ea typeface="Arial Bold"/>
                <a:cs typeface="Arial Bold"/>
                <a:sym typeface="Arial Bold"/>
              </a:rPr>
              <a:t>Automatización con APIs</a:t>
            </a:r>
          </a:p>
          <a:p>
            <a:pPr algn="l">
              <a:lnSpc>
                <a:spcPts val="6005"/>
              </a:lnSpc>
            </a:pPr>
          </a:p>
        </p:txBody>
      </p:sp>
      <p:sp>
        <p:nvSpPr>
          <p:cNvPr name="TextBox 20" id="20"/>
          <p:cNvSpPr txBox="true"/>
          <p:nvPr/>
        </p:nvSpPr>
        <p:spPr>
          <a:xfrm rot="0">
            <a:off x="5490786" y="789113"/>
            <a:ext cx="8474154" cy="799389"/>
          </a:xfrm>
          <a:prstGeom prst="rect">
            <a:avLst/>
          </a:prstGeom>
        </p:spPr>
        <p:txBody>
          <a:bodyPr anchor="t" rtlCol="false" tIns="0" lIns="0" bIns="0" rIns="0">
            <a:spAutoFit/>
          </a:bodyPr>
          <a:lstStyle/>
          <a:p>
            <a:pPr algn="l" marL="0" indent="0" lvl="0">
              <a:lnSpc>
                <a:spcPts val="3189"/>
              </a:lnSpc>
              <a:spcBef>
                <a:spcPct val="0"/>
              </a:spcBef>
            </a:pPr>
            <a:r>
              <a:rPr lang="en-US" sz="2277">
                <a:solidFill>
                  <a:srgbClr val="FFFFFF"/>
                </a:solidFill>
                <a:latin typeface="Arial"/>
                <a:ea typeface="Arial"/>
                <a:cs typeface="Arial"/>
                <a:sym typeface="Arial"/>
              </a:rPr>
              <a:t>Evaluar APIs para detectar locales de comida cerca de colegios y reducir trabajo de campo.</a:t>
            </a:r>
          </a:p>
        </p:txBody>
      </p:sp>
      <p:sp>
        <p:nvSpPr>
          <p:cNvPr name="Freeform 21" id="21"/>
          <p:cNvSpPr/>
          <p:nvPr/>
        </p:nvSpPr>
        <p:spPr>
          <a:xfrm flipH="false" flipV="false" rot="0">
            <a:off x="-1219741" y="0"/>
            <a:ext cx="2927694" cy="2235694"/>
          </a:xfrm>
          <a:custGeom>
            <a:avLst/>
            <a:gdLst/>
            <a:ahLst/>
            <a:cxnLst/>
            <a:rect r="r" b="b" t="t" l="l"/>
            <a:pathLst>
              <a:path h="2235694" w="2927694">
                <a:moveTo>
                  <a:pt x="0" y="0"/>
                </a:moveTo>
                <a:lnTo>
                  <a:pt x="2927694" y="0"/>
                </a:lnTo>
                <a:lnTo>
                  <a:pt x="2927694" y="2235694"/>
                </a:lnTo>
                <a:lnTo>
                  <a:pt x="0" y="2235694"/>
                </a:lnTo>
                <a:lnTo>
                  <a:pt x="0" y="0"/>
                </a:lnTo>
                <a:close/>
              </a:path>
            </a:pathLst>
          </a:custGeom>
          <a:blipFill>
            <a:blip r:embed="rId3">
              <a:alphaModFix amt="41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11462646" y="4617639"/>
            <a:ext cx="3022071" cy="3022071"/>
          </a:xfrm>
          <a:custGeom>
            <a:avLst/>
            <a:gdLst/>
            <a:ahLst/>
            <a:cxnLst/>
            <a:rect r="r" b="b" t="t" l="l"/>
            <a:pathLst>
              <a:path h="3022071" w="3022071">
                <a:moveTo>
                  <a:pt x="0" y="0"/>
                </a:moveTo>
                <a:lnTo>
                  <a:pt x="3022072" y="0"/>
                </a:lnTo>
                <a:lnTo>
                  <a:pt x="3022072" y="3022072"/>
                </a:lnTo>
                <a:lnTo>
                  <a:pt x="0" y="3022072"/>
                </a:lnTo>
                <a:lnTo>
                  <a:pt x="0" y="0"/>
                </a:lnTo>
                <a:close/>
              </a:path>
            </a:pathLst>
          </a:custGeom>
          <a:blipFill>
            <a:blip r:embed="rId3"/>
            <a:stretch>
              <a:fillRect l="0" t="0" r="0" b="0"/>
            </a:stretch>
          </a:blipFill>
        </p:spPr>
      </p:sp>
      <p:sp>
        <p:nvSpPr>
          <p:cNvPr name="Freeform 4" id="4"/>
          <p:cNvSpPr/>
          <p:nvPr/>
        </p:nvSpPr>
        <p:spPr>
          <a:xfrm flipH="false" flipV="false" rot="0">
            <a:off x="3895965" y="4414664"/>
            <a:ext cx="2930958" cy="3428021"/>
          </a:xfrm>
          <a:custGeom>
            <a:avLst/>
            <a:gdLst/>
            <a:ahLst/>
            <a:cxnLst/>
            <a:rect r="r" b="b" t="t" l="l"/>
            <a:pathLst>
              <a:path h="3428021" w="2930958">
                <a:moveTo>
                  <a:pt x="0" y="0"/>
                </a:moveTo>
                <a:lnTo>
                  <a:pt x="2930958" y="0"/>
                </a:lnTo>
                <a:lnTo>
                  <a:pt x="2930958" y="3428022"/>
                </a:lnTo>
                <a:lnTo>
                  <a:pt x="0" y="3428022"/>
                </a:lnTo>
                <a:lnTo>
                  <a:pt x="0" y="0"/>
                </a:lnTo>
                <a:close/>
              </a:path>
            </a:pathLst>
          </a:custGeom>
          <a:blipFill>
            <a:blip r:embed="rId4"/>
            <a:stretch>
              <a:fillRect l="0" t="0" r="0" b="0"/>
            </a:stretch>
          </a:blipFill>
        </p:spPr>
      </p:sp>
      <p:sp>
        <p:nvSpPr>
          <p:cNvPr name="Freeform 5" id="5"/>
          <p:cNvSpPr/>
          <p:nvPr/>
        </p:nvSpPr>
        <p:spPr>
          <a:xfrm flipH="false" flipV="false" rot="0">
            <a:off x="7368279" y="4291243"/>
            <a:ext cx="3551442" cy="3551442"/>
          </a:xfrm>
          <a:custGeom>
            <a:avLst/>
            <a:gdLst/>
            <a:ahLst/>
            <a:cxnLst/>
            <a:rect r="r" b="b" t="t" l="l"/>
            <a:pathLst>
              <a:path h="3551442" w="3551442">
                <a:moveTo>
                  <a:pt x="0" y="0"/>
                </a:moveTo>
                <a:lnTo>
                  <a:pt x="3551442" y="0"/>
                </a:lnTo>
                <a:lnTo>
                  <a:pt x="3551442" y="3551443"/>
                </a:lnTo>
                <a:lnTo>
                  <a:pt x="0" y="3551443"/>
                </a:lnTo>
                <a:lnTo>
                  <a:pt x="0" y="0"/>
                </a:lnTo>
                <a:close/>
              </a:path>
            </a:pathLst>
          </a:custGeom>
          <a:blipFill>
            <a:blip r:embed="rId5"/>
            <a:stretch>
              <a:fillRect l="0" t="0" r="0" b="0"/>
            </a:stretch>
          </a:blipFill>
        </p:spPr>
      </p:sp>
      <p:sp>
        <p:nvSpPr>
          <p:cNvPr name="TextBox 6" id="6"/>
          <p:cNvSpPr txBox="true"/>
          <p:nvPr/>
        </p:nvSpPr>
        <p:spPr>
          <a:xfrm rot="0">
            <a:off x="2241305" y="1554562"/>
            <a:ext cx="14081762" cy="1851660"/>
          </a:xfrm>
          <a:prstGeom prst="rect">
            <a:avLst/>
          </a:prstGeom>
        </p:spPr>
        <p:txBody>
          <a:bodyPr anchor="t" rtlCol="false" tIns="0" lIns="0" bIns="0" rIns="0">
            <a:spAutoFit/>
          </a:bodyPr>
          <a:lstStyle/>
          <a:p>
            <a:pPr algn="ctr">
              <a:lnSpc>
                <a:spcPts val="2940"/>
              </a:lnSpc>
              <a:spcBef>
                <a:spcPct val="0"/>
              </a:spcBef>
            </a:pPr>
            <a:r>
              <a:rPr lang="en-US" sz="2100" spc="21">
                <a:solidFill>
                  <a:srgbClr val="FFFFFF"/>
                </a:solidFill>
                <a:latin typeface="Arial"/>
                <a:ea typeface="Arial"/>
                <a:cs typeface="Arial"/>
                <a:sym typeface="Arial"/>
              </a:rPr>
              <a:t>Google Places resulto viable para la automatización, pero con costos asociados. OpenStreetMap no es confiable en este contexto. Para futuras implementaciones, creemos que se deberia complementar las APIs con estrategias de marketin, impulsando a los residentes y comerciantes de los alrededores a colaborar voluntariamente en la recolección y validación de información sobre los locales, mejorando así la calidad y cobertura de los datos sin depender exclusivamente de fuentes externas.</a:t>
            </a:r>
          </a:p>
        </p:txBody>
      </p:sp>
      <p:sp>
        <p:nvSpPr>
          <p:cNvPr name="TextBox 7" id="7"/>
          <p:cNvSpPr txBox="true"/>
          <p:nvPr/>
        </p:nvSpPr>
        <p:spPr>
          <a:xfrm rot="0">
            <a:off x="920451" y="605790"/>
            <a:ext cx="16230600" cy="781052"/>
          </a:xfrm>
          <a:prstGeom prst="rect">
            <a:avLst/>
          </a:prstGeom>
        </p:spPr>
        <p:txBody>
          <a:bodyPr anchor="t" rtlCol="false" tIns="0" lIns="0" bIns="0" rIns="0">
            <a:spAutoFit/>
          </a:bodyPr>
          <a:lstStyle/>
          <a:p>
            <a:pPr algn="ctr">
              <a:lnSpc>
                <a:spcPts val="6299"/>
              </a:lnSpc>
              <a:spcBef>
                <a:spcPct val="0"/>
              </a:spcBef>
            </a:pPr>
            <a:r>
              <a:rPr lang="en-US" b="true" sz="4499" spc="44">
                <a:solidFill>
                  <a:srgbClr val="FFFFFF"/>
                </a:solidFill>
                <a:latin typeface="Arial Bold"/>
                <a:ea typeface="Arial Bold"/>
                <a:cs typeface="Arial Bold"/>
                <a:sym typeface="Arial Bold"/>
              </a:rPr>
              <a:t>Analisis del uso de apis</a:t>
            </a:r>
          </a:p>
        </p:txBody>
      </p:sp>
      <p:sp>
        <p:nvSpPr>
          <p:cNvPr name="Freeform 8" id="8"/>
          <p:cNvSpPr/>
          <p:nvPr/>
        </p:nvSpPr>
        <p:spPr>
          <a:xfrm flipH="false" flipV="false" rot="0">
            <a:off x="7369063" y="4291243"/>
            <a:ext cx="3551442" cy="3551442"/>
          </a:xfrm>
          <a:custGeom>
            <a:avLst/>
            <a:gdLst/>
            <a:ahLst/>
            <a:cxnLst/>
            <a:rect r="r" b="b" t="t" l="l"/>
            <a:pathLst>
              <a:path h="3551442" w="3551442">
                <a:moveTo>
                  <a:pt x="0" y="0"/>
                </a:moveTo>
                <a:lnTo>
                  <a:pt x="3551443" y="0"/>
                </a:lnTo>
                <a:lnTo>
                  <a:pt x="3551443" y="3551443"/>
                </a:lnTo>
                <a:lnTo>
                  <a:pt x="0" y="3551443"/>
                </a:lnTo>
                <a:lnTo>
                  <a:pt x="0" y="0"/>
                </a:lnTo>
                <a:close/>
              </a:path>
            </a:pathLst>
          </a:custGeom>
          <a:blipFill>
            <a:blip r:embed="rId6">
              <a:alphaModFix amt="54000"/>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412510" y="145824"/>
            <a:ext cx="12285313" cy="1765751"/>
            <a:chOff x="0" y="0"/>
            <a:chExt cx="3852491" cy="553713"/>
          </a:xfrm>
        </p:grpSpPr>
        <p:sp>
          <p:nvSpPr>
            <p:cNvPr name="Freeform 4" id="4"/>
            <p:cNvSpPr/>
            <p:nvPr/>
          </p:nvSpPr>
          <p:spPr>
            <a:xfrm flipH="false" flipV="false" rot="0">
              <a:off x="0" y="0"/>
              <a:ext cx="3852491" cy="553713"/>
            </a:xfrm>
            <a:custGeom>
              <a:avLst/>
              <a:gdLst/>
              <a:ahLst/>
              <a:cxnLst/>
              <a:rect r="r" b="b" t="t" l="l"/>
              <a:pathLst>
                <a:path h="553713" w="3852491">
                  <a:moveTo>
                    <a:pt x="12604" y="0"/>
                  </a:moveTo>
                  <a:lnTo>
                    <a:pt x="3839888" y="0"/>
                  </a:lnTo>
                  <a:cubicBezTo>
                    <a:pt x="3846849" y="0"/>
                    <a:pt x="3852491" y="5643"/>
                    <a:pt x="3852491" y="12604"/>
                  </a:cubicBezTo>
                  <a:lnTo>
                    <a:pt x="3852491" y="541110"/>
                  </a:lnTo>
                  <a:cubicBezTo>
                    <a:pt x="3852491" y="544452"/>
                    <a:pt x="3851163" y="547658"/>
                    <a:pt x="3848800" y="550022"/>
                  </a:cubicBezTo>
                  <a:cubicBezTo>
                    <a:pt x="3846436" y="552385"/>
                    <a:pt x="3843231" y="553713"/>
                    <a:pt x="3839888" y="553713"/>
                  </a:cubicBezTo>
                  <a:lnTo>
                    <a:pt x="12604" y="553713"/>
                  </a:lnTo>
                  <a:cubicBezTo>
                    <a:pt x="5643" y="553713"/>
                    <a:pt x="0" y="548071"/>
                    <a:pt x="0" y="541110"/>
                  </a:cubicBezTo>
                  <a:lnTo>
                    <a:pt x="0" y="12604"/>
                  </a:lnTo>
                  <a:cubicBezTo>
                    <a:pt x="0" y="5643"/>
                    <a:pt x="5643" y="0"/>
                    <a:pt x="12604"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5" id="5"/>
            <p:cNvSpPr txBox="true"/>
            <p:nvPr/>
          </p:nvSpPr>
          <p:spPr>
            <a:xfrm>
              <a:off x="0" y="-66675"/>
              <a:ext cx="3852491" cy="620388"/>
            </a:xfrm>
            <a:prstGeom prst="rect">
              <a:avLst/>
            </a:prstGeom>
          </p:spPr>
          <p:txBody>
            <a:bodyPr anchor="ctr" rtlCol="false" tIns="47543" lIns="47543" bIns="47543" rIns="47543"/>
            <a:lstStyle/>
            <a:p>
              <a:pPr algn="ctr">
                <a:lnSpc>
                  <a:spcPts val="3418"/>
                </a:lnSpc>
              </a:pPr>
            </a:p>
          </p:txBody>
        </p:sp>
      </p:grpSp>
      <p:grpSp>
        <p:nvGrpSpPr>
          <p:cNvPr name="Group 6" id="6"/>
          <p:cNvGrpSpPr/>
          <p:nvPr/>
        </p:nvGrpSpPr>
        <p:grpSpPr>
          <a:xfrm rot="0">
            <a:off x="412510" y="2112694"/>
            <a:ext cx="14876869" cy="2333115"/>
            <a:chOff x="0" y="0"/>
            <a:chExt cx="5946611" cy="932597"/>
          </a:xfrm>
        </p:grpSpPr>
        <p:sp>
          <p:nvSpPr>
            <p:cNvPr name="Freeform 7" id="7"/>
            <p:cNvSpPr/>
            <p:nvPr/>
          </p:nvSpPr>
          <p:spPr>
            <a:xfrm flipH="false" flipV="false" rot="0">
              <a:off x="0" y="0"/>
              <a:ext cx="5946611" cy="932597"/>
            </a:xfrm>
            <a:custGeom>
              <a:avLst/>
              <a:gdLst/>
              <a:ahLst/>
              <a:cxnLst/>
              <a:rect r="r" b="b" t="t" l="l"/>
              <a:pathLst>
                <a:path h="932597" w="5946611">
                  <a:moveTo>
                    <a:pt x="15612" y="0"/>
                  </a:moveTo>
                  <a:lnTo>
                    <a:pt x="5930999" y="0"/>
                  </a:lnTo>
                  <a:cubicBezTo>
                    <a:pt x="5935139" y="0"/>
                    <a:pt x="5939110" y="1645"/>
                    <a:pt x="5942038" y="4573"/>
                  </a:cubicBezTo>
                  <a:cubicBezTo>
                    <a:pt x="5944966" y="7500"/>
                    <a:pt x="5946611" y="11471"/>
                    <a:pt x="5946611" y="15612"/>
                  </a:cubicBezTo>
                  <a:lnTo>
                    <a:pt x="5946611" y="916985"/>
                  </a:lnTo>
                  <a:cubicBezTo>
                    <a:pt x="5946611" y="925608"/>
                    <a:pt x="5939621" y="932597"/>
                    <a:pt x="5930999" y="932597"/>
                  </a:cubicBezTo>
                  <a:lnTo>
                    <a:pt x="15612" y="932597"/>
                  </a:lnTo>
                  <a:cubicBezTo>
                    <a:pt x="6990" y="932597"/>
                    <a:pt x="0" y="925608"/>
                    <a:pt x="0" y="916985"/>
                  </a:cubicBezTo>
                  <a:lnTo>
                    <a:pt x="0" y="15612"/>
                  </a:lnTo>
                  <a:cubicBezTo>
                    <a:pt x="0" y="6990"/>
                    <a:pt x="6990" y="0"/>
                    <a:pt x="15612" y="0"/>
                  </a:cubicBezTo>
                  <a:close/>
                </a:path>
              </a:pathLst>
            </a:custGeom>
            <a:solidFill>
              <a:srgbClr val="FFFFFF"/>
            </a:solidFill>
            <a:ln cap="rnd">
              <a:noFill/>
              <a:prstDash val="solid"/>
              <a:round/>
            </a:ln>
          </p:spPr>
        </p:sp>
        <p:sp>
          <p:nvSpPr>
            <p:cNvPr name="TextBox 8" id="8"/>
            <p:cNvSpPr txBox="true"/>
            <p:nvPr/>
          </p:nvSpPr>
          <p:spPr>
            <a:xfrm>
              <a:off x="0" y="-38100"/>
              <a:ext cx="5946611" cy="970697"/>
            </a:xfrm>
            <a:prstGeom prst="rect">
              <a:avLst/>
            </a:prstGeom>
          </p:spPr>
          <p:txBody>
            <a:bodyPr anchor="ctr" rtlCol="false" tIns="50800" lIns="50800" bIns="50800" rIns="50800"/>
            <a:lstStyle/>
            <a:p>
              <a:pPr algn="ctr">
                <a:lnSpc>
                  <a:spcPts val="2940"/>
                </a:lnSpc>
              </a:pPr>
            </a:p>
          </p:txBody>
        </p:sp>
      </p:grpSp>
      <p:sp>
        <p:nvSpPr>
          <p:cNvPr name="Freeform 9" id="9"/>
          <p:cNvSpPr/>
          <p:nvPr/>
        </p:nvSpPr>
        <p:spPr>
          <a:xfrm flipH="false" flipV="false" rot="0">
            <a:off x="412510" y="4645835"/>
            <a:ext cx="9331123" cy="5377060"/>
          </a:xfrm>
          <a:custGeom>
            <a:avLst/>
            <a:gdLst/>
            <a:ahLst/>
            <a:cxnLst/>
            <a:rect r="r" b="b" t="t" l="l"/>
            <a:pathLst>
              <a:path h="5377060" w="9331123">
                <a:moveTo>
                  <a:pt x="0" y="0"/>
                </a:moveTo>
                <a:lnTo>
                  <a:pt x="9331123" y="0"/>
                </a:lnTo>
                <a:lnTo>
                  <a:pt x="9331123" y="5377059"/>
                </a:lnTo>
                <a:lnTo>
                  <a:pt x="0" y="5377059"/>
                </a:lnTo>
                <a:lnTo>
                  <a:pt x="0" y="0"/>
                </a:lnTo>
                <a:close/>
              </a:path>
            </a:pathLst>
          </a:custGeom>
          <a:blipFill>
            <a:blip r:embed="rId3"/>
            <a:stretch>
              <a:fillRect l="0" t="0" r="0" b="0"/>
            </a:stretch>
          </a:blipFill>
        </p:spPr>
      </p:sp>
      <p:sp>
        <p:nvSpPr>
          <p:cNvPr name="Freeform 10" id="10"/>
          <p:cNvSpPr/>
          <p:nvPr/>
        </p:nvSpPr>
        <p:spPr>
          <a:xfrm flipH="false" flipV="false" rot="0">
            <a:off x="9992348" y="4626785"/>
            <a:ext cx="5396110" cy="5396110"/>
          </a:xfrm>
          <a:custGeom>
            <a:avLst/>
            <a:gdLst/>
            <a:ahLst/>
            <a:cxnLst/>
            <a:rect r="r" b="b" t="t" l="l"/>
            <a:pathLst>
              <a:path h="5396110" w="5396110">
                <a:moveTo>
                  <a:pt x="0" y="0"/>
                </a:moveTo>
                <a:lnTo>
                  <a:pt x="5396110" y="0"/>
                </a:lnTo>
                <a:lnTo>
                  <a:pt x="5396110" y="5396109"/>
                </a:lnTo>
                <a:lnTo>
                  <a:pt x="0" y="5396109"/>
                </a:lnTo>
                <a:lnTo>
                  <a:pt x="0" y="0"/>
                </a:lnTo>
                <a:close/>
              </a:path>
            </a:pathLst>
          </a:custGeom>
          <a:blipFill>
            <a:blip r:embed="rId4"/>
            <a:stretch>
              <a:fillRect l="0" t="0" r="0" b="0"/>
            </a:stretch>
          </a:blipFill>
        </p:spPr>
      </p:sp>
      <p:sp>
        <p:nvSpPr>
          <p:cNvPr name="TextBox 11" id="11"/>
          <p:cNvSpPr txBox="true"/>
          <p:nvPr/>
        </p:nvSpPr>
        <p:spPr>
          <a:xfrm rot="0">
            <a:off x="807253" y="540212"/>
            <a:ext cx="11189500" cy="892175"/>
          </a:xfrm>
          <a:prstGeom prst="rect">
            <a:avLst/>
          </a:prstGeom>
        </p:spPr>
        <p:txBody>
          <a:bodyPr anchor="t" rtlCol="false" tIns="0" lIns="0" bIns="0" rIns="0">
            <a:spAutoFit/>
          </a:bodyPr>
          <a:lstStyle/>
          <a:p>
            <a:pPr algn="l">
              <a:lnSpc>
                <a:spcPts val="7000"/>
              </a:lnSpc>
            </a:pPr>
            <a:r>
              <a:rPr lang="en-US" sz="5000" b="true">
                <a:solidFill>
                  <a:srgbClr val="FFFFFF"/>
                </a:solidFill>
                <a:latin typeface="Times New Roman Bold"/>
                <a:ea typeface="Times New Roman Bold"/>
                <a:cs typeface="Times New Roman Bold"/>
                <a:sym typeface="Times New Roman Bold"/>
              </a:rPr>
              <a:t>Modelo de regresión lineal</a:t>
            </a:r>
          </a:p>
        </p:txBody>
      </p:sp>
      <p:sp>
        <p:nvSpPr>
          <p:cNvPr name="TextBox 12" id="12"/>
          <p:cNvSpPr txBox="true"/>
          <p:nvPr/>
        </p:nvSpPr>
        <p:spPr>
          <a:xfrm rot="0">
            <a:off x="608867" y="2399558"/>
            <a:ext cx="10877648" cy="41529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Arial Bold"/>
                <a:ea typeface="Arial Bold"/>
                <a:cs typeface="Arial Bold"/>
                <a:sym typeface="Arial Bold"/>
              </a:rPr>
              <a:t>variable dependiente:</a:t>
            </a:r>
            <a:r>
              <a:rPr lang="en-US" sz="2400">
                <a:solidFill>
                  <a:srgbClr val="000000"/>
                </a:solidFill>
                <a:latin typeface="Arial"/>
                <a:ea typeface="Arial"/>
                <a:cs typeface="Arial"/>
                <a:sym typeface="Arial"/>
              </a:rPr>
              <a:t> el total de alimentos saludables disponibles.</a:t>
            </a:r>
          </a:p>
        </p:txBody>
      </p:sp>
      <p:sp>
        <p:nvSpPr>
          <p:cNvPr name="TextBox 13" id="13"/>
          <p:cNvSpPr txBox="true"/>
          <p:nvPr/>
        </p:nvSpPr>
        <p:spPr>
          <a:xfrm rot="0">
            <a:off x="608867" y="2934907"/>
            <a:ext cx="13627912" cy="415290"/>
          </a:xfrm>
          <a:prstGeom prst="rect">
            <a:avLst/>
          </a:prstGeom>
        </p:spPr>
        <p:txBody>
          <a:bodyPr anchor="t" rtlCol="false" tIns="0" lIns="0" bIns="0" rIns="0">
            <a:spAutoFit/>
          </a:bodyPr>
          <a:lstStyle/>
          <a:p>
            <a:pPr algn="l">
              <a:lnSpc>
                <a:spcPts val="3359"/>
              </a:lnSpc>
              <a:spcBef>
                <a:spcPct val="0"/>
              </a:spcBef>
            </a:pPr>
            <a:r>
              <a:rPr lang="en-US" b="true" sz="2400">
                <a:solidFill>
                  <a:srgbClr val="050F2A"/>
                </a:solidFill>
                <a:latin typeface="Arial Bold"/>
                <a:ea typeface="Arial Bold"/>
                <a:cs typeface="Arial Bold"/>
                <a:sym typeface="Arial Bold"/>
              </a:rPr>
              <a:t>variables explicativas:</a:t>
            </a:r>
            <a:r>
              <a:rPr lang="en-US" sz="2400">
                <a:solidFill>
                  <a:srgbClr val="050F2A"/>
                </a:solidFill>
                <a:latin typeface="Arial"/>
                <a:ea typeface="Arial"/>
                <a:cs typeface="Arial"/>
                <a:sym typeface="Arial"/>
              </a:rPr>
              <a:t> fueron la pobreza multidimensional comunal y la matrícula escolar </a:t>
            </a:r>
          </a:p>
        </p:txBody>
      </p:sp>
      <p:sp>
        <p:nvSpPr>
          <p:cNvPr name="TextBox 14" id="14"/>
          <p:cNvSpPr txBox="true"/>
          <p:nvPr/>
        </p:nvSpPr>
        <p:spPr>
          <a:xfrm rot="0">
            <a:off x="608867" y="3493072"/>
            <a:ext cx="10953950" cy="763270"/>
          </a:xfrm>
          <a:prstGeom prst="rect">
            <a:avLst/>
          </a:prstGeom>
        </p:spPr>
        <p:txBody>
          <a:bodyPr anchor="t" rtlCol="false" tIns="0" lIns="0" bIns="0" rIns="0">
            <a:spAutoFit/>
          </a:bodyPr>
          <a:lstStyle/>
          <a:p>
            <a:pPr algn="l">
              <a:lnSpc>
                <a:spcPts val="3080"/>
              </a:lnSpc>
              <a:spcBef>
                <a:spcPct val="0"/>
              </a:spcBef>
            </a:pPr>
            <a:r>
              <a:rPr lang="en-US" sz="2200" spc="22">
                <a:solidFill>
                  <a:srgbClr val="000000"/>
                </a:solidFill>
                <a:latin typeface="Proxima Nova"/>
                <a:ea typeface="Proxima Nova"/>
                <a:cs typeface="Proxima Nova"/>
                <a:sym typeface="Proxima Nova"/>
              </a:rPr>
              <a:t>Se debe tener en cuenta que las variables </a:t>
            </a:r>
            <a:r>
              <a:rPr lang="en-US" sz="2200" spc="22">
                <a:solidFill>
                  <a:srgbClr val="000000"/>
                </a:solidFill>
                <a:latin typeface="Proxima Nova"/>
                <a:ea typeface="Proxima Nova"/>
                <a:cs typeface="Proxima Nova"/>
                <a:sym typeface="Proxima Nova"/>
              </a:rPr>
              <a:t>pobreza y matrícula son variables contextuales que se repiten dentro de cada colegio o comuna.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304608" y="1612352"/>
            <a:ext cx="17354548" cy="1792746"/>
            <a:chOff x="0" y="0"/>
            <a:chExt cx="6936993" cy="716600"/>
          </a:xfrm>
        </p:grpSpPr>
        <p:sp>
          <p:nvSpPr>
            <p:cNvPr name="Freeform 4" id="4"/>
            <p:cNvSpPr/>
            <p:nvPr/>
          </p:nvSpPr>
          <p:spPr>
            <a:xfrm flipH="false" flipV="false" rot="0">
              <a:off x="0" y="0"/>
              <a:ext cx="6936993" cy="716600"/>
            </a:xfrm>
            <a:custGeom>
              <a:avLst/>
              <a:gdLst/>
              <a:ahLst/>
              <a:cxnLst/>
              <a:rect r="r" b="b" t="t" l="l"/>
              <a:pathLst>
                <a:path h="716600" w="6936993">
                  <a:moveTo>
                    <a:pt x="13383" y="0"/>
                  </a:moveTo>
                  <a:lnTo>
                    <a:pt x="6923610" y="0"/>
                  </a:lnTo>
                  <a:cubicBezTo>
                    <a:pt x="6927159" y="0"/>
                    <a:pt x="6930563" y="1410"/>
                    <a:pt x="6933073" y="3920"/>
                  </a:cubicBezTo>
                  <a:cubicBezTo>
                    <a:pt x="6935583" y="6430"/>
                    <a:pt x="6936993" y="9834"/>
                    <a:pt x="6936993" y="13383"/>
                  </a:cubicBezTo>
                  <a:lnTo>
                    <a:pt x="6936993" y="703217"/>
                  </a:lnTo>
                  <a:cubicBezTo>
                    <a:pt x="6936993" y="706766"/>
                    <a:pt x="6935583" y="710170"/>
                    <a:pt x="6933073" y="712680"/>
                  </a:cubicBezTo>
                  <a:cubicBezTo>
                    <a:pt x="6930563" y="715190"/>
                    <a:pt x="6927159" y="716600"/>
                    <a:pt x="6923610" y="716600"/>
                  </a:cubicBezTo>
                  <a:lnTo>
                    <a:pt x="13383" y="716600"/>
                  </a:lnTo>
                  <a:cubicBezTo>
                    <a:pt x="9834" y="716600"/>
                    <a:pt x="6430" y="715190"/>
                    <a:pt x="3920" y="712680"/>
                  </a:cubicBezTo>
                  <a:cubicBezTo>
                    <a:pt x="1410" y="710170"/>
                    <a:pt x="0" y="706766"/>
                    <a:pt x="0" y="703217"/>
                  </a:cubicBezTo>
                  <a:lnTo>
                    <a:pt x="0" y="13383"/>
                  </a:lnTo>
                  <a:cubicBezTo>
                    <a:pt x="0" y="9834"/>
                    <a:pt x="1410" y="6430"/>
                    <a:pt x="3920" y="3920"/>
                  </a:cubicBezTo>
                  <a:cubicBezTo>
                    <a:pt x="6430" y="1410"/>
                    <a:pt x="9834" y="0"/>
                    <a:pt x="13383" y="0"/>
                  </a:cubicBezTo>
                  <a:close/>
                </a:path>
              </a:pathLst>
            </a:custGeom>
            <a:solidFill>
              <a:srgbClr val="FFFFFF"/>
            </a:solidFill>
            <a:ln cap="rnd">
              <a:noFill/>
              <a:prstDash val="solid"/>
              <a:round/>
            </a:ln>
          </p:spPr>
        </p:sp>
        <p:sp>
          <p:nvSpPr>
            <p:cNvPr name="TextBox 5" id="5"/>
            <p:cNvSpPr txBox="true"/>
            <p:nvPr/>
          </p:nvSpPr>
          <p:spPr>
            <a:xfrm>
              <a:off x="0" y="-38100"/>
              <a:ext cx="6936993" cy="754700"/>
            </a:xfrm>
            <a:prstGeom prst="rect">
              <a:avLst/>
            </a:prstGeom>
          </p:spPr>
          <p:txBody>
            <a:bodyPr anchor="ctr" rtlCol="false" tIns="50800" lIns="50800" bIns="50800" rIns="50800"/>
            <a:lstStyle/>
            <a:p>
              <a:pPr algn="ctr">
                <a:lnSpc>
                  <a:spcPts val="2940"/>
                </a:lnSpc>
              </a:pPr>
            </a:p>
          </p:txBody>
        </p:sp>
      </p:grpSp>
      <p:sp>
        <p:nvSpPr>
          <p:cNvPr name="Freeform 6" id="6"/>
          <p:cNvSpPr/>
          <p:nvPr/>
        </p:nvSpPr>
        <p:spPr>
          <a:xfrm flipH="false" flipV="false" rot="0">
            <a:off x="6688601" y="3740112"/>
            <a:ext cx="10970555" cy="6321782"/>
          </a:xfrm>
          <a:custGeom>
            <a:avLst/>
            <a:gdLst/>
            <a:ahLst/>
            <a:cxnLst/>
            <a:rect r="r" b="b" t="t" l="l"/>
            <a:pathLst>
              <a:path h="6321782" w="10970555">
                <a:moveTo>
                  <a:pt x="0" y="0"/>
                </a:moveTo>
                <a:lnTo>
                  <a:pt x="10970555" y="0"/>
                </a:lnTo>
                <a:lnTo>
                  <a:pt x="10970555" y="6321782"/>
                </a:lnTo>
                <a:lnTo>
                  <a:pt x="0" y="6321782"/>
                </a:lnTo>
                <a:lnTo>
                  <a:pt x="0" y="0"/>
                </a:lnTo>
                <a:close/>
              </a:path>
            </a:pathLst>
          </a:custGeom>
          <a:blipFill>
            <a:blip r:embed="rId3"/>
            <a:stretch>
              <a:fillRect l="0" t="0" r="0" b="0"/>
            </a:stretch>
          </a:blipFill>
        </p:spPr>
      </p:sp>
      <p:sp>
        <p:nvSpPr>
          <p:cNvPr name="TextBox 7" id="7"/>
          <p:cNvSpPr txBox="true"/>
          <p:nvPr/>
        </p:nvSpPr>
        <p:spPr>
          <a:xfrm rot="0">
            <a:off x="480951" y="1822411"/>
            <a:ext cx="17158191" cy="1736725"/>
          </a:xfrm>
          <a:prstGeom prst="rect">
            <a:avLst/>
          </a:prstGeom>
        </p:spPr>
        <p:txBody>
          <a:bodyPr anchor="t" rtlCol="false" tIns="0" lIns="0" bIns="0" rIns="0">
            <a:spAutoFit/>
          </a:bodyPr>
          <a:lstStyle/>
          <a:p>
            <a:pPr algn="l">
              <a:lnSpc>
                <a:spcPts val="3499"/>
              </a:lnSpc>
              <a:spcBef>
                <a:spcPct val="0"/>
              </a:spcBef>
            </a:pPr>
            <a:r>
              <a:rPr lang="en-US" sz="2499" spc="24">
                <a:solidFill>
                  <a:srgbClr val="000000"/>
                </a:solidFill>
                <a:latin typeface="Proxima Nova"/>
                <a:ea typeface="Proxima Nova"/>
                <a:cs typeface="Proxima Nova"/>
                <a:sym typeface="Proxima Nova"/>
              </a:rPr>
              <a:t>En el gráfico se ven varias columnas verticales de puntos. Esto ocurre porque las variables </a:t>
            </a:r>
            <a:r>
              <a:rPr lang="en-US" sz="2499" spc="24">
                <a:solidFill>
                  <a:srgbClr val="000000"/>
                </a:solidFill>
                <a:latin typeface="Proxima Nova"/>
                <a:ea typeface="Proxima Nova"/>
                <a:cs typeface="Proxima Nova"/>
                <a:sym typeface="Proxima Nova"/>
              </a:rPr>
              <a:t>pobreza y matrícula se repiten por comuna y por colegio, causando que el modelo genere valores ajustados muy parecidos.</a:t>
            </a:r>
          </a:p>
          <a:p>
            <a:pPr algn="l">
              <a:lnSpc>
                <a:spcPts val="3499"/>
              </a:lnSpc>
              <a:spcBef>
                <a:spcPct val="0"/>
              </a:spcBef>
            </a:pPr>
            <a:r>
              <a:rPr lang="en-US" sz="2499" spc="24">
                <a:solidFill>
                  <a:srgbClr val="000000"/>
                </a:solidFill>
                <a:latin typeface="Proxima Nova"/>
                <a:ea typeface="Proxima Nova"/>
                <a:cs typeface="Proxima Nova"/>
                <a:sym typeface="Proxima Nova"/>
              </a:rPr>
              <a:t>Esto indica que el modelo tiene poca variación explicativa, debido que:</a:t>
            </a:r>
          </a:p>
          <a:p>
            <a:pPr algn="l">
              <a:lnSpc>
                <a:spcPts val="3499"/>
              </a:lnSpc>
              <a:spcBef>
                <a:spcPct val="0"/>
              </a:spcBef>
            </a:pPr>
          </a:p>
        </p:txBody>
      </p:sp>
      <p:grpSp>
        <p:nvGrpSpPr>
          <p:cNvPr name="Group 8" id="8"/>
          <p:cNvGrpSpPr/>
          <p:nvPr/>
        </p:nvGrpSpPr>
        <p:grpSpPr>
          <a:xfrm rot="0">
            <a:off x="304608" y="3740112"/>
            <a:ext cx="6010809" cy="2233047"/>
            <a:chOff x="0" y="0"/>
            <a:chExt cx="2402652" cy="892598"/>
          </a:xfrm>
        </p:grpSpPr>
        <p:sp>
          <p:nvSpPr>
            <p:cNvPr name="Freeform 9" id="9"/>
            <p:cNvSpPr/>
            <p:nvPr/>
          </p:nvSpPr>
          <p:spPr>
            <a:xfrm flipH="false" flipV="false" rot="0">
              <a:off x="0" y="0"/>
              <a:ext cx="2402652" cy="892598"/>
            </a:xfrm>
            <a:custGeom>
              <a:avLst/>
              <a:gdLst/>
              <a:ahLst/>
              <a:cxnLst/>
              <a:rect r="r" b="b" t="t" l="l"/>
              <a:pathLst>
                <a:path h="892598" w="2402652">
                  <a:moveTo>
                    <a:pt x="38640" y="0"/>
                  </a:moveTo>
                  <a:lnTo>
                    <a:pt x="2364012" y="0"/>
                  </a:lnTo>
                  <a:cubicBezTo>
                    <a:pt x="2374260" y="0"/>
                    <a:pt x="2384088" y="4071"/>
                    <a:pt x="2391335" y="11317"/>
                  </a:cubicBezTo>
                  <a:cubicBezTo>
                    <a:pt x="2398581" y="18564"/>
                    <a:pt x="2402652" y="28392"/>
                    <a:pt x="2402652" y="38640"/>
                  </a:cubicBezTo>
                  <a:lnTo>
                    <a:pt x="2402652" y="853958"/>
                  </a:lnTo>
                  <a:cubicBezTo>
                    <a:pt x="2402652" y="864206"/>
                    <a:pt x="2398581" y="874034"/>
                    <a:pt x="2391335" y="881280"/>
                  </a:cubicBezTo>
                  <a:cubicBezTo>
                    <a:pt x="2384088" y="888527"/>
                    <a:pt x="2374260" y="892598"/>
                    <a:pt x="2364012" y="892598"/>
                  </a:cubicBezTo>
                  <a:lnTo>
                    <a:pt x="38640" y="892598"/>
                  </a:lnTo>
                  <a:cubicBezTo>
                    <a:pt x="28392" y="892598"/>
                    <a:pt x="18564" y="888527"/>
                    <a:pt x="11317" y="881280"/>
                  </a:cubicBezTo>
                  <a:cubicBezTo>
                    <a:pt x="4071" y="874034"/>
                    <a:pt x="0" y="864206"/>
                    <a:pt x="0" y="853958"/>
                  </a:cubicBezTo>
                  <a:lnTo>
                    <a:pt x="0" y="38640"/>
                  </a:lnTo>
                  <a:cubicBezTo>
                    <a:pt x="0" y="28392"/>
                    <a:pt x="4071" y="18564"/>
                    <a:pt x="11317" y="11317"/>
                  </a:cubicBezTo>
                  <a:cubicBezTo>
                    <a:pt x="18564" y="4071"/>
                    <a:pt x="28392" y="0"/>
                    <a:pt x="38640" y="0"/>
                  </a:cubicBezTo>
                  <a:close/>
                </a:path>
              </a:pathLst>
            </a:custGeom>
            <a:solidFill>
              <a:srgbClr val="FFFFFF"/>
            </a:solidFill>
            <a:ln cap="rnd">
              <a:noFill/>
              <a:prstDash val="solid"/>
              <a:round/>
            </a:ln>
          </p:spPr>
        </p:sp>
        <p:sp>
          <p:nvSpPr>
            <p:cNvPr name="TextBox 10" id="10"/>
            <p:cNvSpPr txBox="true"/>
            <p:nvPr/>
          </p:nvSpPr>
          <p:spPr>
            <a:xfrm>
              <a:off x="0" y="-38100"/>
              <a:ext cx="2402652" cy="930698"/>
            </a:xfrm>
            <a:prstGeom prst="rect">
              <a:avLst/>
            </a:prstGeom>
          </p:spPr>
          <p:txBody>
            <a:bodyPr anchor="ctr" rtlCol="false" tIns="50800" lIns="50800" bIns="50800" rIns="50800"/>
            <a:lstStyle/>
            <a:p>
              <a:pPr algn="ctr">
                <a:lnSpc>
                  <a:spcPts val="2940"/>
                </a:lnSpc>
              </a:pPr>
            </a:p>
          </p:txBody>
        </p:sp>
      </p:grpSp>
      <p:sp>
        <p:nvSpPr>
          <p:cNvPr name="TextBox 11" id="11"/>
          <p:cNvSpPr txBox="true"/>
          <p:nvPr/>
        </p:nvSpPr>
        <p:spPr>
          <a:xfrm rot="0">
            <a:off x="304608" y="3954935"/>
            <a:ext cx="6376747" cy="1746250"/>
          </a:xfrm>
          <a:prstGeom prst="rect">
            <a:avLst/>
          </a:prstGeom>
        </p:spPr>
        <p:txBody>
          <a:bodyPr anchor="t" rtlCol="false" tIns="0" lIns="0" bIns="0" rIns="0">
            <a:spAutoFit/>
          </a:bodyPr>
          <a:lstStyle/>
          <a:p>
            <a:pPr algn="l" marL="539749" indent="-269875" lvl="1">
              <a:lnSpc>
                <a:spcPts val="3499"/>
              </a:lnSpc>
              <a:buFont typeface="Arial"/>
              <a:buChar char="•"/>
            </a:pPr>
            <a:r>
              <a:rPr lang="en-US" sz="2499" spc="24">
                <a:solidFill>
                  <a:srgbClr val="000000"/>
                </a:solidFill>
                <a:latin typeface="Times New Roman"/>
                <a:ea typeface="Times New Roman"/>
                <a:cs typeface="Times New Roman"/>
                <a:sym typeface="Times New Roman"/>
              </a:rPr>
              <a:t>la pobreza se repite por comuna;</a:t>
            </a:r>
          </a:p>
          <a:p>
            <a:pPr algn="l" marL="539749" indent="-269875" lvl="1">
              <a:lnSpc>
                <a:spcPts val="3499"/>
              </a:lnSpc>
              <a:buFont typeface="Arial"/>
              <a:buChar char="•"/>
            </a:pPr>
            <a:r>
              <a:rPr lang="en-US" sz="2499" spc="24">
                <a:solidFill>
                  <a:srgbClr val="000000"/>
                </a:solidFill>
                <a:latin typeface="Times New Roman"/>
                <a:ea typeface="Times New Roman"/>
                <a:cs typeface="Times New Roman"/>
                <a:sym typeface="Times New Roman"/>
              </a:rPr>
              <a:t>la matrícula se repite por colegio;</a:t>
            </a:r>
          </a:p>
          <a:p>
            <a:pPr algn="l" marL="539749" indent="-269875" lvl="1">
              <a:lnSpc>
                <a:spcPts val="3499"/>
              </a:lnSpc>
              <a:buFont typeface="Arial"/>
              <a:buChar char="•"/>
            </a:pPr>
            <a:r>
              <a:rPr lang="en-US" sz="2499" spc="24">
                <a:solidFill>
                  <a:srgbClr val="000000"/>
                </a:solidFill>
                <a:latin typeface="Times New Roman"/>
                <a:ea typeface="Times New Roman"/>
                <a:cs typeface="Times New Roman"/>
                <a:sym typeface="Times New Roman"/>
              </a:rPr>
              <a:t>muchos locales comparten los mismos valores de pobreza y matrícula.</a:t>
            </a:r>
          </a:p>
        </p:txBody>
      </p:sp>
      <p:grpSp>
        <p:nvGrpSpPr>
          <p:cNvPr name="Group 12" id="12"/>
          <p:cNvGrpSpPr/>
          <p:nvPr/>
        </p:nvGrpSpPr>
        <p:grpSpPr>
          <a:xfrm rot="0">
            <a:off x="0" y="173139"/>
            <a:ext cx="9471960" cy="1258239"/>
            <a:chOff x="0" y="0"/>
            <a:chExt cx="3325316" cy="441729"/>
          </a:xfrm>
        </p:grpSpPr>
        <p:sp>
          <p:nvSpPr>
            <p:cNvPr name="Freeform 13" id="13"/>
            <p:cNvSpPr/>
            <p:nvPr/>
          </p:nvSpPr>
          <p:spPr>
            <a:xfrm flipH="false" flipV="false" rot="0">
              <a:off x="0" y="0"/>
              <a:ext cx="3325316" cy="441729"/>
            </a:xfrm>
            <a:custGeom>
              <a:avLst/>
              <a:gdLst/>
              <a:ahLst/>
              <a:cxnLst/>
              <a:rect r="r" b="b" t="t" l="l"/>
              <a:pathLst>
                <a:path h="441729" w="3325316">
                  <a:moveTo>
                    <a:pt x="16347" y="0"/>
                  </a:moveTo>
                  <a:lnTo>
                    <a:pt x="3308969" y="0"/>
                  </a:lnTo>
                  <a:cubicBezTo>
                    <a:pt x="3317997" y="0"/>
                    <a:pt x="3325316" y="7319"/>
                    <a:pt x="3325316" y="16347"/>
                  </a:cubicBezTo>
                  <a:lnTo>
                    <a:pt x="3325316" y="425382"/>
                  </a:lnTo>
                  <a:cubicBezTo>
                    <a:pt x="3325316" y="434410"/>
                    <a:pt x="3317997" y="441729"/>
                    <a:pt x="3308969" y="441729"/>
                  </a:cubicBezTo>
                  <a:lnTo>
                    <a:pt x="16347" y="441729"/>
                  </a:lnTo>
                  <a:cubicBezTo>
                    <a:pt x="7319" y="441729"/>
                    <a:pt x="0" y="434410"/>
                    <a:pt x="0" y="425382"/>
                  </a:cubicBezTo>
                  <a:lnTo>
                    <a:pt x="0" y="16347"/>
                  </a:lnTo>
                  <a:cubicBezTo>
                    <a:pt x="0" y="7319"/>
                    <a:pt x="7319" y="0"/>
                    <a:pt x="16347"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4" id="14"/>
            <p:cNvSpPr txBox="true"/>
            <p:nvPr/>
          </p:nvSpPr>
          <p:spPr>
            <a:xfrm>
              <a:off x="0" y="-66675"/>
              <a:ext cx="3325316" cy="508404"/>
            </a:xfrm>
            <a:prstGeom prst="rect">
              <a:avLst/>
            </a:prstGeom>
          </p:spPr>
          <p:txBody>
            <a:bodyPr anchor="ctr" rtlCol="false" tIns="47543" lIns="47543" bIns="47543" rIns="47543"/>
            <a:lstStyle/>
            <a:p>
              <a:pPr algn="ctr">
                <a:lnSpc>
                  <a:spcPts val="3418"/>
                </a:lnSpc>
              </a:pPr>
            </a:p>
          </p:txBody>
        </p:sp>
      </p:grpSp>
      <p:sp>
        <p:nvSpPr>
          <p:cNvPr name="TextBox 15" id="15"/>
          <p:cNvSpPr txBox="true"/>
          <p:nvPr/>
        </p:nvSpPr>
        <p:spPr>
          <a:xfrm rot="0">
            <a:off x="360489" y="426171"/>
            <a:ext cx="8621393" cy="738506"/>
          </a:xfrm>
          <a:prstGeom prst="rect">
            <a:avLst/>
          </a:prstGeom>
        </p:spPr>
        <p:txBody>
          <a:bodyPr anchor="t" rtlCol="false" tIns="0" lIns="0" bIns="0" rIns="0">
            <a:spAutoFit/>
          </a:bodyPr>
          <a:lstStyle/>
          <a:p>
            <a:pPr algn="l">
              <a:lnSpc>
                <a:spcPts val="6019"/>
              </a:lnSpc>
              <a:spcBef>
                <a:spcPct val="0"/>
              </a:spcBef>
            </a:pPr>
            <a:r>
              <a:rPr lang="en-US" sz="4299" spc="42">
                <a:solidFill>
                  <a:srgbClr val="FFFFFF"/>
                </a:solidFill>
                <a:latin typeface="Proxima Nova"/>
                <a:ea typeface="Proxima Nova"/>
                <a:cs typeface="Proxima Nova"/>
                <a:sym typeface="Proxima Nova"/>
              </a:rPr>
              <a:t>Residuos vs valores ajustados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412510" y="2112694"/>
            <a:ext cx="16670391" cy="1332431"/>
            <a:chOff x="0" y="0"/>
            <a:chExt cx="6663520" cy="532602"/>
          </a:xfrm>
        </p:grpSpPr>
        <p:sp>
          <p:nvSpPr>
            <p:cNvPr name="Freeform 4" id="4"/>
            <p:cNvSpPr/>
            <p:nvPr/>
          </p:nvSpPr>
          <p:spPr>
            <a:xfrm flipH="false" flipV="false" rot="0">
              <a:off x="0" y="0"/>
              <a:ext cx="6663520" cy="532602"/>
            </a:xfrm>
            <a:custGeom>
              <a:avLst/>
              <a:gdLst/>
              <a:ahLst/>
              <a:cxnLst/>
              <a:rect r="r" b="b" t="t" l="l"/>
              <a:pathLst>
                <a:path h="532602" w="6663520">
                  <a:moveTo>
                    <a:pt x="13932" y="0"/>
                  </a:moveTo>
                  <a:lnTo>
                    <a:pt x="6649588" y="0"/>
                  </a:lnTo>
                  <a:cubicBezTo>
                    <a:pt x="6653283" y="0"/>
                    <a:pt x="6656827" y="1468"/>
                    <a:pt x="6659440" y="4081"/>
                  </a:cubicBezTo>
                  <a:cubicBezTo>
                    <a:pt x="6662052" y="6694"/>
                    <a:pt x="6663520" y="10237"/>
                    <a:pt x="6663520" y="13932"/>
                  </a:cubicBezTo>
                  <a:lnTo>
                    <a:pt x="6663520" y="518670"/>
                  </a:lnTo>
                  <a:cubicBezTo>
                    <a:pt x="6663520" y="526364"/>
                    <a:pt x="6657283" y="532602"/>
                    <a:pt x="6649588" y="532602"/>
                  </a:cubicBezTo>
                  <a:lnTo>
                    <a:pt x="13932" y="532602"/>
                  </a:lnTo>
                  <a:cubicBezTo>
                    <a:pt x="10237" y="532602"/>
                    <a:pt x="6694" y="531134"/>
                    <a:pt x="4081" y="528521"/>
                  </a:cubicBezTo>
                  <a:cubicBezTo>
                    <a:pt x="1468" y="525908"/>
                    <a:pt x="0" y="522365"/>
                    <a:pt x="0" y="518670"/>
                  </a:cubicBezTo>
                  <a:lnTo>
                    <a:pt x="0" y="13932"/>
                  </a:lnTo>
                  <a:cubicBezTo>
                    <a:pt x="0" y="6238"/>
                    <a:pt x="6238" y="0"/>
                    <a:pt x="13932" y="0"/>
                  </a:cubicBezTo>
                  <a:close/>
                </a:path>
              </a:pathLst>
            </a:custGeom>
            <a:solidFill>
              <a:srgbClr val="FFFFFF"/>
            </a:solidFill>
            <a:ln cap="rnd">
              <a:noFill/>
              <a:prstDash val="solid"/>
              <a:round/>
            </a:ln>
          </p:spPr>
        </p:sp>
        <p:sp>
          <p:nvSpPr>
            <p:cNvPr name="TextBox 5" id="5"/>
            <p:cNvSpPr txBox="true"/>
            <p:nvPr/>
          </p:nvSpPr>
          <p:spPr>
            <a:xfrm>
              <a:off x="0" y="-38100"/>
              <a:ext cx="6663520" cy="570702"/>
            </a:xfrm>
            <a:prstGeom prst="rect">
              <a:avLst/>
            </a:prstGeom>
          </p:spPr>
          <p:txBody>
            <a:bodyPr anchor="ctr" rtlCol="false" tIns="50800" lIns="50800" bIns="50800" rIns="50800"/>
            <a:lstStyle/>
            <a:p>
              <a:pPr algn="ctr">
                <a:lnSpc>
                  <a:spcPts val="2940"/>
                </a:lnSpc>
              </a:pPr>
            </a:p>
          </p:txBody>
        </p:sp>
      </p:grpSp>
      <p:sp>
        <p:nvSpPr>
          <p:cNvPr name="TextBox 6" id="6"/>
          <p:cNvSpPr txBox="true"/>
          <p:nvPr/>
        </p:nvSpPr>
        <p:spPr>
          <a:xfrm rot="0">
            <a:off x="588399" y="2291648"/>
            <a:ext cx="14389342" cy="949504"/>
          </a:xfrm>
          <a:prstGeom prst="rect">
            <a:avLst/>
          </a:prstGeom>
        </p:spPr>
        <p:txBody>
          <a:bodyPr anchor="t" rtlCol="false" tIns="0" lIns="0" bIns="0" rIns="0">
            <a:spAutoFit/>
          </a:bodyPr>
          <a:lstStyle/>
          <a:p>
            <a:pPr algn="l">
              <a:lnSpc>
                <a:spcPts val="3840"/>
              </a:lnSpc>
              <a:spcBef>
                <a:spcPct val="0"/>
              </a:spcBef>
            </a:pPr>
            <a:r>
              <a:rPr lang="en-US" sz="2742" spc="27">
                <a:solidFill>
                  <a:srgbClr val="050F2A"/>
                </a:solidFill>
                <a:latin typeface="Proxima Nova"/>
                <a:ea typeface="Proxima Nova"/>
                <a:cs typeface="Proxima Nova"/>
                <a:sym typeface="Proxima Nova"/>
              </a:rPr>
              <a:t>El Q-Q plot muestra una desviación clara respecto a la línea diagonal. Esto indica que los residuos no siguen bien una distribución normal.</a:t>
            </a:r>
          </a:p>
        </p:txBody>
      </p:sp>
      <p:grpSp>
        <p:nvGrpSpPr>
          <p:cNvPr name="Group 7" id="7"/>
          <p:cNvGrpSpPr/>
          <p:nvPr/>
        </p:nvGrpSpPr>
        <p:grpSpPr>
          <a:xfrm rot="0">
            <a:off x="360489" y="4757984"/>
            <a:ext cx="11054256" cy="4714743"/>
            <a:chOff x="0" y="0"/>
            <a:chExt cx="4418629" cy="1884586"/>
          </a:xfrm>
        </p:grpSpPr>
        <p:sp>
          <p:nvSpPr>
            <p:cNvPr name="Freeform 8" id="8"/>
            <p:cNvSpPr/>
            <p:nvPr/>
          </p:nvSpPr>
          <p:spPr>
            <a:xfrm flipH="false" flipV="false" rot="0">
              <a:off x="0" y="0"/>
              <a:ext cx="4418628" cy="1884586"/>
            </a:xfrm>
            <a:custGeom>
              <a:avLst/>
              <a:gdLst/>
              <a:ahLst/>
              <a:cxnLst/>
              <a:rect r="r" b="b" t="t" l="l"/>
              <a:pathLst>
                <a:path h="1884586" w="4418628">
                  <a:moveTo>
                    <a:pt x="21011" y="0"/>
                  </a:moveTo>
                  <a:lnTo>
                    <a:pt x="4397618" y="0"/>
                  </a:lnTo>
                  <a:cubicBezTo>
                    <a:pt x="4409222" y="0"/>
                    <a:pt x="4418628" y="9407"/>
                    <a:pt x="4418628" y="21011"/>
                  </a:cubicBezTo>
                  <a:lnTo>
                    <a:pt x="4418628" y="1863575"/>
                  </a:lnTo>
                  <a:cubicBezTo>
                    <a:pt x="4418628" y="1875179"/>
                    <a:pt x="4409222" y="1884586"/>
                    <a:pt x="4397618" y="1884586"/>
                  </a:cubicBezTo>
                  <a:lnTo>
                    <a:pt x="21011" y="1884586"/>
                  </a:lnTo>
                  <a:cubicBezTo>
                    <a:pt x="9407" y="1884586"/>
                    <a:pt x="0" y="1875179"/>
                    <a:pt x="0" y="1863575"/>
                  </a:cubicBezTo>
                  <a:lnTo>
                    <a:pt x="0" y="21011"/>
                  </a:lnTo>
                  <a:cubicBezTo>
                    <a:pt x="0" y="9407"/>
                    <a:pt x="9407" y="0"/>
                    <a:pt x="21011" y="0"/>
                  </a:cubicBezTo>
                  <a:close/>
                </a:path>
              </a:pathLst>
            </a:custGeom>
            <a:solidFill>
              <a:srgbClr val="FFFFFF"/>
            </a:solidFill>
            <a:ln cap="rnd">
              <a:noFill/>
              <a:prstDash val="solid"/>
              <a:round/>
            </a:ln>
          </p:spPr>
        </p:sp>
        <p:sp>
          <p:nvSpPr>
            <p:cNvPr name="TextBox 9" id="9"/>
            <p:cNvSpPr txBox="true"/>
            <p:nvPr/>
          </p:nvSpPr>
          <p:spPr>
            <a:xfrm>
              <a:off x="0" y="-38100"/>
              <a:ext cx="4418629" cy="1922686"/>
            </a:xfrm>
            <a:prstGeom prst="rect">
              <a:avLst/>
            </a:prstGeom>
          </p:spPr>
          <p:txBody>
            <a:bodyPr anchor="ctr" rtlCol="false" tIns="50800" lIns="50800" bIns="50800" rIns="50800"/>
            <a:lstStyle/>
            <a:p>
              <a:pPr algn="ctr">
                <a:lnSpc>
                  <a:spcPts val="2940"/>
                </a:lnSpc>
              </a:pPr>
            </a:p>
          </p:txBody>
        </p:sp>
      </p:grpSp>
      <p:sp>
        <p:nvSpPr>
          <p:cNvPr name="TextBox 10" id="10"/>
          <p:cNvSpPr txBox="true"/>
          <p:nvPr/>
        </p:nvSpPr>
        <p:spPr>
          <a:xfrm rot="0">
            <a:off x="556391" y="4975037"/>
            <a:ext cx="10600621" cy="4349929"/>
          </a:xfrm>
          <a:prstGeom prst="rect">
            <a:avLst/>
          </a:prstGeom>
        </p:spPr>
        <p:txBody>
          <a:bodyPr anchor="t" rtlCol="false" tIns="0" lIns="0" bIns="0" rIns="0">
            <a:spAutoFit/>
          </a:bodyPr>
          <a:lstStyle/>
          <a:p>
            <a:pPr algn="l">
              <a:lnSpc>
                <a:spcPts val="3840"/>
              </a:lnSpc>
              <a:spcBef>
                <a:spcPct val="0"/>
              </a:spcBef>
            </a:pPr>
            <a:r>
              <a:rPr lang="en-US" sz="2742" spc="27">
                <a:solidFill>
                  <a:srgbClr val="000000"/>
                </a:solidFill>
                <a:latin typeface="Proxima Nova"/>
                <a:ea typeface="Proxima Nova"/>
                <a:cs typeface="Proxima Nova"/>
                <a:sym typeface="Proxima Nova"/>
              </a:rPr>
              <a:t>El model</a:t>
            </a:r>
            <a:r>
              <a:rPr lang="en-US" sz="2742" spc="27">
                <a:solidFill>
                  <a:srgbClr val="000000"/>
                </a:solidFill>
                <a:latin typeface="Proxima Nova"/>
                <a:ea typeface="Proxima Nova"/>
                <a:cs typeface="Proxima Nova"/>
                <a:sym typeface="Proxima Nova"/>
              </a:rPr>
              <a:t>o de regresión no encontró evidencia estadísticamente significativa donde el indice de pobreza o la cantidad de estudiantes matriculados explicaran la disponibilidad de alimentos saludables por comuna. </a:t>
            </a:r>
          </a:p>
          <a:p>
            <a:pPr algn="l">
              <a:lnSpc>
                <a:spcPts val="3840"/>
              </a:lnSpc>
              <a:spcBef>
                <a:spcPct val="0"/>
              </a:spcBef>
            </a:pPr>
            <a:r>
              <a:rPr lang="en-US" sz="2742" spc="27">
                <a:solidFill>
                  <a:srgbClr val="000000"/>
                </a:solidFill>
                <a:latin typeface="Proxima Nova"/>
                <a:ea typeface="Proxima Nova"/>
                <a:cs typeface="Proxima Nova"/>
                <a:sym typeface="Proxima Nova"/>
              </a:rPr>
              <a:t>Por ejemplo, aunque La Granja presenta mayor pobreza y mayor cantidad total de alimentos saludables, esta relación no se sostiene estadísticamente en el modelo. Por lo tanto, la diferencia observada probablemente depende de otros factores estructurales o de registro, como la cantidad de locales evaluados por comuna.</a:t>
            </a:r>
          </a:p>
        </p:txBody>
      </p:sp>
      <p:grpSp>
        <p:nvGrpSpPr>
          <p:cNvPr name="Group 11" id="11"/>
          <p:cNvGrpSpPr/>
          <p:nvPr/>
        </p:nvGrpSpPr>
        <p:grpSpPr>
          <a:xfrm rot="0">
            <a:off x="0" y="399581"/>
            <a:ext cx="9471960" cy="1258239"/>
            <a:chOff x="0" y="0"/>
            <a:chExt cx="3325316" cy="441729"/>
          </a:xfrm>
        </p:grpSpPr>
        <p:sp>
          <p:nvSpPr>
            <p:cNvPr name="Freeform 12" id="12"/>
            <p:cNvSpPr/>
            <p:nvPr/>
          </p:nvSpPr>
          <p:spPr>
            <a:xfrm flipH="false" flipV="false" rot="0">
              <a:off x="0" y="0"/>
              <a:ext cx="3325316" cy="441729"/>
            </a:xfrm>
            <a:custGeom>
              <a:avLst/>
              <a:gdLst/>
              <a:ahLst/>
              <a:cxnLst/>
              <a:rect r="r" b="b" t="t" l="l"/>
              <a:pathLst>
                <a:path h="441729" w="3325316">
                  <a:moveTo>
                    <a:pt x="16347" y="0"/>
                  </a:moveTo>
                  <a:lnTo>
                    <a:pt x="3308969" y="0"/>
                  </a:lnTo>
                  <a:cubicBezTo>
                    <a:pt x="3317997" y="0"/>
                    <a:pt x="3325316" y="7319"/>
                    <a:pt x="3325316" y="16347"/>
                  </a:cubicBezTo>
                  <a:lnTo>
                    <a:pt x="3325316" y="425382"/>
                  </a:lnTo>
                  <a:cubicBezTo>
                    <a:pt x="3325316" y="434410"/>
                    <a:pt x="3317997" y="441729"/>
                    <a:pt x="3308969" y="441729"/>
                  </a:cubicBezTo>
                  <a:lnTo>
                    <a:pt x="16347" y="441729"/>
                  </a:lnTo>
                  <a:cubicBezTo>
                    <a:pt x="7319" y="441729"/>
                    <a:pt x="0" y="434410"/>
                    <a:pt x="0" y="425382"/>
                  </a:cubicBezTo>
                  <a:lnTo>
                    <a:pt x="0" y="16347"/>
                  </a:lnTo>
                  <a:cubicBezTo>
                    <a:pt x="0" y="7319"/>
                    <a:pt x="7319" y="0"/>
                    <a:pt x="16347"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3" id="13"/>
            <p:cNvSpPr txBox="true"/>
            <p:nvPr/>
          </p:nvSpPr>
          <p:spPr>
            <a:xfrm>
              <a:off x="0" y="-66675"/>
              <a:ext cx="3325316" cy="508404"/>
            </a:xfrm>
            <a:prstGeom prst="rect">
              <a:avLst/>
            </a:prstGeom>
          </p:spPr>
          <p:txBody>
            <a:bodyPr anchor="ctr" rtlCol="false" tIns="47543" lIns="47543" bIns="47543" rIns="47543"/>
            <a:lstStyle/>
            <a:p>
              <a:pPr algn="ctr">
                <a:lnSpc>
                  <a:spcPts val="3418"/>
                </a:lnSpc>
              </a:pPr>
            </a:p>
          </p:txBody>
        </p:sp>
      </p:grpSp>
      <p:sp>
        <p:nvSpPr>
          <p:cNvPr name="TextBox 14" id="14"/>
          <p:cNvSpPr txBox="true"/>
          <p:nvPr/>
        </p:nvSpPr>
        <p:spPr>
          <a:xfrm rot="0">
            <a:off x="360489" y="652613"/>
            <a:ext cx="8621393" cy="738506"/>
          </a:xfrm>
          <a:prstGeom prst="rect">
            <a:avLst/>
          </a:prstGeom>
        </p:spPr>
        <p:txBody>
          <a:bodyPr anchor="t" rtlCol="false" tIns="0" lIns="0" bIns="0" rIns="0">
            <a:spAutoFit/>
          </a:bodyPr>
          <a:lstStyle/>
          <a:p>
            <a:pPr algn="l">
              <a:lnSpc>
                <a:spcPts val="6019"/>
              </a:lnSpc>
              <a:spcBef>
                <a:spcPct val="0"/>
              </a:spcBef>
            </a:pPr>
            <a:r>
              <a:rPr lang="en-US" sz="4299" spc="42">
                <a:solidFill>
                  <a:srgbClr val="FFFFFF"/>
                </a:solidFill>
                <a:latin typeface="Proxima Nova"/>
                <a:ea typeface="Proxima Nova"/>
                <a:cs typeface="Proxima Nova"/>
                <a:sym typeface="Proxima Nova"/>
              </a:rPr>
              <a:t>Q-Q Plot </a:t>
            </a:r>
          </a:p>
        </p:txBody>
      </p:sp>
      <p:sp>
        <p:nvSpPr>
          <p:cNvPr name="TextBox 15" id="15"/>
          <p:cNvSpPr txBox="true"/>
          <p:nvPr/>
        </p:nvSpPr>
        <p:spPr>
          <a:xfrm rot="0">
            <a:off x="556391" y="3835651"/>
            <a:ext cx="10352366" cy="433283"/>
          </a:xfrm>
          <a:prstGeom prst="rect">
            <a:avLst/>
          </a:prstGeom>
        </p:spPr>
        <p:txBody>
          <a:bodyPr anchor="t" rtlCol="false" tIns="0" lIns="0" bIns="0" rIns="0">
            <a:spAutoFit/>
          </a:bodyPr>
          <a:lstStyle/>
          <a:p>
            <a:pPr algn="ctr">
              <a:lnSpc>
                <a:spcPts val="3418"/>
              </a:lnSpc>
              <a:spcBef>
                <a:spcPct val="0"/>
              </a:spcBef>
            </a:pPr>
            <a:r>
              <a:rPr lang="en-US" sz="2441" spc="24">
                <a:solidFill>
                  <a:srgbClr val="FFFFFF"/>
                </a:solidFill>
                <a:latin typeface="Times New Roman"/>
                <a:ea typeface="Times New Roman"/>
                <a:cs typeface="Times New Roman"/>
                <a:sym typeface="Times New Roman"/>
              </a:rPr>
              <a:t>Total_alimentos_saludables = β₀ + β₁(pobreza_modelo) + β₂(matricula_2024) + ε</a:t>
            </a:r>
          </a:p>
        </p:txBody>
      </p:sp>
      <p:sp>
        <p:nvSpPr>
          <p:cNvPr name="TextBox 16" id="16"/>
          <p:cNvSpPr txBox="true"/>
          <p:nvPr/>
        </p:nvSpPr>
        <p:spPr>
          <a:xfrm rot="0">
            <a:off x="11634770" y="3835651"/>
            <a:ext cx="1303496" cy="433283"/>
          </a:xfrm>
          <a:prstGeom prst="rect">
            <a:avLst/>
          </a:prstGeom>
        </p:spPr>
        <p:txBody>
          <a:bodyPr anchor="t" rtlCol="false" tIns="0" lIns="0" bIns="0" rIns="0">
            <a:spAutoFit/>
          </a:bodyPr>
          <a:lstStyle/>
          <a:p>
            <a:pPr algn="ctr">
              <a:lnSpc>
                <a:spcPts val="3418"/>
              </a:lnSpc>
              <a:spcBef>
                <a:spcPct val="0"/>
              </a:spcBef>
            </a:pPr>
            <a:r>
              <a:rPr lang="en-US" sz="2441" spc="24">
                <a:solidFill>
                  <a:srgbClr val="FFFFFF"/>
                </a:solidFill>
                <a:latin typeface="Times New Roman"/>
                <a:ea typeface="Times New Roman"/>
                <a:cs typeface="Times New Roman"/>
                <a:sym typeface="Times New Roman"/>
              </a:rPr>
              <a:t>R² = 0.3%</a:t>
            </a:r>
          </a:p>
        </p:txBody>
      </p:sp>
      <p:sp>
        <p:nvSpPr>
          <p:cNvPr name="Freeform 17" id="17"/>
          <p:cNvSpPr/>
          <p:nvPr/>
        </p:nvSpPr>
        <p:spPr>
          <a:xfrm flipH="false" flipV="false" rot="0">
            <a:off x="11785870" y="4757984"/>
            <a:ext cx="5297031" cy="5297031"/>
          </a:xfrm>
          <a:custGeom>
            <a:avLst/>
            <a:gdLst/>
            <a:ahLst/>
            <a:cxnLst/>
            <a:rect r="r" b="b" t="t" l="l"/>
            <a:pathLst>
              <a:path h="5297031" w="5297031">
                <a:moveTo>
                  <a:pt x="0" y="0"/>
                </a:moveTo>
                <a:lnTo>
                  <a:pt x="5297031" y="0"/>
                </a:lnTo>
                <a:lnTo>
                  <a:pt x="5297031" y="5297031"/>
                </a:lnTo>
                <a:lnTo>
                  <a:pt x="0" y="5297031"/>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1253085" y="2264370"/>
            <a:ext cx="16240402" cy="6635006"/>
            <a:chOff x="0" y="0"/>
            <a:chExt cx="21653870" cy="8846675"/>
          </a:xfrm>
        </p:grpSpPr>
        <p:grpSp>
          <p:nvGrpSpPr>
            <p:cNvPr name="Group 4" id="4"/>
            <p:cNvGrpSpPr/>
            <p:nvPr/>
          </p:nvGrpSpPr>
          <p:grpSpPr>
            <a:xfrm rot="0">
              <a:off x="0" y="586148"/>
              <a:ext cx="1490763" cy="7674378"/>
              <a:chOff x="0" y="0"/>
              <a:chExt cx="263030" cy="1354068"/>
            </a:xfrm>
          </p:grpSpPr>
          <p:sp>
            <p:nvSpPr>
              <p:cNvPr name="Freeform 5" id="5"/>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6" id="6"/>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7" id="7"/>
            <p:cNvGrpSpPr/>
            <p:nvPr/>
          </p:nvGrpSpPr>
          <p:grpSpPr>
            <a:xfrm rot="-10800000">
              <a:off x="20163107" y="586148"/>
              <a:ext cx="1490763" cy="7674378"/>
              <a:chOff x="0" y="0"/>
              <a:chExt cx="263030" cy="1354068"/>
            </a:xfrm>
          </p:grpSpPr>
          <p:sp>
            <p:nvSpPr>
              <p:cNvPr name="Freeform 8" id="8"/>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9" id="9"/>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10" id="10"/>
            <p:cNvGrpSpPr/>
            <p:nvPr/>
          </p:nvGrpSpPr>
          <p:grpSpPr>
            <a:xfrm rot="0">
              <a:off x="492333" y="0"/>
              <a:ext cx="20672081" cy="8846675"/>
              <a:chOff x="0" y="0"/>
              <a:chExt cx="3647384" cy="1560908"/>
            </a:xfrm>
          </p:grpSpPr>
          <p:sp>
            <p:nvSpPr>
              <p:cNvPr name="Freeform 11" id="11"/>
              <p:cNvSpPr/>
              <p:nvPr/>
            </p:nvSpPr>
            <p:spPr>
              <a:xfrm flipH="false" flipV="false" rot="0">
                <a:off x="0" y="0"/>
                <a:ext cx="3647384" cy="1560908"/>
              </a:xfrm>
              <a:custGeom>
                <a:avLst/>
                <a:gdLst/>
                <a:ahLst/>
                <a:cxnLst/>
                <a:rect r="r" b="b" t="t" l="l"/>
                <a:pathLst>
                  <a:path h="1560908" w="3647384">
                    <a:moveTo>
                      <a:pt x="16771" y="0"/>
                    </a:moveTo>
                    <a:lnTo>
                      <a:pt x="3630613" y="0"/>
                    </a:lnTo>
                    <a:cubicBezTo>
                      <a:pt x="3639875" y="0"/>
                      <a:pt x="3647384" y="7509"/>
                      <a:pt x="3647384" y="16771"/>
                    </a:cubicBezTo>
                    <a:lnTo>
                      <a:pt x="3647384" y="1544137"/>
                    </a:lnTo>
                    <a:cubicBezTo>
                      <a:pt x="3647384" y="1553399"/>
                      <a:pt x="3639875" y="1560908"/>
                      <a:pt x="3630613" y="1560908"/>
                    </a:cubicBezTo>
                    <a:lnTo>
                      <a:pt x="16771" y="1560908"/>
                    </a:lnTo>
                    <a:cubicBezTo>
                      <a:pt x="7509" y="1560908"/>
                      <a:pt x="0" y="1553399"/>
                      <a:pt x="0" y="1544137"/>
                    </a:cubicBezTo>
                    <a:lnTo>
                      <a:pt x="0" y="16771"/>
                    </a:lnTo>
                    <a:cubicBezTo>
                      <a:pt x="0" y="7509"/>
                      <a:pt x="7509" y="0"/>
                      <a:pt x="16771" y="0"/>
                    </a:cubicBezTo>
                    <a:close/>
                  </a:path>
                </a:pathLst>
              </a:custGeom>
              <a:solidFill>
                <a:srgbClr val="FFFFFF"/>
              </a:solidFill>
              <a:ln cap="rnd">
                <a:noFill/>
                <a:prstDash val="solid"/>
                <a:round/>
              </a:ln>
            </p:spPr>
          </p:sp>
          <p:sp>
            <p:nvSpPr>
              <p:cNvPr name="TextBox 12" id="12"/>
              <p:cNvSpPr txBox="true"/>
              <p:nvPr/>
            </p:nvSpPr>
            <p:spPr>
              <a:xfrm>
                <a:off x="0" y="-38100"/>
                <a:ext cx="3647384" cy="1599008"/>
              </a:xfrm>
              <a:prstGeom prst="rect">
                <a:avLst/>
              </a:prstGeom>
            </p:spPr>
            <p:txBody>
              <a:bodyPr anchor="ctr" rtlCol="false" tIns="50800" lIns="50800" bIns="50800" rIns="50800"/>
              <a:lstStyle/>
              <a:p>
                <a:pPr algn="ctr">
                  <a:lnSpc>
                    <a:spcPts val="2940"/>
                  </a:lnSpc>
                </a:pPr>
              </a:p>
            </p:txBody>
          </p:sp>
        </p:grpSp>
      </p:grpSp>
      <p:grpSp>
        <p:nvGrpSpPr>
          <p:cNvPr name="Group 13" id="13"/>
          <p:cNvGrpSpPr/>
          <p:nvPr/>
        </p:nvGrpSpPr>
        <p:grpSpPr>
          <a:xfrm rot="0">
            <a:off x="3200609" y="1028700"/>
            <a:ext cx="12345354" cy="1765751"/>
            <a:chOff x="0" y="0"/>
            <a:chExt cx="3871319" cy="553713"/>
          </a:xfrm>
        </p:grpSpPr>
        <p:sp>
          <p:nvSpPr>
            <p:cNvPr name="Freeform 14" id="14"/>
            <p:cNvSpPr/>
            <p:nvPr/>
          </p:nvSpPr>
          <p:spPr>
            <a:xfrm flipH="false" flipV="false" rot="0">
              <a:off x="0" y="0"/>
              <a:ext cx="3871319" cy="553713"/>
            </a:xfrm>
            <a:custGeom>
              <a:avLst/>
              <a:gdLst/>
              <a:ahLst/>
              <a:cxnLst/>
              <a:rect r="r" b="b" t="t" l="l"/>
              <a:pathLst>
                <a:path h="553713" w="3871319">
                  <a:moveTo>
                    <a:pt x="12542" y="0"/>
                  </a:moveTo>
                  <a:lnTo>
                    <a:pt x="3858777" y="0"/>
                  </a:lnTo>
                  <a:cubicBezTo>
                    <a:pt x="3865704" y="0"/>
                    <a:pt x="3871319" y="5615"/>
                    <a:pt x="3871319" y="12542"/>
                  </a:cubicBezTo>
                  <a:lnTo>
                    <a:pt x="3871319" y="541171"/>
                  </a:lnTo>
                  <a:cubicBezTo>
                    <a:pt x="3871319" y="548098"/>
                    <a:pt x="3865704" y="553713"/>
                    <a:pt x="3858777" y="553713"/>
                  </a:cubicBezTo>
                  <a:lnTo>
                    <a:pt x="12542" y="553713"/>
                  </a:lnTo>
                  <a:cubicBezTo>
                    <a:pt x="5615" y="553713"/>
                    <a:pt x="0" y="548098"/>
                    <a:pt x="0" y="541171"/>
                  </a:cubicBezTo>
                  <a:lnTo>
                    <a:pt x="0" y="12542"/>
                  </a:lnTo>
                  <a:cubicBezTo>
                    <a:pt x="0" y="5615"/>
                    <a:pt x="5615" y="0"/>
                    <a:pt x="1254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5" id="15"/>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TextBox 16" id="16"/>
          <p:cNvSpPr txBox="true"/>
          <p:nvPr/>
        </p:nvSpPr>
        <p:spPr>
          <a:xfrm rot="0">
            <a:off x="2645049" y="3131503"/>
            <a:ext cx="13456473" cy="3938270"/>
          </a:xfrm>
          <a:prstGeom prst="rect">
            <a:avLst/>
          </a:prstGeom>
        </p:spPr>
        <p:txBody>
          <a:bodyPr anchor="t" rtlCol="false" tIns="0" lIns="0" bIns="0" rIns="0">
            <a:spAutoFit/>
          </a:bodyPr>
          <a:lstStyle/>
          <a:p>
            <a:pPr algn="just" marL="0" indent="0" lvl="0">
              <a:lnSpc>
                <a:spcPts val="4480"/>
              </a:lnSpc>
              <a:spcBef>
                <a:spcPct val="0"/>
              </a:spcBef>
            </a:pPr>
            <a:r>
              <a:rPr lang="en-US" sz="3200">
                <a:solidFill>
                  <a:srgbClr val="0B1B45"/>
                </a:solidFill>
                <a:latin typeface="Arial"/>
                <a:ea typeface="Arial"/>
                <a:cs typeface="Arial"/>
                <a:sym typeface="Arial"/>
              </a:rPr>
              <a:t>En conclusión, el análisis permitió responder parcialmente la pregunta de investigación. Observando diferencias en la disponibilidad de alimentos saludables entre comunas, pero las variables consideradas, como pobreza multidimensional y matrícula, no fueron suficientes para explicar dichas diferencias. Requiriendo un análisis más profundo, con más datos y nuevas variables, para obtener conclusiones más definitivas que realmente puedan ayudar a explicar estas diferencias.</a:t>
            </a:r>
          </a:p>
        </p:txBody>
      </p:sp>
      <p:sp>
        <p:nvSpPr>
          <p:cNvPr name="AutoShape 17" id="17"/>
          <p:cNvSpPr/>
          <p:nvPr/>
        </p:nvSpPr>
        <p:spPr>
          <a:xfrm flipV="true">
            <a:off x="1028700" y="9258300"/>
            <a:ext cx="16464787" cy="9525"/>
          </a:xfrm>
          <a:prstGeom prst="line">
            <a:avLst/>
          </a:prstGeom>
          <a:ln cap="flat" w="19050">
            <a:solidFill>
              <a:srgbClr val="FFFFFF"/>
            </a:solidFill>
            <a:prstDash val="solid"/>
            <a:headEnd type="none" len="sm" w="sm"/>
            <a:tailEnd type="none" len="sm" w="sm"/>
          </a:ln>
        </p:spPr>
      </p:sp>
      <p:sp>
        <p:nvSpPr>
          <p:cNvPr name="TextBox 18" id="18"/>
          <p:cNvSpPr txBox="true"/>
          <p:nvPr/>
        </p:nvSpPr>
        <p:spPr>
          <a:xfrm rot="0">
            <a:off x="3751193" y="1444481"/>
            <a:ext cx="11244186" cy="824577"/>
          </a:xfrm>
          <a:prstGeom prst="rect">
            <a:avLst/>
          </a:prstGeom>
        </p:spPr>
        <p:txBody>
          <a:bodyPr anchor="t" rtlCol="false" tIns="0" lIns="0" bIns="0" rIns="0">
            <a:spAutoFit/>
          </a:bodyPr>
          <a:lstStyle/>
          <a:p>
            <a:pPr algn="ctr">
              <a:lnSpc>
                <a:spcPts val="6525"/>
              </a:lnSpc>
            </a:pPr>
            <a:r>
              <a:rPr lang="en-US" sz="4661" b="true">
                <a:solidFill>
                  <a:srgbClr val="FFFFFF"/>
                </a:solidFill>
                <a:latin typeface="Arial Bold"/>
                <a:ea typeface="Arial Bold"/>
                <a:cs typeface="Arial Bold"/>
                <a:sym typeface="Arial Bold"/>
              </a:rPr>
              <a:t>Conclusión del proyecto</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9950921" y="13205125"/>
            <a:ext cx="800350" cy="417292"/>
          </a:xfrm>
          <a:custGeom>
            <a:avLst/>
            <a:gdLst/>
            <a:ahLst/>
            <a:cxnLst/>
            <a:rect r="r" b="b" t="t" l="l"/>
            <a:pathLst>
              <a:path h="417292" w="800350">
                <a:moveTo>
                  <a:pt x="0" y="0"/>
                </a:moveTo>
                <a:lnTo>
                  <a:pt x="800350" y="0"/>
                </a:lnTo>
                <a:lnTo>
                  <a:pt x="800350" y="417292"/>
                </a:lnTo>
                <a:lnTo>
                  <a:pt x="0" y="4172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53085" y="2264370"/>
            <a:ext cx="16240402" cy="6635006"/>
            <a:chOff x="0" y="0"/>
            <a:chExt cx="21653870" cy="8846675"/>
          </a:xfrm>
        </p:grpSpPr>
        <p:grpSp>
          <p:nvGrpSpPr>
            <p:cNvPr name="Group 5" id="5"/>
            <p:cNvGrpSpPr/>
            <p:nvPr/>
          </p:nvGrpSpPr>
          <p:grpSpPr>
            <a:xfrm rot="0">
              <a:off x="0" y="586148"/>
              <a:ext cx="1490763" cy="7674378"/>
              <a:chOff x="0" y="0"/>
              <a:chExt cx="263030" cy="1354068"/>
            </a:xfrm>
          </p:grpSpPr>
          <p:sp>
            <p:nvSpPr>
              <p:cNvPr name="Freeform 6" id="6"/>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7" id="7"/>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8" id="8"/>
            <p:cNvGrpSpPr/>
            <p:nvPr/>
          </p:nvGrpSpPr>
          <p:grpSpPr>
            <a:xfrm rot="-10800000">
              <a:off x="20163107" y="586148"/>
              <a:ext cx="1490763" cy="7674378"/>
              <a:chOff x="0" y="0"/>
              <a:chExt cx="263030" cy="1354068"/>
            </a:xfrm>
          </p:grpSpPr>
          <p:sp>
            <p:nvSpPr>
              <p:cNvPr name="Freeform 9" id="9"/>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10" id="10"/>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11" id="11"/>
            <p:cNvGrpSpPr/>
            <p:nvPr/>
          </p:nvGrpSpPr>
          <p:grpSpPr>
            <a:xfrm rot="0">
              <a:off x="492333" y="0"/>
              <a:ext cx="20672081" cy="8846675"/>
              <a:chOff x="0" y="0"/>
              <a:chExt cx="3647384" cy="1560908"/>
            </a:xfrm>
          </p:grpSpPr>
          <p:sp>
            <p:nvSpPr>
              <p:cNvPr name="Freeform 12" id="12"/>
              <p:cNvSpPr/>
              <p:nvPr/>
            </p:nvSpPr>
            <p:spPr>
              <a:xfrm flipH="false" flipV="false" rot="0">
                <a:off x="0" y="0"/>
                <a:ext cx="3647384" cy="1560908"/>
              </a:xfrm>
              <a:custGeom>
                <a:avLst/>
                <a:gdLst/>
                <a:ahLst/>
                <a:cxnLst/>
                <a:rect r="r" b="b" t="t" l="l"/>
                <a:pathLst>
                  <a:path h="1560908" w="3647384">
                    <a:moveTo>
                      <a:pt x="16771" y="0"/>
                    </a:moveTo>
                    <a:lnTo>
                      <a:pt x="3630613" y="0"/>
                    </a:lnTo>
                    <a:cubicBezTo>
                      <a:pt x="3639875" y="0"/>
                      <a:pt x="3647384" y="7509"/>
                      <a:pt x="3647384" y="16771"/>
                    </a:cubicBezTo>
                    <a:lnTo>
                      <a:pt x="3647384" y="1544137"/>
                    </a:lnTo>
                    <a:cubicBezTo>
                      <a:pt x="3647384" y="1553399"/>
                      <a:pt x="3639875" y="1560908"/>
                      <a:pt x="3630613" y="1560908"/>
                    </a:cubicBezTo>
                    <a:lnTo>
                      <a:pt x="16771" y="1560908"/>
                    </a:lnTo>
                    <a:cubicBezTo>
                      <a:pt x="7509" y="1560908"/>
                      <a:pt x="0" y="1553399"/>
                      <a:pt x="0" y="1544137"/>
                    </a:cubicBezTo>
                    <a:lnTo>
                      <a:pt x="0" y="16771"/>
                    </a:lnTo>
                    <a:cubicBezTo>
                      <a:pt x="0" y="7509"/>
                      <a:pt x="7509" y="0"/>
                      <a:pt x="16771" y="0"/>
                    </a:cubicBezTo>
                    <a:close/>
                  </a:path>
                </a:pathLst>
              </a:custGeom>
              <a:solidFill>
                <a:srgbClr val="FFFFFF"/>
              </a:solidFill>
              <a:ln cap="rnd">
                <a:noFill/>
                <a:prstDash val="solid"/>
                <a:round/>
              </a:ln>
            </p:spPr>
          </p:sp>
          <p:sp>
            <p:nvSpPr>
              <p:cNvPr name="TextBox 13" id="13"/>
              <p:cNvSpPr txBox="true"/>
              <p:nvPr/>
            </p:nvSpPr>
            <p:spPr>
              <a:xfrm>
                <a:off x="0" y="-38100"/>
                <a:ext cx="3647384" cy="1599008"/>
              </a:xfrm>
              <a:prstGeom prst="rect">
                <a:avLst/>
              </a:prstGeom>
            </p:spPr>
            <p:txBody>
              <a:bodyPr anchor="ctr" rtlCol="false" tIns="50800" lIns="50800" bIns="50800" rIns="50800"/>
              <a:lstStyle/>
              <a:p>
                <a:pPr algn="ctr">
                  <a:lnSpc>
                    <a:spcPts val="2940"/>
                  </a:lnSpc>
                </a:pPr>
              </a:p>
            </p:txBody>
          </p:sp>
        </p:grpSp>
      </p:grpSp>
      <p:grpSp>
        <p:nvGrpSpPr>
          <p:cNvPr name="Group 14" id="14"/>
          <p:cNvGrpSpPr/>
          <p:nvPr/>
        </p:nvGrpSpPr>
        <p:grpSpPr>
          <a:xfrm rot="0">
            <a:off x="3200609" y="1028700"/>
            <a:ext cx="12345354" cy="1765751"/>
            <a:chOff x="0" y="0"/>
            <a:chExt cx="3871319" cy="553713"/>
          </a:xfrm>
        </p:grpSpPr>
        <p:sp>
          <p:nvSpPr>
            <p:cNvPr name="Freeform 15" id="15"/>
            <p:cNvSpPr/>
            <p:nvPr/>
          </p:nvSpPr>
          <p:spPr>
            <a:xfrm flipH="false" flipV="false" rot="0">
              <a:off x="0" y="0"/>
              <a:ext cx="3871319" cy="553713"/>
            </a:xfrm>
            <a:custGeom>
              <a:avLst/>
              <a:gdLst/>
              <a:ahLst/>
              <a:cxnLst/>
              <a:rect r="r" b="b" t="t" l="l"/>
              <a:pathLst>
                <a:path h="553713" w="3871319">
                  <a:moveTo>
                    <a:pt x="12542" y="0"/>
                  </a:moveTo>
                  <a:lnTo>
                    <a:pt x="3858777" y="0"/>
                  </a:lnTo>
                  <a:cubicBezTo>
                    <a:pt x="3865704" y="0"/>
                    <a:pt x="3871319" y="5615"/>
                    <a:pt x="3871319" y="12542"/>
                  </a:cubicBezTo>
                  <a:lnTo>
                    <a:pt x="3871319" y="541171"/>
                  </a:lnTo>
                  <a:cubicBezTo>
                    <a:pt x="3871319" y="548098"/>
                    <a:pt x="3865704" y="553713"/>
                    <a:pt x="3858777" y="553713"/>
                  </a:cubicBezTo>
                  <a:lnTo>
                    <a:pt x="12542" y="553713"/>
                  </a:lnTo>
                  <a:cubicBezTo>
                    <a:pt x="5615" y="553713"/>
                    <a:pt x="0" y="548098"/>
                    <a:pt x="0" y="541171"/>
                  </a:cubicBezTo>
                  <a:lnTo>
                    <a:pt x="0" y="12542"/>
                  </a:lnTo>
                  <a:cubicBezTo>
                    <a:pt x="0" y="5615"/>
                    <a:pt x="5615" y="0"/>
                    <a:pt x="1254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6" id="16"/>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TextBox 17" id="17"/>
          <p:cNvSpPr txBox="true"/>
          <p:nvPr/>
        </p:nvSpPr>
        <p:spPr>
          <a:xfrm rot="0">
            <a:off x="1673011" y="3253090"/>
            <a:ext cx="14941979" cy="3721100"/>
          </a:xfrm>
          <a:prstGeom prst="rect">
            <a:avLst/>
          </a:prstGeom>
        </p:spPr>
        <p:txBody>
          <a:bodyPr anchor="t" rtlCol="false" tIns="0" lIns="0" bIns="0" rIns="0">
            <a:spAutoFit/>
          </a:bodyPr>
          <a:lstStyle/>
          <a:p>
            <a:pPr algn="l" marL="755651" indent="-377825" lvl="1">
              <a:lnSpc>
                <a:spcPts val="4900"/>
              </a:lnSpc>
              <a:buFont typeface="Arial"/>
              <a:buChar char="•"/>
            </a:pPr>
            <a:r>
              <a:rPr lang="en-US" sz="3500">
                <a:solidFill>
                  <a:srgbClr val="0B1B45"/>
                </a:solidFill>
                <a:latin typeface="Arial"/>
                <a:ea typeface="Arial"/>
                <a:cs typeface="Arial"/>
                <a:sym typeface="Arial"/>
              </a:rPr>
              <a:t>Tamaño reducido de la muestra </a:t>
            </a:r>
          </a:p>
          <a:p>
            <a:pPr algn="l" marL="755651" indent="-377825" lvl="1">
              <a:lnSpc>
                <a:spcPts val="4900"/>
              </a:lnSpc>
              <a:buFont typeface="Arial"/>
              <a:buChar char="•"/>
            </a:pPr>
            <a:r>
              <a:rPr lang="en-US" sz="3500">
                <a:solidFill>
                  <a:srgbClr val="0B1B45"/>
                </a:solidFill>
                <a:latin typeface="Arial"/>
                <a:ea typeface="Arial"/>
                <a:cs typeface="Arial"/>
                <a:sym typeface="Arial"/>
              </a:rPr>
              <a:t>Diferente cantidad de registros por comuna</a:t>
            </a:r>
          </a:p>
          <a:p>
            <a:pPr algn="l" marL="755651" indent="-377825" lvl="1">
              <a:lnSpc>
                <a:spcPts val="4900"/>
              </a:lnSpc>
              <a:buFont typeface="Arial"/>
              <a:buChar char="•"/>
            </a:pPr>
            <a:r>
              <a:rPr lang="en-US" sz="3500">
                <a:solidFill>
                  <a:srgbClr val="0B1B45"/>
                </a:solidFill>
                <a:latin typeface="Arial"/>
                <a:ea typeface="Arial"/>
                <a:cs typeface="Arial"/>
                <a:sym typeface="Arial"/>
              </a:rPr>
              <a:t>Variables externas poco específicas</a:t>
            </a:r>
          </a:p>
          <a:p>
            <a:pPr algn="l" marL="755651" indent="-377825" lvl="1">
              <a:lnSpc>
                <a:spcPts val="4900"/>
              </a:lnSpc>
              <a:buFont typeface="Arial"/>
              <a:buChar char="•"/>
            </a:pPr>
            <a:r>
              <a:rPr lang="en-US" sz="3500">
                <a:solidFill>
                  <a:srgbClr val="0B1B45"/>
                </a:solidFill>
                <a:latin typeface="Arial"/>
                <a:ea typeface="Arial"/>
                <a:cs typeface="Arial"/>
                <a:sym typeface="Arial"/>
              </a:rPr>
              <a:t>Pocas variables explicativas en el modelo</a:t>
            </a:r>
          </a:p>
          <a:p>
            <a:pPr algn="l" marL="755651" indent="-377825" lvl="1">
              <a:lnSpc>
                <a:spcPts val="4900"/>
              </a:lnSpc>
              <a:buFont typeface="Arial"/>
              <a:buChar char="•"/>
            </a:pPr>
            <a:r>
              <a:rPr lang="en-US" sz="3500">
                <a:solidFill>
                  <a:srgbClr val="0B1B45"/>
                </a:solidFill>
                <a:latin typeface="Arial"/>
                <a:ea typeface="Arial"/>
                <a:cs typeface="Arial"/>
                <a:sym typeface="Arial"/>
              </a:rPr>
              <a:t>Posibles problemas de registro o datos faltantes</a:t>
            </a:r>
          </a:p>
          <a:p>
            <a:pPr algn="l">
              <a:lnSpc>
                <a:spcPts val="4900"/>
              </a:lnSpc>
            </a:pPr>
          </a:p>
        </p:txBody>
      </p:sp>
      <p:sp>
        <p:nvSpPr>
          <p:cNvPr name="AutoShape 18" id="18"/>
          <p:cNvSpPr/>
          <p:nvPr/>
        </p:nvSpPr>
        <p:spPr>
          <a:xfrm flipV="true">
            <a:off x="1028700" y="9258300"/>
            <a:ext cx="16464787" cy="9525"/>
          </a:xfrm>
          <a:prstGeom prst="line">
            <a:avLst/>
          </a:prstGeom>
          <a:ln cap="flat" w="19050">
            <a:solidFill>
              <a:srgbClr val="FFFFFF"/>
            </a:solidFill>
            <a:prstDash val="solid"/>
            <a:headEnd type="none" len="sm" w="sm"/>
            <a:tailEnd type="none" len="sm" w="sm"/>
          </a:ln>
        </p:spPr>
      </p:sp>
      <p:sp>
        <p:nvSpPr>
          <p:cNvPr name="TextBox 19" id="19"/>
          <p:cNvSpPr txBox="true"/>
          <p:nvPr/>
        </p:nvSpPr>
        <p:spPr>
          <a:xfrm rot="0">
            <a:off x="3751193" y="1444481"/>
            <a:ext cx="11244186" cy="824577"/>
          </a:xfrm>
          <a:prstGeom prst="rect">
            <a:avLst/>
          </a:prstGeom>
        </p:spPr>
        <p:txBody>
          <a:bodyPr anchor="t" rtlCol="false" tIns="0" lIns="0" bIns="0" rIns="0">
            <a:spAutoFit/>
          </a:bodyPr>
          <a:lstStyle/>
          <a:p>
            <a:pPr algn="ctr">
              <a:lnSpc>
                <a:spcPts val="6525"/>
              </a:lnSpc>
            </a:pPr>
            <a:r>
              <a:rPr lang="en-US" sz="4661" b="true">
                <a:solidFill>
                  <a:srgbClr val="FFFFFF"/>
                </a:solidFill>
                <a:latin typeface="Arial Bold"/>
                <a:ea typeface="Arial Bold"/>
                <a:cs typeface="Arial Bold"/>
                <a:sym typeface="Arial Bold"/>
              </a:rPr>
              <a:t>Limitaciones del proyecto</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9950921" y="13205125"/>
            <a:ext cx="800350" cy="417292"/>
          </a:xfrm>
          <a:custGeom>
            <a:avLst/>
            <a:gdLst/>
            <a:ahLst/>
            <a:cxnLst/>
            <a:rect r="r" b="b" t="t" l="l"/>
            <a:pathLst>
              <a:path h="417292" w="800350">
                <a:moveTo>
                  <a:pt x="0" y="0"/>
                </a:moveTo>
                <a:lnTo>
                  <a:pt x="800350" y="0"/>
                </a:lnTo>
                <a:lnTo>
                  <a:pt x="800350" y="417292"/>
                </a:lnTo>
                <a:lnTo>
                  <a:pt x="0" y="4172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53085" y="2264370"/>
            <a:ext cx="16240402" cy="6635006"/>
            <a:chOff x="0" y="0"/>
            <a:chExt cx="21653870" cy="8846675"/>
          </a:xfrm>
        </p:grpSpPr>
        <p:grpSp>
          <p:nvGrpSpPr>
            <p:cNvPr name="Group 5" id="5"/>
            <p:cNvGrpSpPr/>
            <p:nvPr/>
          </p:nvGrpSpPr>
          <p:grpSpPr>
            <a:xfrm rot="0">
              <a:off x="0" y="586148"/>
              <a:ext cx="1490763" cy="7674378"/>
              <a:chOff x="0" y="0"/>
              <a:chExt cx="263030" cy="1354068"/>
            </a:xfrm>
          </p:grpSpPr>
          <p:sp>
            <p:nvSpPr>
              <p:cNvPr name="Freeform 6" id="6"/>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7" id="7"/>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8" id="8"/>
            <p:cNvGrpSpPr/>
            <p:nvPr/>
          </p:nvGrpSpPr>
          <p:grpSpPr>
            <a:xfrm rot="-10800000">
              <a:off x="20163107" y="586148"/>
              <a:ext cx="1490763" cy="7674378"/>
              <a:chOff x="0" y="0"/>
              <a:chExt cx="263030" cy="1354068"/>
            </a:xfrm>
          </p:grpSpPr>
          <p:sp>
            <p:nvSpPr>
              <p:cNvPr name="Freeform 9" id="9"/>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10" id="10"/>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11" id="11"/>
            <p:cNvGrpSpPr/>
            <p:nvPr/>
          </p:nvGrpSpPr>
          <p:grpSpPr>
            <a:xfrm rot="0">
              <a:off x="492333" y="0"/>
              <a:ext cx="20672081" cy="8846675"/>
              <a:chOff x="0" y="0"/>
              <a:chExt cx="3647384" cy="1560908"/>
            </a:xfrm>
          </p:grpSpPr>
          <p:sp>
            <p:nvSpPr>
              <p:cNvPr name="Freeform 12" id="12"/>
              <p:cNvSpPr/>
              <p:nvPr/>
            </p:nvSpPr>
            <p:spPr>
              <a:xfrm flipH="false" flipV="false" rot="0">
                <a:off x="0" y="0"/>
                <a:ext cx="3647384" cy="1560908"/>
              </a:xfrm>
              <a:custGeom>
                <a:avLst/>
                <a:gdLst/>
                <a:ahLst/>
                <a:cxnLst/>
                <a:rect r="r" b="b" t="t" l="l"/>
                <a:pathLst>
                  <a:path h="1560908" w="3647384">
                    <a:moveTo>
                      <a:pt x="16771" y="0"/>
                    </a:moveTo>
                    <a:lnTo>
                      <a:pt x="3630613" y="0"/>
                    </a:lnTo>
                    <a:cubicBezTo>
                      <a:pt x="3639875" y="0"/>
                      <a:pt x="3647384" y="7509"/>
                      <a:pt x="3647384" y="16771"/>
                    </a:cubicBezTo>
                    <a:lnTo>
                      <a:pt x="3647384" y="1544137"/>
                    </a:lnTo>
                    <a:cubicBezTo>
                      <a:pt x="3647384" y="1553399"/>
                      <a:pt x="3639875" y="1560908"/>
                      <a:pt x="3630613" y="1560908"/>
                    </a:cubicBezTo>
                    <a:lnTo>
                      <a:pt x="16771" y="1560908"/>
                    </a:lnTo>
                    <a:cubicBezTo>
                      <a:pt x="7509" y="1560908"/>
                      <a:pt x="0" y="1553399"/>
                      <a:pt x="0" y="1544137"/>
                    </a:cubicBezTo>
                    <a:lnTo>
                      <a:pt x="0" y="16771"/>
                    </a:lnTo>
                    <a:cubicBezTo>
                      <a:pt x="0" y="7509"/>
                      <a:pt x="7509" y="0"/>
                      <a:pt x="16771" y="0"/>
                    </a:cubicBezTo>
                    <a:close/>
                  </a:path>
                </a:pathLst>
              </a:custGeom>
              <a:solidFill>
                <a:srgbClr val="FFFFFF"/>
              </a:solidFill>
              <a:ln cap="rnd">
                <a:noFill/>
                <a:prstDash val="solid"/>
                <a:round/>
              </a:ln>
            </p:spPr>
          </p:sp>
          <p:sp>
            <p:nvSpPr>
              <p:cNvPr name="TextBox 13" id="13"/>
              <p:cNvSpPr txBox="true"/>
              <p:nvPr/>
            </p:nvSpPr>
            <p:spPr>
              <a:xfrm>
                <a:off x="0" y="-38100"/>
                <a:ext cx="3647384" cy="1599008"/>
              </a:xfrm>
              <a:prstGeom prst="rect">
                <a:avLst/>
              </a:prstGeom>
            </p:spPr>
            <p:txBody>
              <a:bodyPr anchor="ctr" rtlCol="false" tIns="50800" lIns="50800" bIns="50800" rIns="50800"/>
              <a:lstStyle/>
              <a:p>
                <a:pPr algn="ctr">
                  <a:lnSpc>
                    <a:spcPts val="2940"/>
                  </a:lnSpc>
                </a:pPr>
              </a:p>
            </p:txBody>
          </p:sp>
        </p:grpSp>
      </p:grpSp>
      <p:grpSp>
        <p:nvGrpSpPr>
          <p:cNvPr name="Group 14" id="14"/>
          <p:cNvGrpSpPr/>
          <p:nvPr/>
        </p:nvGrpSpPr>
        <p:grpSpPr>
          <a:xfrm rot="0">
            <a:off x="3200609" y="1028700"/>
            <a:ext cx="12345354" cy="1765751"/>
            <a:chOff x="0" y="0"/>
            <a:chExt cx="3871319" cy="553713"/>
          </a:xfrm>
        </p:grpSpPr>
        <p:sp>
          <p:nvSpPr>
            <p:cNvPr name="Freeform 15" id="15"/>
            <p:cNvSpPr/>
            <p:nvPr/>
          </p:nvSpPr>
          <p:spPr>
            <a:xfrm flipH="false" flipV="false" rot="0">
              <a:off x="0" y="0"/>
              <a:ext cx="3871319" cy="553713"/>
            </a:xfrm>
            <a:custGeom>
              <a:avLst/>
              <a:gdLst/>
              <a:ahLst/>
              <a:cxnLst/>
              <a:rect r="r" b="b" t="t" l="l"/>
              <a:pathLst>
                <a:path h="553713" w="3871319">
                  <a:moveTo>
                    <a:pt x="12542" y="0"/>
                  </a:moveTo>
                  <a:lnTo>
                    <a:pt x="3858777" y="0"/>
                  </a:lnTo>
                  <a:cubicBezTo>
                    <a:pt x="3865704" y="0"/>
                    <a:pt x="3871319" y="5615"/>
                    <a:pt x="3871319" y="12542"/>
                  </a:cubicBezTo>
                  <a:lnTo>
                    <a:pt x="3871319" y="541171"/>
                  </a:lnTo>
                  <a:cubicBezTo>
                    <a:pt x="3871319" y="548098"/>
                    <a:pt x="3865704" y="553713"/>
                    <a:pt x="3858777" y="553713"/>
                  </a:cubicBezTo>
                  <a:lnTo>
                    <a:pt x="12542" y="553713"/>
                  </a:lnTo>
                  <a:cubicBezTo>
                    <a:pt x="5615" y="553713"/>
                    <a:pt x="0" y="548098"/>
                    <a:pt x="0" y="541171"/>
                  </a:cubicBezTo>
                  <a:lnTo>
                    <a:pt x="0" y="12542"/>
                  </a:lnTo>
                  <a:cubicBezTo>
                    <a:pt x="0" y="5615"/>
                    <a:pt x="5615" y="0"/>
                    <a:pt x="1254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6" id="16"/>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TextBox 17" id="17"/>
          <p:cNvSpPr txBox="true"/>
          <p:nvPr/>
        </p:nvSpPr>
        <p:spPr>
          <a:xfrm rot="0">
            <a:off x="1673011" y="3272140"/>
            <a:ext cx="14941979" cy="4125438"/>
          </a:xfrm>
          <a:prstGeom prst="rect">
            <a:avLst/>
          </a:prstGeom>
        </p:spPr>
        <p:txBody>
          <a:bodyPr anchor="t" rtlCol="false" tIns="0" lIns="0" bIns="0" rIns="0">
            <a:spAutoFit/>
          </a:bodyPr>
          <a:lstStyle/>
          <a:p>
            <a:pPr algn="l" marL="719203" indent="-359601" lvl="1">
              <a:lnSpc>
                <a:spcPts val="4663"/>
              </a:lnSpc>
              <a:buFont typeface="Arial"/>
              <a:buChar char="•"/>
            </a:pPr>
            <a:r>
              <a:rPr lang="en-US" sz="3331">
                <a:solidFill>
                  <a:srgbClr val="0B1B45"/>
                </a:solidFill>
                <a:latin typeface="Arial"/>
                <a:ea typeface="Arial"/>
                <a:cs typeface="Arial"/>
                <a:sym typeface="Arial"/>
              </a:rPr>
              <a:t>Ampliar la muestra de colegios, comunas y locales registrados</a:t>
            </a:r>
          </a:p>
          <a:p>
            <a:pPr algn="l" marL="719203" indent="-359601" lvl="1">
              <a:lnSpc>
                <a:spcPts val="4663"/>
              </a:lnSpc>
              <a:buFont typeface="Arial"/>
              <a:buChar char="•"/>
            </a:pPr>
            <a:r>
              <a:rPr lang="en-US" sz="3331">
                <a:solidFill>
                  <a:srgbClr val="0B1B45"/>
                </a:solidFill>
                <a:latin typeface="Arial"/>
                <a:ea typeface="Arial"/>
                <a:cs typeface="Arial"/>
                <a:sym typeface="Arial"/>
              </a:rPr>
              <a:t>Incorporar variables explicativas como tipo de local, cantidad de establecimientos registrados, etc.</a:t>
            </a:r>
          </a:p>
          <a:p>
            <a:pPr algn="l" marL="719203" indent="-359601" lvl="1">
              <a:lnSpc>
                <a:spcPts val="4663"/>
              </a:lnSpc>
              <a:buFont typeface="Arial"/>
              <a:buChar char="•"/>
            </a:pPr>
            <a:r>
              <a:rPr lang="en-US" sz="3331">
                <a:solidFill>
                  <a:srgbClr val="0B1B45"/>
                </a:solidFill>
                <a:latin typeface="Arial"/>
                <a:ea typeface="Arial"/>
                <a:cs typeface="Arial"/>
                <a:sym typeface="Arial"/>
              </a:rPr>
              <a:t>Investigar y probar otros modelos de regresión lineal.</a:t>
            </a:r>
          </a:p>
          <a:p>
            <a:pPr algn="l" marL="719203" indent="-359601" lvl="1">
              <a:lnSpc>
                <a:spcPts val="4663"/>
              </a:lnSpc>
              <a:buFont typeface="Arial"/>
              <a:buChar char="•"/>
            </a:pPr>
            <a:r>
              <a:rPr lang="en-US" sz="3331">
                <a:solidFill>
                  <a:srgbClr val="0B1B45"/>
                </a:solidFill>
                <a:latin typeface="Arial"/>
                <a:ea typeface="Arial"/>
                <a:cs typeface="Arial"/>
                <a:sym typeface="Arial"/>
              </a:rPr>
              <a:t>Investigar sobre más casos de desigualdad alimentaria, el por qué ocurren y como evitarlos.</a:t>
            </a:r>
          </a:p>
          <a:p>
            <a:pPr algn="l">
              <a:lnSpc>
                <a:spcPts val="4663"/>
              </a:lnSpc>
            </a:pPr>
          </a:p>
        </p:txBody>
      </p:sp>
      <p:sp>
        <p:nvSpPr>
          <p:cNvPr name="AutoShape 18" id="18"/>
          <p:cNvSpPr/>
          <p:nvPr/>
        </p:nvSpPr>
        <p:spPr>
          <a:xfrm flipV="true">
            <a:off x="1028700" y="9258300"/>
            <a:ext cx="16464787" cy="9525"/>
          </a:xfrm>
          <a:prstGeom prst="line">
            <a:avLst/>
          </a:prstGeom>
          <a:ln cap="flat" w="19050">
            <a:solidFill>
              <a:srgbClr val="FFFFFF"/>
            </a:solidFill>
            <a:prstDash val="solid"/>
            <a:headEnd type="none" len="sm" w="sm"/>
            <a:tailEnd type="none" len="sm" w="sm"/>
          </a:ln>
        </p:spPr>
      </p:sp>
      <p:sp>
        <p:nvSpPr>
          <p:cNvPr name="TextBox 19" id="19"/>
          <p:cNvSpPr txBox="true"/>
          <p:nvPr/>
        </p:nvSpPr>
        <p:spPr>
          <a:xfrm rot="0">
            <a:off x="3751193" y="1444481"/>
            <a:ext cx="11244186" cy="824577"/>
          </a:xfrm>
          <a:prstGeom prst="rect">
            <a:avLst/>
          </a:prstGeom>
        </p:spPr>
        <p:txBody>
          <a:bodyPr anchor="t" rtlCol="false" tIns="0" lIns="0" bIns="0" rIns="0">
            <a:spAutoFit/>
          </a:bodyPr>
          <a:lstStyle/>
          <a:p>
            <a:pPr algn="ctr">
              <a:lnSpc>
                <a:spcPts val="6525"/>
              </a:lnSpc>
            </a:pPr>
            <a:r>
              <a:rPr lang="en-US" sz="4661" b="true">
                <a:solidFill>
                  <a:srgbClr val="FFFFFF"/>
                </a:solidFill>
                <a:latin typeface="Arial Bold"/>
                <a:ea typeface="Arial Bold"/>
                <a:cs typeface="Arial Bold"/>
                <a:sym typeface="Arial Bold"/>
              </a:rPr>
              <a:t>Pasos a seguir</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9950921" y="13205125"/>
            <a:ext cx="800350" cy="417292"/>
          </a:xfrm>
          <a:custGeom>
            <a:avLst/>
            <a:gdLst/>
            <a:ahLst/>
            <a:cxnLst/>
            <a:rect r="r" b="b" t="t" l="l"/>
            <a:pathLst>
              <a:path h="417292" w="800350">
                <a:moveTo>
                  <a:pt x="0" y="0"/>
                </a:moveTo>
                <a:lnTo>
                  <a:pt x="800350" y="0"/>
                </a:lnTo>
                <a:lnTo>
                  <a:pt x="800350" y="417292"/>
                </a:lnTo>
                <a:lnTo>
                  <a:pt x="0" y="4172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53085" y="2264370"/>
            <a:ext cx="16240402" cy="6635006"/>
            <a:chOff x="0" y="0"/>
            <a:chExt cx="21653870" cy="8846675"/>
          </a:xfrm>
        </p:grpSpPr>
        <p:grpSp>
          <p:nvGrpSpPr>
            <p:cNvPr name="Group 5" id="5"/>
            <p:cNvGrpSpPr/>
            <p:nvPr/>
          </p:nvGrpSpPr>
          <p:grpSpPr>
            <a:xfrm rot="0">
              <a:off x="0" y="586148"/>
              <a:ext cx="1490763" cy="7674378"/>
              <a:chOff x="0" y="0"/>
              <a:chExt cx="263030" cy="1354068"/>
            </a:xfrm>
          </p:grpSpPr>
          <p:sp>
            <p:nvSpPr>
              <p:cNvPr name="Freeform 6" id="6"/>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7" id="7"/>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8" id="8"/>
            <p:cNvGrpSpPr/>
            <p:nvPr/>
          </p:nvGrpSpPr>
          <p:grpSpPr>
            <a:xfrm rot="-10800000">
              <a:off x="20163107" y="586148"/>
              <a:ext cx="1490763" cy="7674378"/>
              <a:chOff x="0" y="0"/>
              <a:chExt cx="263030" cy="1354068"/>
            </a:xfrm>
          </p:grpSpPr>
          <p:sp>
            <p:nvSpPr>
              <p:cNvPr name="Freeform 9" id="9"/>
              <p:cNvSpPr/>
              <p:nvPr/>
            </p:nvSpPr>
            <p:spPr>
              <a:xfrm flipH="false" flipV="false" rot="0">
                <a:off x="0" y="0"/>
                <a:ext cx="263030" cy="1354068"/>
              </a:xfrm>
              <a:custGeom>
                <a:avLst/>
                <a:gdLst/>
                <a:ahLst/>
                <a:cxnLst/>
                <a:rect r="r" b="b" t="t" l="l"/>
                <a:pathLst>
                  <a:path h="1354068" w="263030">
                    <a:moveTo>
                      <a:pt x="131515" y="0"/>
                    </a:moveTo>
                    <a:lnTo>
                      <a:pt x="131515" y="0"/>
                    </a:lnTo>
                    <a:cubicBezTo>
                      <a:pt x="166395" y="0"/>
                      <a:pt x="199847" y="13856"/>
                      <a:pt x="224510" y="38520"/>
                    </a:cubicBezTo>
                    <a:cubicBezTo>
                      <a:pt x="249174" y="63184"/>
                      <a:pt x="263030" y="96635"/>
                      <a:pt x="263030" y="131515"/>
                    </a:cubicBezTo>
                    <a:lnTo>
                      <a:pt x="263030" y="1222553"/>
                    </a:lnTo>
                    <a:cubicBezTo>
                      <a:pt x="263030" y="1257433"/>
                      <a:pt x="249174" y="1290884"/>
                      <a:pt x="224510" y="1315548"/>
                    </a:cubicBezTo>
                    <a:cubicBezTo>
                      <a:pt x="199847" y="1340212"/>
                      <a:pt x="166395" y="1354068"/>
                      <a:pt x="131515" y="1354068"/>
                    </a:cubicBezTo>
                    <a:lnTo>
                      <a:pt x="131515" y="1354068"/>
                    </a:lnTo>
                    <a:cubicBezTo>
                      <a:pt x="96635" y="1354068"/>
                      <a:pt x="63184" y="1340212"/>
                      <a:pt x="38520" y="1315548"/>
                    </a:cubicBezTo>
                    <a:cubicBezTo>
                      <a:pt x="13856" y="1290884"/>
                      <a:pt x="0" y="1257433"/>
                      <a:pt x="0" y="1222553"/>
                    </a:cubicBezTo>
                    <a:lnTo>
                      <a:pt x="0" y="131515"/>
                    </a:lnTo>
                    <a:cubicBezTo>
                      <a:pt x="0" y="96635"/>
                      <a:pt x="13856" y="63184"/>
                      <a:pt x="38520" y="38520"/>
                    </a:cubicBezTo>
                    <a:cubicBezTo>
                      <a:pt x="63184" y="13856"/>
                      <a:pt x="96635" y="0"/>
                      <a:pt x="131515" y="0"/>
                    </a:cubicBezTo>
                    <a:close/>
                  </a:path>
                </a:pathLst>
              </a:custGeom>
              <a:gradFill rotWithShape="true">
                <a:gsLst>
                  <a:gs pos="0">
                    <a:srgbClr val="064E99">
                      <a:alpha val="100000"/>
                    </a:srgbClr>
                  </a:gs>
                  <a:gs pos="50000">
                    <a:srgbClr val="7194CD">
                      <a:alpha val="100000"/>
                    </a:srgbClr>
                  </a:gs>
                  <a:gs pos="100000">
                    <a:srgbClr val="CBDFFF">
                      <a:alpha val="100000"/>
                    </a:srgbClr>
                  </a:gs>
                </a:gsLst>
                <a:path path="circle">
                  <a:fillToRect l="0" r="100000" t="0" b="100000"/>
                </a:path>
                <a:tileRect r="0" l="-100000" b="0" t="-100000"/>
              </a:gradFill>
              <a:ln cap="rnd">
                <a:noFill/>
                <a:prstDash val="solid"/>
                <a:round/>
              </a:ln>
            </p:spPr>
          </p:sp>
          <p:sp>
            <p:nvSpPr>
              <p:cNvPr name="TextBox 10" id="10"/>
              <p:cNvSpPr txBox="true"/>
              <p:nvPr/>
            </p:nvSpPr>
            <p:spPr>
              <a:xfrm>
                <a:off x="0" y="-38100"/>
                <a:ext cx="263030" cy="1392168"/>
              </a:xfrm>
              <a:prstGeom prst="rect">
                <a:avLst/>
              </a:prstGeom>
            </p:spPr>
            <p:txBody>
              <a:bodyPr anchor="ctr" rtlCol="false" tIns="50800" lIns="50800" bIns="50800" rIns="50800"/>
              <a:lstStyle/>
              <a:p>
                <a:pPr algn="ctr" marL="0" indent="0" lvl="0">
                  <a:lnSpc>
                    <a:spcPts val="2940"/>
                  </a:lnSpc>
                  <a:spcBef>
                    <a:spcPct val="0"/>
                  </a:spcBef>
                </a:pPr>
              </a:p>
            </p:txBody>
          </p:sp>
        </p:grpSp>
        <p:grpSp>
          <p:nvGrpSpPr>
            <p:cNvPr name="Group 11" id="11"/>
            <p:cNvGrpSpPr/>
            <p:nvPr/>
          </p:nvGrpSpPr>
          <p:grpSpPr>
            <a:xfrm rot="0">
              <a:off x="492333" y="0"/>
              <a:ext cx="20672081" cy="8846675"/>
              <a:chOff x="0" y="0"/>
              <a:chExt cx="3647384" cy="1560908"/>
            </a:xfrm>
          </p:grpSpPr>
          <p:sp>
            <p:nvSpPr>
              <p:cNvPr name="Freeform 12" id="12"/>
              <p:cNvSpPr/>
              <p:nvPr/>
            </p:nvSpPr>
            <p:spPr>
              <a:xfrm flipH="false" flipV="false" rot="0">
                <a:off x="0" y="0"/>
                <a:ext cx="3647384" cy="1560908"/>
              </a:xfrm>
              <a:custGeom>
                <a:avLst/>
                <a:gdLst/>
                <a:ahLst/>
                <a:cxnLst/>
                <a:rect r="r" b="b" t="t" l="l"/>
                <a:pathLst>
                  <a:path h="1560908" w="3647384">
                    <a:moveTo>
                      <a:pt x="16771" y="0"/>
                    </a:moveTo>
                    <a:lnTo>
                      <a:pt x="3630613" y="0"/>
                    </a:lnTo>
                    <a:cubicBezTo>
                      <a:pt x="3639875" y="0"/>
                      <a:pt x="3647384" y="7509"/>
                      <a:pt x="3647384" y="16771"/>
                    </a:cubicBezTo>
                    <a:lnTo>
                      <a:pt x="3647384" y="1544137"/>
                    </a:lnTo>
                    <a:cubicBezTo>
                      <a:pt x="3647384" y="1553399"/>
                      <a:pt x="3639875" y="1560908"/>
                      <a:pt x="3630613" y="1560908"/>
                    </a:cubicBezTo>
                    <a:lnTo>
                      <a:pt x="16771" y="1560908"/>
                    </a:lnTo>
                    <a:cubicBezTo>
                      <a:pt x="7509" y="1560908"/>
                      <a:pt x="0" y="1553399"/>
                      <a:pt x="0" y="1544137"/>
                    </a:cubicBezTo>
                    <a:lnTo>
                      <a:pt x="0" y="16771"/>
                    </a:lnTo>
                    <a:cubicBezTo>
                      <a:pt x="0" y="7509"/>
                      <a:pt x="7509" y="0"/>
                      <a:pt x="16771" y="0"/>
                    </a:cubicBezTo>
                    <a:close/>
                  </a:path>
                </a:pathLst>
              </a:custGeom>
              <a:solidFill>
                <a:srgbClr val="FFFFFF"/>
              </a:solidFill>
              <a:ln cap="rnd">
                <a:noFill/>
                <a:prstDash val="solid"/>
                <a:round/>
              </a:ln>
            </p:spPr>
          </p:sp>
          <p:sp>
            <p:nvSpPr>
              <p:cNvPr name="TextBox 13" id="13"/>
              <p:cNvSpPr txBox="true"/>
              <p:nvPr/>
            </p:nvSpPr>
            <p:spPr>
              <a:xfrm>
                <a:off x="0" y="-38100"/>
                <a:ext cx="3647384" cy="1599008"/>
              </a:xfrm>
              <a:prstGeom prst="rect">
                <a:avLst/>
              </a:prstGeom>
            </p:spPr>
            <p:txBody>
              <a:bodyPr anchor="ctr" rtlCol="false" tIns="50800" lIns="50800" bIns="50800" rIns="50800"/>
              <a:lstStyle/>
              <a:p>
                <a:pPr algn="ctr">
                  <a:lnSpc>
                    <a:spcPts val="2940"/>
                  </a:lnSpc>
                </a:pPr>
              </a:p>
            </p:txBody>
          </p:sp>
        </p:grpSp>
      </p:grpSp>
      <p:grpSp>
        <p:nvGrpSpPr>
          <p:cNvPr name="Group 14" id="14"/>
          <p:cNvGrpSpPr/>
          <p:nvPr/>
        </p:nvGrpSpPr>
        <p:grpSpPr>
          <a:xfrm rot="0">
            <a:off x="3200609" y="1028700"/>
            <a:ext cx="12345354" cy="1765751"/>
            <a:chOff x="0" y="0"/>
            <a:chExt cx="3871319" cy="553713"/>
          </a:xfrm>
        </p:grpSpPr>
        <p:sp>
          <p:nvSpPr>
            <p:cNvPr name="Freeform 15" id="15"/>
            <p:cNvSpPr/>
            <p:nvPr/>
          </p:nvSpPr>
          <p:spPr>
            <a:xfrm flipH="false" flipV="false" rot="0">
              <a:off x="0" y="0"/>
              <a:ext cx="3871319" cy="553713"/>
            </a:xfrm>
            <a:custGeom>
              <a:avLst/>
              <a:gdLst/>
              <a:ahLst/>
              <a:cxnLst/>
              <a:rect r="r" b="b" t="t" l="l"/>
              <a:pathLst>
                <a:path h="553713" w="3871319">
                  <a:moveTo>
                    <a:pt x="12542" y="0"/>
                  </a:moveTo>
                  <a:lnTo>
                    <a:pt x="3858777" y="0"/>
                  </a:lnTo>
                  <a:cubicBezTo>
                    <a:pt x="3865704" y="0"/>
                    <a:pt x="3871319" y="5615"/>
                    <a:pt x="3871319" y="12542"/>
                  </a:cubicBezTo>
                  <a:lnTo>
                    <a:pt x="3871319" y="541171"/>
                  </a:lnTo>
                  <a:cubicBezTo>
                    <a:pt x="3871319" y="548098"/>
                    <a:pt x="3865704" y="553713"/>
                    <a:pt x="3858777" y="553713"/>
                  </a:cubicBezTo>
                  <a:lnTo>
                    <a:pt x="12542" y="553713"/>
                  </a:lnTo>
                  <a:cubicBezTo>
                    <a:pt x="5615" y="553713"/>
                    <a:pt x="0" y="548098"/>
                    <a:pt x="0" y="541171"/>
                  </a:cubicBezTo>
                  <a:lnTo>
                    <a:pt x="0" y="12542"/>
                  </a:lnTo>
                  <a:cubicBezTo>
                    <a:pt x="0" y="5615"/>
                    <a:pt x="5615" y="0"/>
                    <a:pt x="12542"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6" id="16"/>
            <p:cNvSpPr txBox="true"/>
            <p:nvPr/>
          </p:nvSpPr>
          <p:spPr>
            <a:xfrm>
              <a:off x="0" y="-66675"/>
              <a:ext cx="3871319" cy="620388"/>
            </a:xfrm>
            <a:prstGeom prst="rect">
              <a:avLst/>
            </a:prstGeom>
          </p:spPr>
          <p:txBody>
            <a:bodyPr anchor="ctr" rtlCol="false" tIns="47543" lIns="47543" bIns="47543" rIns="47543"/>
            <a:lstStyle/>
            <a:p>
              <a:pPr algn="ctr">
                <a:lnSpc>
                  <a:spcPts val="3418"/>
                </a:lnSpc>
              </a:pPr>
            </a:p>
          </p:txBody>
        </p:sp>
      </p:grpSp>
      <p:sp>
        <p:nvSpPr>
          <p:cNvPr name="TextBox 17" id="17"/>
          <p:cNvSpPr txBox="true"/>
          <p:nvPr/>
        </p:nvSpPr>
        <p:spPr>
          <a:xfrm rot="0">
            <a:off x="1673011" y="3291190"/>
            <a:ext cx="14941979" cy="481330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B1B45"/>
                </a:solidFill>
                <a:latin typeface="Arial"/>
                <a:ea typeface="Arial"/>
                <a:cs typeface="Arial"/>
                <a:sym typeface="Arial"/>
              </a:rPr>
              <a:t>Ministerio de Educación de Chile, Subsecretaría de Educación. (2024). Resum</a:t>
            </a:r>
            <a:r>
              <a:rPr lang="en-US" sz="2499">
                <a:solidFill>
                  <a:srgbClr val="0B1B45"/>
                </a:solidFill>
                <a:latin typeface="Arial"/>
                <a:ea typeface="Arial"/>
                <a:cs typeface="Arial"/>
                <a:sym typeface="Arial"/>
              </a:rPr>
              <a:t>en de matrícula por establecimiento educacional. MINEDUC.</a:t>
            </a:r>
          </a:p>
          <a:p>
            <a:pPr algn="l">
              <a:lnSpc>
                <a:spcPts val="3499"/>
              </a:lnSpc>
            </a:pPr>
          </a:p>
          <a:p>
            <a:pPr algn="l" marL="539749" indent="-269875" lvl="1">
              <a:lnSpc>
                <a:spcPts val="3499"/>
              </a:lnSpc>
              <a:buFont typeface="Arial"/>
              <a:buChar char="•"/>
            </a:pPr>
            <a:r>
              <a:rPr lang="en-US" sz="2499">
                <a:solidFill>
                  <a:srgbClr val="0B1B45"/>
                </a:solidFill>
                <a:latin typeface="Arial"/>
                <a:ea typeface="Arial"/>
                <a:cs typeface="Arial"/>
                <a:sym typeface="Arial"/>
              </a:rPr>
              <a:t>Ministerio de Educación de Chile. (2024). SAE multidimensional 2024. MINEDUC.</a:t>
            </a:r>
          </a:p>
          <a:p>
            <a:pPr algn="l">
              <a:lnSpc>
                <a:spcPts val="3499"/>
              </a:lnSpc>
            </a:pPr>
          </a:p>
          <a:p>
            <a:pPr algn="l" marL="539749" indent="-269875" lvl="1">
              <a:lnSpc>
                <a:spcPts val="3499"/>
              </a:lnSpc>
              <a:buFont typeface="Arial"/>
              <a:buChar char="•"/>
            </a:pPr>
            <a:r>
              <a:rPr lang="en-US" sz="2499">
                <a:solidFill>
                  <a:srgbClr val="0B1B45"/>
                </a:solidFill>
                <a:latin typeface="Arial"/>
                <a:ea typeface="Arial"/>
                <a:cs typeface="Arial"/>
                <a:sym typeface="Arial"/>
              </a:rPr>
              <a:t>Oróstica, K. (2026). Análisis exploratorio y estadística descriptiva. Universidad del Desarrollo.</a:t>
            </a:r>
          </a:p>
          <a:p>
            <a:pPr algn="l">
              <a:lnSpc>
                <a:spcPts val="3499"/>
              </a:lnSpc>
            </a:pPr>
          </a:p>
          <a:p>
            <a:pPr algn="l" marL="539749" indent="-269875" lvl="1">
              <a:lnSpc>
                <a:spcPts val="3499"/>
              </a:lnSpc>
              <a:buFont typeface="Arial"/>
              <a:buChar char="•"/>
            </a:pPr>
            <a:r>
              <a:rPr lang="en-US" sz="2499">
                <a:solidFill>
                  <a:srgbClr val="0B1B45"/>
                </a:solidFill>
                <a:latin typeface="Arial"/>
                <a:ea typeface="Arial"/>
                <a:cs typeface="Arial"/>
                <a:sym typeface="Arial"/>
              </a:rPr>
              <a:t>Pinheiro, A. C., Quintiliano-Scarpelli, D., Flores, J. A., Álvarez, C., Suárez-Reyes, M., Palacios, J. L., Quevedo, T. P., &amp; de Oliveira, M. R. M. (2022). Food availability in different food environments surrounding schools in a vulnerable urban area of Santiago, Chile. Foods, 11(7), 901.</a:t>
            </a:r>
          </a:p>
          <a:p>
            <a:pPr algn="l">
              <a:lnSpc>
                <a:spcPts val="3499"/>
              </a:lnSpc>
            </a:pPr>
          </a:p>
        </p:txBody>
      </p:sp>
      <p:sp>
        <p:nvSpPr>
          <p:cNvPr name="AutoShape 18" id="18"/>
          <p:cNvSpPr/>
          <p:nvPr/>
        </p:nvSpPr>
        <p:spPr>
          <a:xfrm flipV="true">
            <a:off x="1028700" y="9258300"/>
            <a:ext cx="16464787" cy="9525"/>
          </a:xfrm>
          <a:prstGeom prst="line">
            <a:avLst/>
          </a:prstGeom>
          <a:ln cap="flat" w="19050">
            <a:solidFill>
              <a:srgbClr val="FFFFFF"/>
            </a:solidFill>
            <a:prstDash val="solid"/>
            <a:headEnd type="none" len="sm" w="sm"/>
            <a:tailEnd type="none" len="sm" w="sm"/>
          </a:ln>
        </p:spPr>
      </p:sp>
      <p:sp>
        <p:nvSpPr>
          <p:cNvPr name="TextBox 19" id="19"/>
          <p:cNvSpPr txBox="true"/>
          <p:nvPr/>
        </p:nvSpPr>
        <p:spPr>
          <a:xfrm rot="0">
            <a:off x="3751193" y="1444481"/>
            <a:ext cx="11244186" cy="824577"/>
          </a:xfrm>
          <a:prstGeom prst="rect">
            <a:avLst/>
          </a:prstGeom>
        </p:spPr>
        <p:txBody>
          <a:bodyPr anchor="t" rtlCol="false" tIns="0" lIns="0" bIns="0" rIns="0">
            <a:spAutoFit/>
          </a:bodyPr>
          <a:lstStyle/>
          <a:p>
            <a:pPr algn="ctr">
              <a:lnSpc>
                <a:spcPts val="6525"/>
              </a:lnSpc>
            </a:pPr>
            <a:r>
              <a:rPr lang="en-US" sz="4661" b="true">
                <a:solidFill>
                  <a:srgbClr val="FFFFFF"/>
                </a:solidFill>
                <a:latin typeface="Arial Bold"/>
                <a:ea typeface="Arial Bold"/>
                <a:cs typeface="Arial Bold"/>
                <a:sym typeface="Arial Bold"/>
              </a:rPr>
              <a:t>Bibliografía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Freeform 3" id="3"/>
          <p:cNvSpPr/>
          <p:nvPr/>
        </p:nvSpPr>
        <p:spPr>
          <a:xfrm flipH="false" flipV="false" rot="0">
            <a:off x="16590199" y="8123047"/>
            <a:ext cx="2724332" cy="1490953"/>
          </a:xfrm>
          <a:custGeom>
            <a:avLst/>
            <a:gdLst/>
            <a:ahLst/>
            <a:cxnLst/>
            <a:rect r="r" b="b" t="t" l="l"/>
            <a:pathLst>
              <a:path h="1490953" w="2724332">
                <a:moveTo>
                  <a:pt x="0" y="0"/>
                </a:moveTo>
                <a:lnTo>
                  <a:pt x="2724332" y="0"/>
                </a:lnTo>
                <a:lnTo>
                  <a:pt x="2724332" y="1490952"/>
                </a:lnTo>
                <a:lnTo>
                  <a:pt x="0" y="14909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6531" y="373368"/>
            <a:ext cx="2724332" cy="1490953"/>
          </a:xfrm>
          <a:custGeom>
            <a:avLst/>
            <a:gdLst/>
            <a:ahLst/>
            <a:cxnLst/>
            <a:rect r="r" b="b" t="t" l="l"/>
            <a:pathLst>
              <a:path h="1490953" w="2724332">
                <a:moveTo>
                  <a:pt x="0" y="0"/>
                </a:moveTo>
                <a:lnTo>
                  <a:pt x="2724332" y="0"/>
                </a:lnTo>
                <a:lnTo>
                  <a:pt x="2724332" y="1490953"/>
                </a:lnTo>
                <a:lnTo>
                  <a:pt x="0" y="14909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3602637"/>
            <a:ext cx="16230600" cy="1607115"/>
          </a:xfrm>
          <a:prstGeom prst="rect">
            <a:avLst/>
          </a:prstGeom>
        </p:spPr>
        <p:txBody>
          <a:bodyPr anchor="t" rtlCol="false" tIns="0" lIns="0" bIns="0" rIns="0">
            <a:spAutoFit/>
          </a:bodyPr>
          <a:lstStyle/>
          <a:p>
            <a:pPr algn="ctr">
              <a:lnSpc>
                <a:spcPts val="13268"/>
              </a:lnSpc>
            </a:pPr>
            <a:r>
              <a:rPr lang="en-US" sz="9477" b="true">
                <a:solidFill>
                  <a:srgbClr val="FFFFFF"/>
                </a:solidFill>
                <a:latin typeface="IBM Plex Sans Bold"/>
                <a:ea typeface="IBM Plex Sans Bold"/>
                <a:cs typeface="IBM Plex Sans Bold"/>
                <a:sym typeface="IBM Plex Sans Bold"/>
              </a:rPr>
              <a:t>¡Gracias por su atención!</a:t>
            </a:r>
          </a:p>
        </p:txBody>
      </p:sp>
      <p:sp>
        <p:nvSpPr>
          <p:cNvPr name="Freeform 6" id="6"/>
          <p:cNvSpPr/>
          <p:nvPr/>
        </p:nvSpPr>
        <p:spPr>
          <a:xfrm flipH="false" flipV="false" rot="0">
            <a:off x="16580809" y="0"/>
            <a:ext cx="2927694" cy="2235694"/>
          </a:xfrm>
          <a:custGeom>
            <a:avLst/>
            <a:gdLst/>
            <a:ahLst/>
            <a:cxnLst/>
            <a:rect r="r" b="b" t="t" l="l"/>
            <a:pathLst>
              <a:path h="2235694" w="2927694">
                <a:moveTo>
                  <a:pt x="0" y="0"/>
                </a:moveTo>
                <a:lnTo>
                  <a:pt x="2927695" y="0"/>
                </a:lnTo>
                <a:lnTo>
                  <a:pt x="2927695" y="2235694"/>
                </a:lnTo>
                <a:lnTo>
                  <a:pt x="0" y="22356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0800000">
            <a:off x="-1219741" y="8051306"/>
            <a:ext cx="2927694" cy="2235694"/>
          </a:xfrm>
          <a:custGeom>
            <a:avLst/>
            <a:gdLst/>
            <a:ahLst/>
            <a:cxnLst/>
            <a:rect r="r" b="b" t="t" l="l"/>
            <a:pathLst>
              <a:path h="2235694" w="2927694">
                <a:moveTo>
                  <a:pt x="0" y="0"/>
                </a:moveTo>
                <a:lnTo>
                  <a:pt x="2927694" y="0"/>
                </a:lnTo>
                <a:lnTo>
                  <a:pt x="2927694" y="2235694"/>
                </a:lnTo>
                <a:lnTo>
                  <a:pt x="0" y="22356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814409" y="2348845"/>
            <a:ext cx="2659182" cy="1374685"/>
          </a:xfrm>
          <a:prstGeom prst="rect">
            <a:avLst/>
          </a:prstGeom>
        </p:spPr>
        <p:txBody>
          <a:bodyPr anchor="t" rtlCol="false" tIns="0" lIns="0" bIns="0" rIns="0">
            <a:spAutoFit/>
          </a:bodyPr>
          <a:lstStyle/>
          <a:p>
            <a:pPr algn="ctr">
              <a:lnSpc>
                <a:spcPts val="5604"/>
              </a:lnSpc>
            </a:pPr>
            <a:r>
              <a:rPr lang="en-US" b="true" sz="4003">
                <a:solidFill>
                  <a:srgbClr val="FFFFFF"/>
                </a:solidFill>
                <a:latin typeface="IBM Plex Sans Bold"/>
                <a:ea typeface="IBM Plex Sans Bold"/>
                <a:cs typeface="IBM Plex Sans Bold"/>
                <a:sym typeface="IBM Plex Sans Bold"/>
              </a:rPr>
              <a:t>EQUIPO</a:t>
            </a:r>
          </a:p>
          <a:p>
            <a:pPr algn="ctr">
              <a:lnSpc>
                <a:spcPts val="5604"/>
              </a:lnSpc>
            </a:pPr>
            <a:r>
              <a:rPr lang="en-US" b="true" sz="4003">
                <a:solidFill>
                  <a:srgbClr val="FFFFFF"/>
                </a:solidFill>
                <a:latin typeface="IBM Plex Sans Bold"/>
                <a:ea typeface="IBM Plex Sans Bold"/>
                <a:cs typeface="IBM Plex Sans Bold"/>
                <a:sym typeface="IBM Plex Sans Bold"/>
              </a:rPr>
              <a:t>N.C</a:t>
            </a:r>
          </a:p>
        </p:txBody>
      </p:sp>
      <p:grpSp>
        <p:nvGrpSpPr>
          <p:cNvPr name="Group 9" id="9"/>
          <p:cNvGrpSpPr/>
          <p:nvPr/>
        </p:nvGrpSpPr>
        <p:grpSpPr>
          <a:xfrm rot="-10800000">
            <a:off x="3422689" y="5542806"/>
            <a:ext cx="11442623" cy="1076102"/>
            <a:chOff x="0" y="0"/>
            <a:chExt cx="3013695" cy="283418"/>
          </a:xfrm>
        </p:grpSpPr>
        <p:sp>
          <p:nvSpPr>
            <p:cNvPr name="Freeform 10" id="10"/>
            <p:cNvSpPr/>
            <p:nvPr/>
          </p:nvSpPr>
          <p:spPr>
            <a:xfrm flipH="false" flipV="false" rot="0">
              <a:off x="0" y="0"/>
              <a:ext cx="3013695" cy="283418"/>
            </a:xfrm>
            <a:custGeom>
              <a:avLst/>
              <a:gdLst/>
              <a:ahLst/>
              <a:cxnLst/>
              <a:rect r="r" b="b" t="t" l="l"/>
              <a:pathLst>
                <a:path h="283418" w="3013695">
                  <a:moveTo>
                    <a:pt x="8119" y="0"/>
                  </a:moveTo>
                  <a:lnTo>
                    <a:pt x="3005576" y="0"/>
                  </a:lnTo>
                  <a:cubicBezTo>
                    <a:pt x="3007729" y="0"/>
                    <a:pt x="3009794" y="855"/>
                    <a:pt x="3011317" y="2378"/>
                  </a:cubicBezTo>
                  <a:cubicBezTo>
                    <a:pt x="3012840" y="3901"/>
                    <a:pt x="3013695" y="5966"/>
                    <a:pt x="3013695" y="8119"/>
                  </a:cubicBezTo>
                  <a:lnTo>
                    <a:pt x="3013695" y="275299"/>
                  </a:lnTo>
                  <a:cubicBezTo>
                    <a:pt x="3013695" y="279783"/>
                    <a:pt x="3010060" y="283418"/>
                    <a:pt x="3005576" y="283418"/>
                  </a:cubicBezTo>
                  <a:lnTo>
                    <a:pt x="8119" y="283418"/>
                  </a:lnTo>
                  <a:cubicBezTo>
                    <a:pt x="3635" y="283418"/>
                    <a:pt x="0" y="279783"/>
                    <a:pt x="0" y="275299"/>
                  </a:cubicBezTo>
                  <a:lnTo>
                    <a:pt x="0" y="8119"/>
                  </a:lnTo>
                  <a:cubicBezTo>
                    <a:pt x="0" y="3635"/>
                    <a:pt x="3635" y="0"/>
                    <a:pt x="8119" y="0"/>
                  </a:cubicBezTo>
                  <a:close/>
                </a:path>
              </a:pathLst>
            </a:custGeom>
            <a:gradFill rotWithShape="true">
              <a:gsLst>
                <a:gs pos="0">
                  <a:srgbClr val="08122E">
                    <a:alpha val="100000"/>
                  </a:srgbClr>
                </a:gs>
                <a:gs pos="100000">
                  <a:srgbClr val="2D5297">
                    <a:alpha val="100000"/>
                  </a:srgbClr>
                </a:gs>
              </a:gsLst>
              <a:path path="circle">
                <a:fillToRect l="0" r="100000" t="0" b="100000"/>
              </a:path>
              <a:tileRect r="0" l="-100000" b="0" t="-100000"/>
            </a:gradFill>
            <a:ln cap="sq">
              <a:noFill/>
              <a:prstDash val="solid"/>
              <a:miter/>
            </a:ln>
          </p:spPr>
        </p:sp>
        <p:sp>
          <p:nvSpPr>
            <p:cNvPr name="TextBox 11" id="11"/>
            <p:cNvSpPr txBox="true"/>
            <p:nvPr/>
          </p:nvSpPr>
          <p:spPr>
            <a:xfrm>
              <a:off x="0" y="-47625"/>
              <a:ext cx="3013695" cy="331043"/>
            </a:xfrm>
            <a:prstGeom prst="rect">
              <a:avLst/>
            </a:prstGeom>
          </p:spPr>
          <p:txBody>
            <a:bodyPr anchor="ctr" rtlCol="false" tIns="50800" lIns="50800" bIns="50800" rIns="50800"/>
            <a:lstStyle/>
            <a:p>
              <a:pPr algn="ctr">
                <a:lnSpc>
                  <a:spcPts val="3418"/>
                </a:lnSpc>
              </a:pPr>
            </a:p>
          </p:txBody>
        </p:sp>
      </p:grpSp>
      <p:sp>
        <p:nvSpPr>
          <p:cNvPr name="TextBox 12" id="12"/>
          <p:cNvSpPr txBox="true"/>
          <p:nvPr/>
        </p:nvSpPr>
        <p:spPr>
          <a:xfrm rot="0">
            <a:off x="3660216" y="5761345"/>
            <a:ext cx="10967568" cy="572348"/>
          </a:xfrm>
          <a:prstGeom prst="rect">
            <a:avLst/>
          </a:prstGeom>
        </p:spPr>
        <p:txBody>
          <a:bodyPr anchor="t" rtlCol="false" tIns="0" lIns="0" bIns="0" rIns="0">
            <a:spAutoFit/>
          </a:bodyPr>
          <a:lstStyle/>
          <a:p>
            <a:pPr algn="ctr">
              <a:lnSpc>
                <a:spcPts val="4678"/>
              </a:lnSpc>
            </a:pPr>
            <a:r>
              <a:rPr lang="en-US" sz="3341" spc="167">
                <a:solidFill>
                  <a:srgbClr val="FFFFFF"/>
                </a:solidFill>
                <a:latin typeface="Proxima Nova"/>
                <a:ea typeface="Proxima Nova"/>
                <a:cs typeface="Proxima Nova"/>
                <a:sym typeface="Proxima Nova"/>
              </a:rPr>
              <a:t>¿HAY PREGUNTAS?</a:t>
            </a:r>
          </a:p>
        </p:txBody>
      </p:sp>
      <p:sp>
        <p:nvSpPr>
          <p:cNvPr name="Freeform 13" id="13"/>
          <p:cNvSpPr/>
          <p:nvPr/>
        </p:nvSpPr>
        <p:spPr>
          <a:xfrm flipH="false" flipV="false" rot="0">
            <a:off x="6629938" y="319314"/>
            <a:ext cx="5018734" cy="1762830"/>
          </a:xfrm>
          <a:custGeom>
            <a:avLst/>
            <a:gdLst/>
            <a:ahLst/>
            <a:cxnLst/>
            <a:rect r="r" b="b" t="t" l="l"/>
            <a:pathLst>
              <a:path h="1762830" w="5018734">
                <a:moveTo>
                  <a:pt x="0" y="0"/>
                </a:moveTo>
                <a:lnTo>
                  <a:pt x="5018734" y="0"/>
                </a:lnTo>
                <a:lnTo>
                  <a:pt x="5018734" y="1762831"/>
                </a:lnTo>
                <a:lnTo>
                  <a:pt x="0" y="1762831"/>
                </a:lnTo>
                <a:lnTo>
                  <a:pt x="0" y="0"/>
                </a:lnTo>
                <a:close/>
              </a:path>
            </a:pathLst>
          </a:custGeom>
          <a:blipFill>
            <a:blip r:embed="rId7"/>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DAHIlWVwyoo</dc:identifier>
  <dcterms:modified xsi:type="dcterms:W3CDTF">2011-08-01T06:04:30Z</dcterms:modified>
  <cp:revision>1</cp:revision>
  <dc:title>Presentación Proyecto de Negocios Moderno Azul</dc:title>
</cp:coreProperties>
</file>